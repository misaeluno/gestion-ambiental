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8" r:id="rId3"/>
    <p:sldId id="287" r:id="rId4"/>
    <p:sldId id="266" r:id="rId5"/>
    <p:sldId id="277" r:id="rId6"/>
    <p:sldId id="275" r:id="rId7"/>
    <p:sldId id="276" r:id="rId8"/>
    <p:sldId id="274" r:id="rId9"/>
    <p:sldId id="265" r:id="rId10"/>
    <p:sldId id="264" r:id="rId11"/>
    <p:sldId id="263" r:id="rId12"/>
    <p:sldId id="261" r:id="rId13"/>
    <p:sldId id="262" r:id="rId14"/>
    <p:sldId id="259" r:id="rId15"/>
    <p:sldId id="278" r:id="rId16"/>
    <p:sldId id="260" r:id="rId17"/>
    <p:sldId id="283" r:id="rId18"/>
    <p:sldId id="284" r:id="rId19"/>
    <p:sldId id="285" r:id="rId20"/>
    <p:sldId id="286" r:id="rId21"/>
    <p:sldId id="279" r:id="rId22"/>
    <p:sldId id="280" r:id="rId23"/>
    <p:sldId id="281" r:id="rId24"/>
    <p:sldId id="267" r:id="rId25"/>
    <p:sldId id="273" r:id="rId26"/>
    <p:sldId id="282" r:id="rId27"/>
  </p:sldIdLst>
  <p:sldSz cx="9144000" cy="6858000" type="screen4x3"/>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392" y="66"/>
      </p:cViewPr>
      <p:guideLst>
        <p:guide orient="horz" pos="2160"/>
        <p:guide pos="2880"/>
      </p:guideLst>
    </p:cSldViewPr>
  </p:slideViewPr>
  <p:notesTextViewPr>
    <p:cViewPr>
      <p:scale>
        <a:sx n="1" d="1"/>
        <a:sy n="1" d="1"/>
      </p:scale>
      <p:origin x="0" y="0"/>
    </p:cViewPr>
  </p:notesTextViewPr>
  <p:sorterViewPr>
    <p:cViewPr>
      <p:scale>
        <a:sx n="100" d="100"/>
        <a:sy n="100" d="100"/>
      </p:scale>
      <p:origin x="0" y="-237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CL"/>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CL"/>
          </a:p>
        </p:txBody>
      </p:sp>
      <p:sp>
        <p:nvSpPr>
          <p:cNvPr id="4" name="3 Marcador de fecha"/>
          <p:cNvSpPr>
            <a:spLocks noGrp="1"/>
          </p:cNvSpPr>
          <p:nvPr>
            <p:ph type="dt" sz="half" idx="10"/>
          </p:nvPr>
        </p:nvSpPr>
        <p:spPr/>
        <p:txBody>
          <a:bodyPr/>
          <a:lstStyle/>
          <a:p>
            <a:fld id="{F70A1F55-71EA-4D45-93B6-471C90C77D51}" type="datetimeFigureOut">
              <a:rPr lang="es-CL" smtClean="0"/>
              <a:t>31-03-2022</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2236726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F70A1F55-71EA-4D45-93B6-471C90C77D51}" type="datetimeFigureOut">
              <a:rPr lang="es-CL" smtClean="0"/>
              <a:t>31-03-2022</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3764197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F70A1F55-71EA-4D45-93B6-471C90C77D51}" type="datetimeFigureOut">
              <a:rPr lang="es-CL" smtClean="0"/>
              <a:t>31-03-2022</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3071879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5" name="4 Marcador de fecha"/>
          <p:cNvSpPr>
            <a:spLocks noGrp="1"/>
          </p:cNvSpPr>
          <p:nvPr>
            <p:ph type="dt" sz="half" idx="10"/>
          </p:nvPr>
        </p:nvSpPr>
        <p:spPr/>
        <p:txBody>
          <a:bodyPr/>
          <a:lstStyle/>
          <a:p>
            <a:fld id="{F70A1F55-71EA-4D45-93B6-471C90C77D51}" type="datetimeFigureOut">
              <a:rPr lang="es-CL" smtClean="0"/>
              <a:t>31-03-2022</a:t>
            </a:fld>
            <a:endParaRPr lang="es-CL"/>
          </a:p>
        </p:txBody>
      </p:sp>
      <p:sp>
        <p:nvSpPr>
          <p:cNvPr id="6" name="5 Marcador de pie de página"/>
          <p:cNvSpPr>
            <a:spLocks noGrp="1"/>
          </p:cNvSpPr>
          <p:nvPr>
            <p:ph type="ftr" sz="quarter" idx="11"/>
          </p:nvPr>
        </p:nvSpPr>
        <p:spPr/>
        <p:txBody>
          <a:bodyPr/>
          <a:lstStyle/>
          <a:p>
            <a:endParaRPr lang="es-CL"/>
          </a:p>
        </p:txBody>
      </p:sp>
      <p:sp>
        <p:nvSpPr>
          <p:cNvPr id="7" name="6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3220270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7" name="6 Marcador de fecha"/>
          <p:cNvSpPr>
            <a:spLocks noGrp="1"/>
          </p:cNvSpPr>
          <p:nvPr>
            <p:ph type="dt" sz="half" idx="10"/>
          </p:nvPr>
        </p:nvSpPr>
        <p:spPr/>
        <p:txBody>
          <a:bodyPr/>
          <a:lstStyle/>
          <a:p>
            <a:fld id="{F70A1F55-71EA-4D45-93B6-471C90C77D51}" type="datetimeFigureOut">
              <a:rPr lang="es-CL" smtClean="0"/>
              <a:t>31-03-2022</a:t>
            </a:fld>
            <a:endParaRPr lang="es-CL"/>
          </a:p>
        </p:txBody>
      </p:sp>
      <p:sp>
        <p:nvSpPr>
          <p:cNvPr id="8" name="7 Marcador de pie de página"/>
          <p:cNvSpPr>
            <a:spLocks noGrp="1"/>
          </p:cNvSpPr>
          <p:nvPr>
            <p:ph type="ftr" sz="quarter" idx="11"/>
          </p:nvPr>
        </p:nvSpPr>
        <p:spPr/>
        <p:txBody>
          <a:bodyPr/>
          <a:lstStyle/>
          <a:p>
            <a:endParaRPr lang="es-CL"/>
          </a:p>
        </p:txBody>
      </p:sp>
      <p:sp>
        <p:nvSpPr>
          <p:cNvPr id="9" name="8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1800183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fecha"/>
          <p:cNvSpPr>
            <a:spLocks noGrp="1"/>
          </p:cNvSpPr>
          <p:nvPr>
            <p:ph type="dt" sz="half" idx="10"/>
          </p:nvPr>
        </p:nvSpPr>
        <p:spPr/>
        <p:txBody>
          <a:bodyPr/>
          <a:lstStyle/>
          <a:p>
            <a:fld id="{F70A1F55-71EA-4D45-93B6-471C90C77D51}" type="datetimeFigureOut">
              <a:rPr lang="es-CL" smtClean="0"/>
              <a:t>31-03-2022</a:t>
            </a:fld>
            <a:endParaRPr lang="es-CL"/>
          </a:p>
        </p:txBody>
      </p:sp>
      <p:sp>
        <p:nvSpPr>
          <p:cNvPr id="4" name="3 Marcador de pie de página"/>
          <p:cNvSpPr>
            <a:spLocks noGrp="1"/>
          </p:cNvSpPr>
          <p:nvPr>
            <p:ph type="ftr" sz="quarter" idx="11"/>
          </p:nvPr>
        </p:nvSpPr>
        <p:spPr/>
        <p:txBody>
          <a:bodyPr/>
          <a:lstStyle/>
          <a:p>
            <a:endParaRPr lang="es-CL"/>
          </a:p>
        </p:txBody>
      </p:sp>
      <p:sp>
        <p:nvSpPr>
          <p:cNvPr id="5" name="4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1053874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F70A1F55-71EA-4D45-93B6-471C90C77D51}" type="datetimeFigureOut">
              <a:rPr lang="es-CL" smtClean="0"/>
              <a:t>31-03-2022</a:t>
            </a:fld>
            <a:endParaRPr lang="es-CL"/>
          </a:p>
        </p:txBody>
      </p:sp>
      <p:sp>
        <p:nvSpPr>
          <p:cNvPr id="3" name="2 Marcador de pie de página"/>
          <p:cNvSpPr>
            <a:spLocks noGrp="1"/>
          </p:cNvSpPr>
          <p:nvPr>
            <p:ph type="ftr" sz="quarter" idx="11"/>
          </p:nvPr>
        </p:nvSpPr>
        <p:spPr/>
        <p:txBody>
          <a:bodyPr/>
          <a:lstStyle/>
          <a:p>
            <a:endParaRPr lang="es-CL"/>
          </a:p>
        </p:txBody>
      </p:sp>
      <p:sp>
        <p:nvSpPr>
          <p:cNvPr id="4" name="3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361310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CL"/>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F70A1F55-71EA-4D45-93B6-471C90C77D51}" type="datetimeFigureOut">
              <a:rPr lang="es-CL" smtClean="0"/>
              <a:t>31-03-2022</a:t>
            </a:fld>
            <a:endParaRPr lang="es-CL"/>
          </a:p>
        </p:txBody>
      </p:sp>
      <p:sp>
        <p:nvSpPr>
          <p:cNvPr id="6" name="5 Marcador de pie de página"/>
          <p:cNvSpPr>
            <a:spLocks noGrp="1"/>
          </p:cNvSpPr>
          <p:nvPr>
            <p:ph type="ftr" sz="quarter" idx="11"/>
          </p:nvPr>
        </p:nvSpPr>
        <p:spPr/>
        <p:txBody>
          <a:bodyPr/>
          <a:lstStyle/>
          <a:p>
            <a:endParaRPr lang="es-CL"/>
          </a:p>
        </p:txBody>
      </p:sp>
      <p:sp>
        <p:nvSpPr>
          <p:cNvPr id="7" name="6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3465570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CL"/>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F70A1F55-71EA-4D45-93B6-471C90C77D51}" type="datetimeFigureOut">
              <a:rPr lang="es-CL" smtClean="0"/>
              <a:t>31-03-2022</a:t>
            </a:fld>
            <a:endParaRPr lang="es-CL"/>
          </a:p>
        </p:txBody>
      </p:sp>
      <p:sp>
        <p:nvSpPr>
          <p:cNvPr id="6" name="5 Marcador de pie de página"/>
          <p:cNvSpPr>
            <a:spLocks noGrp="1"/>
          </p:cNvSpPr>
          <p:nvPr>
            <p:ph type="ftr" sz="quarter" idx="11"/>
          </p:nvPr>
        </p:nvSpPr>
        <p:spPr/>
        <p:txBody>
          <a:bodyPr/>
          <a:lstStyle/>
          <a:p>
            <a:endParaRPr lang="es-CL"/>
          </a:p>
        </p:txBody>
      </p:sp>
      <p:sp>
        <p:nvSpPr>
          <p:cNvPr id="7" name="6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3710564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F70A1F55-71EA-4D45-93B6-471C90C77D51}" type="datetimeFigureOut">
              <a:rPr lang="es-CL" smtClean="0"/>
              <a:t>31-03-2022</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364262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CL"/>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F70A1F55-71EA-4D45-93B6-471C90C77D51}" type="datetimeFigureOut">
              <a:rPr lang="es-CL" smtClean="0"/>
              <a:t>31-03-2022</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2849855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0A1F55-71EA-4D45-93B6-471C90C77D51}" type="datetimeFigureOut">
              <a:rPr lang="es-CL" smtClean="0"/>
              <a:t>31-03-2022</a:t>
            </a:fld>
            <a:endParaRPr lang="es-CL"/>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4C417F-FE26-4856-A9D8-D4309F5CE261}" type="slidenum">
              <a:rPr lang="es-CL" smtClean="0"/>
              <a:t>‹Nº›</a:t>
            </a:fld>
            <a:endParaRPr lang="es-CL"/>
          </a:p>
        </p:txBody>
      </p:sp>
    </p:spTree>
    <p:extLst>
      <p:ext uri="{BB962C8B-B14F-4D97-AF65-F5344CB8AC3E}">
        <p14:creationId xmlns:p14="http://schemas.microsoft.com/office/powerpoint/2010/main" val="1739676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leychile.cl/Navegar?idNorma=1010459&amp;idPart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1196753"/>
            <a:ext cx="7772400" cy="3384376"/>
          </a:xfrm>
        </p:spPr>
        <p:txBody>
          <a:bodyPr>
            <a:normAutofit/>
          </a:bodyPr>
          <a:lstStyle/>
          <a:p>
            <a:r>
              <a:rPr lang="es-CL" sz="3600" b="1" dirty="0" smtClean="0">
                <a:solidFill>
                  <a:srgbClr val="006600"/>
                </a:solidFill>
              </a:rPr>
              <a:t>UNIDAD 2</a:t>
            </a:r>
            <a:br>
              <a:rPr lang="es-CL" sz="3600" b="1" dirty="0" smtClean="0">
                <a:solidFill>
                  <a:srgbClr val="006600"/>
                </a:solidFill>
              </a:rPr>
            </a:br>
            <a:r>
              <a:rPr lang="es-CL" sz="3600" b="1" dirty="0" smtClean="0">
                <a:solidFill>
                  <a:srgbClr val="006600"/>
                </a:solidFill>
              </a:rPr>
              <a:t/>
            </a:r>
            <a:br>
              <a:rPr lang="es-CL" sz="3600" b="1" dirty="0" smtClean="0">
                <a:solidFill>
                  <a:srgbClr val="006600"/>
                </a:solidFill>
              </a:rPr>
            </a:br>
            <a:r>
              <a:rPr lang="es-CL" sz="3600" b="1" dirty="0" smtClean="0">
                <a:solidFill>
                  <a:srgbClr val="006600"/>
                </a:solidFill>
              </a:rPr>
              <a:t/>
            </a:r>
            <a:br>
              <a:rPr lang="es-CL" sz="3600" b="1" dirty="0" smtClean="0">
                <a:solidFill>
                  <a:srgbClr val="006600"/>
                </a:solidFill>
              </a:rPr>
            </a:br>
            <a:r>
              <a:rPr lang="es-CL" sz="3600" b="1" dirty="0" smtClean="0">
                <a:solidFill>
                  <a:srgbClr val="006600"/>
                </a:solidFill>
              </a:rPr>
              <a:t>LEGISLACIÓN EN CHILE EN TORNO AL TEMA MEDIOAMBIENTAL</a:t>
            </a:r>
            <a:endParaRPr lang="es-CL" sz="3600" b="1" dirty="0">
              <a:solidFill>
                <a:srgbClr val="006600"/>
              </a:solidFill>
            </a:endParaRPr>
          </a:p>
        </p:txBody>
      </p:sp>
      <p:sp>
        <p:nvSpPr>
          <p:cNvPr id="3" name="2 Subtítulo"/>
          <p:cNvSpPr>
            <a:spLocks noGrp="1"/>
          </p:cNvSpPr>
          <p:nvPr>
            <p:ph type="subTitle" idx="1"/>
          </p:nvPr>
        </p:nvSpPr>
        <p:spPr>
          <a:xfrm>
            <a:off x="1371600" y="5301208"/>
            <a:ext cx="6400800" cy="337592"/>
          </a:xfrm>
        </p:spPr>
        <p:txBody>
          <a:bodyPr>
            <a:normAutofit fontScale="62500" lnSpcReduction="20000"/>
          </a:bodyPr>
          <a:lstStyle/>
          <a:p>
            <a:endParaRPr lang="es-CL" dirty="0"/>
          </a:p>
        </p:txBody>
      </p:sp>
    </p:spTree>
    <p:extLst>
      <p:ext uri="{BB962C8B-B14F-4D97-AF65-F5344CB8AC3E}">
        <p14:creationId xmlns:p14="http://schemas.microsoft.com/office/powerpoint/2010/main" val="33067500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dirty="0" smtClean="0">
                <a:solidFill>
                  <a:srgbClr val="0000CC"/>
                </a:solidFill>
              </a:rPr>
              <a:t>CRONOLOGÍA</a:t>
            </a:r>
            <a:endParaRPr lang="es-CL" sz="2800" dirty="0">
              <a:solidFill>
                <a:srgbClr val="0000CC"/>
              </a:solidFill>
            </a:endParaRPr>
          </a:p>
        </p:txBody>
      </p:sp>
      <p:sp>
        <p:nvSpPr>
          <p:cNvPr id="3" name="2 Marcador de contenido"/>
          <p:cNvSpPr>
            <a:spLocks noGrp="1"/>
          </p:cNvSpPr>
          <p:nvPr>
            <p:ph idx="1"/>
          </p:nvPr>
        </p:nvSpPr>
        <p:spPr/>
        <p:txBody>
          <a:bodyPr>
            <a:normAutofit/>
          </a:bodyPr>
          <a:lstStyle/>
          <a:p>
            <a:pPr algn="just"/>
            <a:r>
              <a:rPr lang="es-CL" sz="2600" dirty="0" smtClean="0"/>
              <a:t>Ley 19.300  Bases Generales del Medio Ambiente, aprobada el año 1994.</a:t>
            </a:r>
          </a:p>
          <a:p>
            <a:pPr algn="just"/>
            <a:r>
              <a:rPr lang="es-CL" sz="2600" dirty="0" smtClean="0"/>
              <a:t>Ley 19.300 fue modificada por la Ley 20.417 del año 2010, que crea el MMA, la SMA y el SEA.</a:t>
            </a:r>
          </a:p>
          <a:p>
            <a:pPr algn="just"/>
            <a:r>
              <a:rPr lang="es-CL" sz="2600" dirty="0" smtClean="0"/>
              <a:t>Reglamento de Sistema de Evaluación de Impacto Ambiental (SEIA) creado mediante el D. S. N° 30/1997</a:t>
            </a:r>
          </a:p>
          <a:p>
            <a:pPr algn="just"/>
            <a:r>
              <a:rPr lang="es-CL" sz="2600" dirty="0" smtClean="0"/>
              <a:t>Reglamento SEIA D. S. N° 95/2001 que fija texto refundido.</a:t>
            </a:r>
          </a:p>
          <a:p>
            <a:pPr algn="just"/>
            <a:r>
              <a:rPr lang="es-CL" sz="2600" dirty="0" smtClean="0"/>
              <a:t>Nuevo Reglamento SEIA, D. S. N° 40/2013.</a:t>
            </a:r>
          </a:p>
          <a:p>
            <a:pPr marL="0" indent="0" algn="just">
              <a:buNone/>
            </a:pPr>
            <a:r>
              <a:rPr lang="es-CL" sz="2600" dirty="0" smtClean="0"/>
              <a:t>(30/10/2012, publicado el 12/08/20013)</a:t>
            </a:r>
          </a:p>
          <a:p>
            <a:pPr algn="just"/>
            <a:endParaRPr lang="es-CL" sz="1800" dirty="0"/>
          </a:p>
          <a:p>
            <a:pPr algn="just"/>
            <a:endParaRPr lang="es-CL" sz="1800" dirty="0" smtClean="0"/>
          </a:p>
          <a:p>
            <a:pPr algn="just"/>
            <a:endParaRPr lang="es-CL" sz="1800" dirty="0"/>
          </a:p>
          <a:p>
            <a:pPr algn="just"/>
            <a:endParaRPr lang="es-CL" sz="1800" dirty="0" smtClean="0"/>
          </a:p>
          <a:p>
            <a:pPr algn="just"/>
            <a:endParaRPr lang="es-CL" sz="1800" dirty="0"/>
          </a:p>
          <a:p>
            <a:pPr algn="just"/>
            <a:endParaRPr lang="es-CL" sz="1800" dirty="0" smtClean="0"/>
          </a:p>
          <a:p>
            <a:pPr algn="just"/>
            <a:endParaRPr lang="es-CL" sz="1800" dirty="0"/>
          </a:p>
          <a:p>
            <a:pPr algn="just"/>
            <a:endParaRPr lang="es-CL" sz="1800" dirty="0" smtClean="0"/>
          </a:p>
          <a:p>
            <a:pPr algn="just"/>
            <a:endParaRPr lang="es-CL" sz="1800" dirty="0"/>
          </a:p>
        </p:txBody>
      </p:sp>
    </p:spTree>
    <p:extLst>
      <p:ext uri="{BB962C8B-B14F-4D97-AF65-F5344CB8AC3E}">
        <p14:creationId xmlns:p14="http://schemas.microsoft.com/office/powerpoint/2010/main" val="31237615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562074"/>
          </a:xfrm>
        </p:spPr>
        <p:txBody>
          <a:bodyPr>
            <a:normAutofit/>
          </a:bodyPr>
          <a:lstStyle/>
          <a:p>
            <a:r>
              <a:rPr lang="es-CL" sz="2800" dirty="0" smtClean="0">
                <a:solidFill>
                  <a:srgbClr val="0000CC"/>
                </a:solidFill>
              </a:rPr>
              <a:t>INTRODUCCIÓN</a:t>
            </a:r>
            <a:endParaRPr lang="es-CL" sz="2800" dirty="0">
              <a:solidFill>
                <a:srgbClr val="0000CC"/>
              </a:solidFill>
            </a:endParaRPr>
          </a:p>
        </p:txBody>
      </p:sp>
      <p:sp>
        <p:nvSpPr>
          <p:cNvPr id="3" name="2 Marcador de contenido"/>
          <p:cNvSpPr>
            <a:spLocks noGrp="1"/>
          </p:cNvSpPr>
          <p:nvPr>
            <p:ph idx="1"/>
          </p:nvPr>
        </p:nvSpPr>
        <p:spPr>
          <a:xfrm>
            <a:off x="457200" y="908720"/>
            <a:ext cx="8229600" cy="5832648"/>
          </a:xfrm>
        </p:spPr>
        <p:txBody>
          <a:bodyPr>
            <a:noAutofit/>
          </a:bodyPr>
          <a:lstStyle/>
          <a:p>
            <a:pPr algn="just"/>
            <a:r>
              <a:rPr lang="es-CL" sz="2000" dirty="0" smtClean="0"/>
              <a:t>El </a:t>
            </a:r>
            <a:r>
              <a:rPr lang="es-CL" sz="2000" dirty="0"/>
              <a:t>año </a:t>
            </a:r>
            <a:r>
              <a:rPr lang="es-CL" sz="2000" dirty="0" smtClean="0"/>
              <a:t>1994 </a:t>
            </a:r>
            <a:r>
              <a:rPr lang="es-CL" sz="2000" dirty="0"/>
              <a:t>se aprueba en Chile la Ley 19.300 sobre Bases Generales del Medio </a:t>
            </a:r>
            <a:r>
              <a:rPr lang="es-CL" sz="2000" dirty="0" smtClean="0"/>
              <a:t>Ambiente, en </a:t>
            </a:r>
            <a:r>
              <a:rPr lang="es-CL" sz="2000" dirty="0"/>
              <a:t>donde </a:t>
            </a:r>
            <a:r>
              <a:rPr lang="es-CL" sz="2000" dirty="0" smtClean="0"/>
              <a:t>se establece, </a:t>
            </a:r>
            <a:r>
              <a:rPr lang="es-CL" sz="2000" dirty="0"/>
              <a:t>en forma </a:t>
            </a:r>
            <a:r>
              <a:rPr lang="es-CL" sz="2000" dirty="0" smtClean="0"/>
              <a:t>general, </a:t>
            </a:r>
            <a:r>
              <a:rPr lang="es-CL" sz="2000" dirty="0"/>
              <a:t>el derecho de toda persona a vivir en un medio ambiente libre de contaminación, </a:t>
            </a:r>
            <a:r>
              <a:rPr lang="es-CL" sz="2000" dirty="0" smtClean="0"/>
              <a:t>lo que había sido establecido </a:t>
            </a:r>
            <a:r>
              <a:rPr lang="es-CL" sz="2000" dirty="0"/>
              <a:t>previamente en la Constitución Política de la República de 1980, artículo 19, N° 8</a:t>
            </a:r>
            <a:r>
              <a:rPr lang="es-CL" sz="2000" dirty="0" smtClean="0"/>
              <a:t>.</a:t>
            </a:r>
          </a:p>
          <a:p>
            <a:pPr algn="just"/>
            <a:endParaRPr lang="es-CL" sz="2000" dirty="0"/>
          </a:p>
          <a:p>
            <a:pPr algn="just"/>
            <a:r>
              <a:rPr lang="es-CL" sz="2000" dirty="0" smtClean="0"/>
              <a:t> </a:t>
            </a:r>
            <a:r>
              <a:rPr lang="es-CL" sz="2000" dirty="0"/>
              <a:t>Para hacer cumplir </a:t>
            </a:r>
            <a:r>
              <a:rPr lang="es-CL" sz="2000" dirty="0" smtClean="0"/>
              <a:t>el objetivo señalado, </a:t>
            </a:r>
            <a:r>
              <a:rPr lang="es-CL" sz="2000" dirty="0"/>
              <a:t>la ley establece que todo proyecto que es susceptible de causar un impacto al medio ambiente debe someterse al Sistema de Evaluación de Impacto Ambiental (SEIA) mediante una Declaración de Impacto Ambiental (DIA) o un Estudio de Impacto Ambiental (EIA). </a:t>
            </a:r>
            <a:endParaRPr lang="es-CL" sz="2000" dirty="0" smtClean="0"/>
          </a:p>
          <a:p>
            <a:pPr algn="just"/>
            <a:endParaRPr lang="es-CL" sz="2000" dirty="0"/>
          </a:p>
          <a:p>
            <a:pPr algn="just"/>
            <a:r>
              <a:rPr lang="es-CL" sz="2000" dirty="0" smtClean="0"/>
              <a:t>El </a:t>
            </a:r>
            <a:r>
              <a:rPr lang="es-CL" sz="2000" dirty="0"/>
              <a:t>EIA es más extenso y se exige cuando el proyecto significa un riesgo para la salud de las personas o del medio ambiente, cuando puede causar una alteración significativa a los sistemas de vida de las personas, o cuando puede causar un impacto significativo al patrimonio cultural, turístico o paisajístico</a:t>
            </a:r>
          </a:p>
        </p:txBody>
      </p:sp>
    </p:spTree>
    <p:extLst>
      <p:ext uri="{BB962C8B-B14F-4D97-AF65-F5344CB8AC3E}">
        <p14:creationId xmlns:p14="http://schemas.microsoft.com/office/powerpoint/2010/main" val="18317232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dirty="0" smtClean="0">
                <a:solidFill>
                  <a:srgbClr val="0000CC"/>
                </a:solidFill>
              </a:rPr>
              <a:t>INTRODUCCIÓN</a:t>
            </a:r>
            <a:endParaRPr lang="es-CL" sz="2800" dirty="0">
              <a:solidFill>
                <a:srgbClr val="0000CC"/>
              </a:solidFill>
            </a:endParaRPr>
          </a:p>
        </p:txBody>
      </p:sp>
      <p:sp>
        <p:nvSpPr>
          <p:cNvPr id="3" name="2 Marcador de contenido"/>
          <p:cNvSpPr>
            <a:spLocks noGrp="1"/>
          </p:cNvSpPr>
          <p:nvPr>
            <p:ph idx="1"/>
          </p:nvPr>
        </p:nvSpPr>
        <p:spPr>
          <a:xfrm>
            <a:off x="457200" y="1124744"/>
            <a:ext cx="8229600" cy="5616624"/>
          </a:xfrm>
        </p:spPr>
        <p:txBody>
          <a:bodyPr>
            <a:normAutofit/>
          </a:bodyPr>
          <a:lstStyle/>
          <a:p>
            <a:pPr algn="just"/>
            <a:r>
              <a:rPr lang="es-CL" sz="1800" dirty="0"/>
              <a:t>El año 2010, producto de ciertas dificultades que se observaban respecto de la </a:t>
            </a:r>
            <a:r>
              <a:rPr lang="es-CL" sz="1800" dirty="0" smtClean="0"/>
              <a:t>Comisión Nacional del Medio Ambiente (CONAMA), </a:t>
            </a:r>
            <a:r>
              <a:rPr lang="es-CL" sz="1800" dirty="0"/>
              <a:t>tales </a:t>
            </a:r>
            <a:r>
              <a:rPr lang="es-CL" sz="1800" dirty="0" smtClean="0"/>
              <a:t>como: </a:t>
            </a:r>
          </a:p>
          <a:p>
            <a:pPr algn="just"/>
            <a:endParaRPr lang="es-CL" sz="1800" dirty="0"/>
          </a:p>
          <a:p>
            <a:pPr algn="just"/>
            <a:r>
              <a:rPr lang="es-CL" sz="1800" dirty="0" smtClean="0"/>
              <a:t>a) Su </a:t>
            </a:r>
            <a:r>
              <a:rPr lang="es-CL" sz="1800" dirty="0"/>
              <a:t>nivel jerárquico dentro de la institucionalidad del </a:t>
            </a:r>
            <a:r>
              <a:rPr lang="es-CL" sz="1800" dirty="0" smtClean="0"/>
              <a:t>Gobierno; b) Su </a:t>
            </a:r>
            <a:r>
              <a:rPr lang="es-CL" sz="1800" dirty="0"/>
              <a:t>carencia de facultades para resolver </a:t>
            </a:r>
            <a:r>
              <a:rPr lang="es-CL" sz="1800" dirty="0" smtClean="0"/>
              <a:t>conflictos; c) Su </a:t>
            </a:r>
            <a:r>
              <a:rPr lang="es-CL" sz="1800" dirty="0"/>
              <a:t>contraposición con los objetivos productivos de algunos </a:t>
            </a:r>
            <a:r>
              <a:rPr lang="es-CL" sz="1800" dirty="0" smtClean="0"/>
              <a:t>ministerios; y d) </a:t>
            </a:r>
            <a:r>
              <a:rPr lang="es-CL" sz="1800" dirty="0"/>
              <a:t>L</a:t>
            </a:r>
            <a:r>
              <a:rPr lang="es-CL" sz="1800" dirty="0" smtClean="0"/>
              <a:t>a </a:t>
            </a:r>
            <a:r>
              <a:rPr lang="es-CL" sz="1800" dirty="0"/>
              <a:t>falta de coordinación y comunicación intersectorial, se modifica la ley 19.300 mediante la Ley 20.417. </a:t>
            </a:r>
            <a:endParaRPr lang="es-CL" sz="1800" dirty="0" smtClean="0"/>
          </a:p>
          <a:p>
            <a:pPr algn="just"/>
            <a:endParaRPr lang="es-CL" sz="1800" dirty="0"/>
          </a:p>
          <a:p>
            <a:pPr algn="just"/>
            <a:r>
              <a:rPr lang="es-CL" sz="1800" dirty="0" smtClean="0"/>
              <a:t>Es por ello, que con </a:t>
            </a:r>
            <a:r>
              <a:rPr lang="es-CL" sz="1800" dirty="0"/>
              <a:t>fecha 26/01/2010 se publicó en el Diario Oficial la ley N° 20.417, que introdujo modificaciones </a:t>
            </a:r>
            <a:r>
              <a:rPr lang="es-CL" sz="1800" dirty="0" smtClean="0"/>
              <a:t>importantes </a:t>
            </a:r>
            <a:r>
              <a:rPr lang="es-CL" sz="1800" dirty="0"/>
              <a:t>a la orgánica ambiental chilena, rediseñando completamente la institucionalidad ambiental de nuestro país. Lo cual se plasmó en las siguientes nuevas instituciones: </a:t>
            </a:r>
            <a:endParaRPr lang="es-CL" sz="1800" dirty="0" smtClean="0"/>
          </a:p>
          <a:p>
            <a:pPr marL="0" indent="0" algn="just">
              <a:buNone/>
            </a:pPr>
            <a:endParaRPr lang="es-CL" sz="1800" dirty="0" smtClean="0"/>
          </a:p>
          <a:p>
            <a:pPr algn="just"/>
            <a:r>
              <a:rPr lang="es-CL" sz="1800" dirty="0" smtClean="0"/>
              <a:t>a</a:t>
            </a:r>
            <a:r>
              <a:rPr lang="es-CL" sz="1800" dirty="0"/>
              <a:t>) </a:t>
            </a:r>
            <a:r>
              <a:rPr lang="es-CL" sz="1800" dirty="0" smtClean="0"/>
              <a:t>El </a:t>
            </a:r>
            <a:r>
              <a:rPr lang="es-CL" sz="1800" dirty="0"/>
              <a:t>Ministerio del Medio Ambiente; b) </a:t>
            </a:r>
            <a:r>
              <a:rPr lang="es-CL" sz="1800" dirty="0" smtClean="0"/>
              <a:t>El </a:t>
            </a:r>
            <a:r>
              <a:rPr lang="es-CL" sz="1800" dirty="0"/>
              <a:t>Consejo de Ministros para la Sustentabilidad; c) </a:t>
            </a:r>
            <a:r>
              <a:rPr lang="es-CL" sz="1800" dirty="0" smtClean="0"/>
              <a:t>El </a:t>
            </a:r>
            <a:r>
              <a:rPr lang="es-CL" sz="1800" dirty="0"/>
              <a:t>Servicio de Evaluación Ambiental, órgano técnico a cargo da la administración del Sistema de Evaluación de Impacto Ambiental; y d) </a:t>
            </a:r>
            <a:r>
              <a:rPr lang="es-CL" sz="1800" dirty="0" smtClean="0"/>
              <a:t>La </a:t>
            </a:r>
            <a:r>
              <a:rPr lang="es-CL" sz="1800" dirty="0"/>
              <a:t>Superintendencia del Medio Ambiente, con funciones de fiscalización y sanción.</a:t>
            </a:r>
          </a:p>
          <a:p>
            <a:pPr algn="just"/>
            <a:endParaRPr lang="es-CL" sz="1800" dirty="0"/>
          </a:p>
        </p:txBody>
      </p:sp>
    </p:spTree>
    <p:extLst>
      <p:ext uri="{BB962C8B-B14F-4D97-AF65-F5344CB8AC3E}">
        <p14:creationId xmlns:p14="http://schemas.microsoft.com/office/powerpoint/2010/main" val="42341756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L" sz="2800" dirty="0" smtClean="0"/>
              <a:t/>
            </a:r>
            <a:br>
              <a:rPr lang="es-CL" sz="2800" dirty="0" smtClean="0"/>
            </a:br>
            <a:r>
              <a:rPr lang="es-CL" sz="2800" dirty="0"/>
              <a:t/>
            </a:r>
            <a:br>
              <a:rPr lang="es-CL" sz="2800" dirty="0"/>
            </a:br>
            <a:r>
              <a:rPr lang="es-CL" sz="3100" dirty="0" smtClean="0">
                <a:solidFill>
                  <a:srgbClr val="0000CC"/>
                </a:solidFill>
              </a:rPr>
              <a:t>MINISTERIO </a:t>
            </a:r>
            <a:r>
              <a:rPr lang="es-CL" sz="3100" dirty="0">
                <a:solidFill>
                  <a:srgbClr val="0000CC"/>
                </a:solidFill>
              </a:rPr>
              <a:t>DEL MEDIO </a:t>
            </a:r>
            <a:r>
              <a:rPr lang="es-CL" sz="3100" dirty="0" smtClean="0">
                <a:solidFill>
                  <a:srgbClr val="0000CC"/>
                </a:solidFill>
              </a:rPr>
              <a:t>AMBIENTE</a:t>
            </a:r>
            <a:br>
              <a:rPr lang="es-CL" sz="3100" dirty="0" smtClean="0">
                <a:solidFill>
                  <a:srgbClr val="0000CC"/>
                </a:solidFill>
              </a:rPr>
            </a:br>
            <a:r>
              <a:rPr lang="es-CL" sz="2800" dirty="0" smtClean="0"/>
              <a:t/>
            </a:r>
            <a:br>
              <a:rPr lang="es-CL" sz="2800" dirty="0" smtClean="0"/>
            </a:br>
            <a:endParaRPr lang="es-CL" sz="2800" dirty="0">
              <a:solidFill>
                <a:srgbClr val="0000CC"/>
              </a:solidFill>
            </a:endParaRPr>
          </a:p>
        </p:txBody>
      </p:sp>
      <p:sp>
        <p:nvSpPr>
          <p:cNvPr id="3" name="2 Marcador de contenido"/>
          <p:cNvSpPr>
            <a:spLocks noGrp="1"/>
          </p:cNvSpPr>
          <p:nvPr>
            <p:ph idx="1"/>
          </p:nvPr>
        </p:nvSpPr>
        <p:spPr>
          <a:xfrm>
            <a:off x="457200" y="1556792"/>
            <a:ext cx="8229600" cy="4968552"/>
          </a:xfrm>
        </p:spPr>
        <p:txBody>
          <a:bodyPr>
            <a:normAutofit/>
          </a:bodyPr>
          <a:lstStyle/>
          <a:p>
            <a:pPr marL="0" indent="0" algn="just">
              <a:buNone/>
            </a:pPr>
            <a:endParaRPr lang="es-CL" sz="1800" dirty="0"/>
          </a:p>
          <a:p>
            <a:pPr algn="just"/>
            <a:r>
              <a:rPr lang="es-CL" sz="2400" dirty="0" smtClean="0"/>
              <a:t>El Ministerio del Medio Ambiente es </a:t>
            </a:r>
            <a:r>
              <a:rPr lang="es-CL" sz="2400" dirty="0"/>
              <a:t>el ministerio encargado de colaborar con el presidente de la República en el diseño y aplicación de políticas, planes y programas en materia ambiental, así como en la protección y conservación de la diversidad biológica y de los recursos naturales renovables e hídricos, promoviendo el desarrollo sustentable, la integridad de la política ambiental y su regulación normativa</a:t>
            </a:r>
            <a:r>
              <a:rPr lang="es-CL" sz="2400" dirty="0" smtClean="0"/>
              <a:t>.</a:t>
            </a:r>
          </a:p>
          <a:p>
            <a:pPr algn="just"/>
            <a:endParaRPr lang="es-CL" sz="2400" dirty="0"/>
          </a:p>
          <a:p>
            <a:pPr algn="just"/>
            <a:endParaRPr lang="es-CL" sz="1800" dirty="0"/>
          </a:p>
          <a:p>
            <a:pPr algn="just"/>
            <a:endParaRPr lang="es-CL" sz="1800" dirty="0"/>
          </a:p>
        </p:txBody>
      </p:sp>
    </p:spTree>
    <p:extLst>
      <p:ext uri="{BB962C8B-B14F-4D97-AF65-F5344CB8AC3E}">
        <p14:creationId xmlns:p14="http://schemas.microsoft.com/office/powerpoint/2010/main" val="28570343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dirty="0">
                <a:solidFill>
                  <a:srgbClr val="0000CC"/>
                </a:solidFill>
              </a:rPr>
              <a:t>SERVICIO DE EVALUACIÓN </a:t>
            </a:r>
            <a:r>
              <a:rPr lang="es-CL" sz="2800" dirty="0" smtClean="0">
                <a:solidFill>
                  <a:srgbClr val="0000CC"/>
                </a:solidFill>
              </a:rPr>
              <a:t>AMBIENTAL (SEA)</a:t>
            </a:r>
            <a:r>
              <a:rPr lang="es-CL" sz="2800" dirty="0">
                <a:solidFill>
                  <a:srgbClr val="0000CC"/>
                </a:solidFill>
              </a:rPr>
              <a:t/>
            </a:r>
            <a:br>
              <a:rPr lang="es-CL" sz="2800" dirty="0">
                <a:solidFill>
                  <a:srgbClr val="0000CC"/>
                </a:solidFill>
              </a:rPr>
            </a:br>
            <a:endParaRPr lang="es-CL" sz="2800" dirty="0">
              <a:solidFill>
                <a:srgbClr val="0000CC"/>
              </a:solidFill>
            </a:endParaRPr>
          </a:p>
        </p:txBody>
      </p:sp>
      <p:sp>
        <p:nvSpPr>
          <p:cNvPr id="3" name="2 Marcador de contenido"/>
          <p:cNvSpPr>
            <a:spLocks noGrp="1"/>
          </p:cNvSpPr>
          <p:nvPr>
            <p:ph idx="1"/>
          </p:nvPr>
        </p:nvSpPr>
        <p:spPr>
          <a:xfrm>
            <a:off x="489694" y="953344"/>
            <a:ext cx="8229600" cy="5644008"/>
          </a:xfrm>
        </p:spPr>
        <p:txBody>
          <a:bodyPr>
            <a:normAutofit/>
          </a:bodyPr>
          <a:lstStyle/>
          <a:p>
            <a:pPr algn="just"/>
            <a:r>
              <a:rPr lang="es-CL" sz="2000" dirty="0" smtClean="0"/>
              <a:t>Es </a:t>
            </a:r>
            <a:r>
              <a:rPr lang="es-CL" sz="2000" dirty="0"/>
              <a:t>un organismo público funcionalmente descentralizado con personalidad jurídica y patrimonio propio, que fue creado por la Ley N°20.417, publicada en el Diario Oficial el 26 de enero de 2010, que modificó la Ley N°19.300 sobre Bases Generales del Medio Ambiente</a:t>
            </a:r>
            <a:r>
              <a:rPr lang="es-CL" sz="2000" dirty="0" smtClean="0"/>
              <a:t>.</a:t>
            </a:r>
          </a:p>
          <a:p>
            <a:pPr algn="just"/>
            <a:endParaRPr lang="es-CL" sz="2000" dirty="0"/>
          </a:p>
          <a:p>
            <a:pPr algn="just"/>
            <a:r>
              <a:rPr lang="es-CL" sz="2000" dirty="0"/>
              <a:t>Su función central es tecnificar y administrar el instrumento de gestión ambiental denominado “Sistema de Evaluación de Impacto Ambiental”</a:t>
            </a:r>
            <a:r>
              <a:rPr lang="es-CL" sz="2000" b="1" dirty="0"/>
              <a:t> </a:t>
            </a:r>
            <a:r>
              <a:rPr lang="es-CL" sz="2000" dirty="0"/>
              <a:t>(SEIA), cuya gestión se basa en la evaluación ambiental de proyectos ajustada a lo establecido en la norma vigente, fomentando y facilitando la participación ciudadana en la evaluación de los proyectos</a:t>
            </a:r>
            <a:r>
              <a:rPr lang="es-CL" sz="2000" dirty="0" smtClean="0"/>
              <a:t>.</a:t>
            </a:r>
          </a:p>
          <a:p>
            <a:pPr algn="just"/>
            <a:endParaRPr lang="es-CL" sz="2000" dirty="0"/>
          </a:p>
          <a:p>
            <a:pPr algn="just"/>
            <a:r>
              <a:rPr lang="es-CL" sz="2000" dirty="0"/>
              <a:t>Este Servicio cumple la función de uniformar los criterios, requisitos, condiciones, antecedentes, certificados, trámites, exigencias técnicas y procedimientos de carácter ambiental que establezcan los ministerios y demás organismos del Estado competentes, mediante el establecimiento, entre otros, de guías trámite</a:t>
            </a:r>
            <a:r>
              <a:rPr lang="es-CL" sz="2000" dirty="0" smtClean="0"/>
              <a:t>.</a:t>
            </a:r>
          </a:p>
          <a:p>
            <a:endParaRPr lang="es-CL" sz="1900" dirty="0"/>
          </a:p>
          <a:p>
            <a:pPr algn="just"/>
            <a:endParaRPr lang="es-CL" sz="1800" dirty="0"/>
          </a:p>
        </p:txBody>
      </p:sp>
    </p:spTree>
    <p:extLst>
      <p:ext uri="{BB962C8B-B14F-4D97-AF65-F5344CB8AC3E}">
        <p14:creationId xmlns:p14="http://schemas.microsoft.com/office/powerpoint/2010/main" val="21026582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dirty="0">
                <a:solidFill>
                  <a:srgbClr val="0000CC"/>
                </a:solidFill>
              </a:rPr>
              <a:t>SUPERINTENDENCIA DEL MEDIO </a:t>
            </a:r>
            <a:r>
              <a:rPr lang="es-CL" sz="2800" dirty="0" smtClean="0">
                <a:solidFill>
                  <a:srgbClr val="0000CC"/>
                </a:solidFill>
              </a:rPr>
              <a:t>AMBIENTE (SMA)</a:t>
            </a:r>
            <a:r>
              <a:rPr lang="es-CL" sz="2800" dirty="0"/>
              <a:t/>
            </a:r>
            <a:br>
              <a:rPr lang="es-CL" sz="2800" dirty="0"/>
            </a:br>
            <a:endParaRPr lang="es-CL" sz="2800" dirty="0">
              <a:solidFill>
                <a:srgbClr val="0000CC"/>
              </a:solidFill>
            </a:endParaRPr>
          </a:p>
        </p:txBody>
      </p:sp>
      <p:sp>
        <p:nvSpPr>
          <p:cNvPr id="3" name="2 Marcador de contenido"/>
          <p:cNvSpPr>
            <a:spLocks noGrp="1"/>
          </p:cNvSpPr>
          <p:nvPr>
            <p:ph idx="1"/>
          </p:nvPr>
        </p:nvSpPr>
        <p:spPr>
          <a:xfrm>
            <a:off x="457200" y="1052736"/>
            <a:ext cx="8229600" cy="5472608"/>
          </a:xfrm>
        </p:spPr>
        <p:txBody>
          <a:bodyPr>
            <a:normAutofit/>
          </a:bodyPr>
          <a:lstStyle/>
          <a:p>
            <a:pPr algn="just"/>
            <a:r>
              <a:rPr lang="es-CL" sz="1800" dirty="0"/>
              <a:t>E</a:t>
            </a:r>
            <a:r>
              <a:rPr lang="es-CL" sz="1800" dirty="0" smtClean="0"/>
              <a:t>s </a:t>
            </a:r>
            <a:r>
              <a:rPr lang="es-CL" sz="1800" dirty="0"/>
              <a:t>un servicio público descentralizado, con personalidad jurídica y patrimonio propio, sometido a la </a:t>
            </a:r>
            <a:r>
              <a:rPr lang="es-CL" sz="1800" dirty="0" err="1"/>
              <a:t>supervigilancia</a:t>
            </a:r>
            <a:r>
              <a:rPr lang="es-CL" sz="1800" dirty="0"/>
              <a:t> del presidente de la República a través del Ministerio del Medio Ambiente, y cuyos cargos directivos son provistos de acuerdo al sistema de Alta Dirección Pública. Se creó en virtud de la </a:t>
            </a:r>
            <a:r>
              <a:rPr lang="es-CL" sz="1800" dirty="0">
                <a:hlinkClick r:id="rId2"/>
              </a:rPr>
              <a:t>Ley Nº 20.417</a:t>
            </a:r>
            <a:r>
              <a:rPr lang="es-CL" sz="1800" dirty="0" smtClean="0">
                <a:hlinkClick r:id="rId2"/>
              </a:rPr>
              <a:t>.</a:t>
            </a:r>
            <a:endParaRPr lang="es-CL" sz="1800" dirty="0" smtClean="0"/>
          </a:p>
          <a:p>
            <a:pPr algn="just"/>
            <a:endParaRPr lang="es-CL" sz="1800" dirty="0"/>
          </a:p>
          <a:p>
            <a:pPr algn="just"/>
            <a:r>
              <a:rPr lang="es-CL" sz="1800" dirty="0"/>
              <a:t>A la SMA le corresponde de forma exclusiva ejecutar, organizar y coordinar el seguimiento y fiscalización de las Resoluciones de Calificación Ambiental, de las medidas de los Planes de Prevención y/o de Descontaminación Ambiental, del contenido de las Normas de Calidad Ambiental y Normas de Emisión, y de los Planes de Manejo, cuando corresponda, y de todos aquellos otros instrumentos de carácter ambiental que establezca la ley</a:t>
            </a:r>
            <a:r>
              <a:rPr lang="es-CL" sz="1800" dirty="0" smtClean="0"/>
              <a:t>.</a:t>
            </a:r>
          </a:p>
          <a:p>
            <a:pPr algn="just"/>
            <a:endParaRPr lang="es-CL" sz="1800" dirty="0"/>
          </a:p>
          <a:p>
            <a:pPr algn="just"/>
            <a:r>
              <a:rPr lang="es-CL" sz="1800" dirty="0"/>
              <a:t>Para llevar a cabo dichas funciones, la Superintendencia podrá desarrollar esta labor mediante tres modalidades de fiscalización. En primer lugar, mediante una modalidad directa, a través de sus propios funcionarios; en segundo lugar, a través de los organismos </a:t>
            </a:r>
            <a:r>
              <a:rPr lang="es-CL" sz="1800" dirty="0" smtClean="0"/>
              <a:t>sectoriales; </a:t>
            </a:r>
            <a:r>
              <a:rPr lang="es-CL" sz="1800" dirty="0"/>
              <a:t>y, finalmente, mediante terceros debidamente acreditados y autorizados por la Superintendencia.</a:t>
            </a:r>
          </a:p>
          <a:p>
            <a:pPr algn="just"/>
            <a:endParaRPr lang="es-CL" sz="1800" dirty="0"/>
          </a:p>
        </p:txBody>
      </p:sp>
    </p:spTree>
    <p:extLst>
      <p:ext uri="{BB962C8B-B14F-4D97-AF65-F5344CB8AC3E}">
        <p14:creationId xmlns:p14="http://schemas.microsoft.com/office/powerpoint/2010/main" val="17421430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116632"/>
            <a:ext cx="8229600" cy="562074"/>
          </a:xfrm>
        </p:spPr>
        <p:txBody>
          <a:bodyPr>
            <a:normAutofit/>
          </a:bodyPr>
          <a:lstStyle/>
          <a:p>
            <a:r>
              <a:rPr lang="es-CL" sz="2800" smtClean="0">
                <a:solidFill>
                  <a:srgbClr val="0000CC"/>
                </a:solidFill>
              </a:rPr>
              <a:t>ACTUALIZACIÓN DEL REGLAMENTO DEL SEIA</a:t>
            </a:r>
            <a:endParaRPr lang="es-CL" sz="2800" dirty="0">
              <a:solidFill>
                <a:srgbClr val="0000CC"/>
              </a:solidFill>
            </a:endParaRPr>
          </a:p>
        </p:txBody>
      </p:sp>
      <p:sp>
        <p:nvSpPr>
          <p:cNvPr id="3" name="2 Marcador de contenido"/>
          <p:cNvSpPr>
            <a:spLocks noGrp="1"/>
          </p:cNvSpPr>
          <p:nvPr>
            <p:ph idx="1"/>
          </p:nvPr>
        </p:nvSpPr>
        <p:spPr>
          <a:xfrm>
            <a:off x="539552" y="620688"/>
            <a:ext cx="8229600" cy="6120680"/>
          </a:xfrm>
        </p:spPr>
        <p:txBody>
          <a:bodyPr>
            <a:noAutofit/>
          </a:bodyPr>
          <a:lstStyle/>
          <a:p>
            <a:pPr algn="just"/>
            <a:r>
              <a:rPr lang="es-CL" sz="2000" dirty="0"/>
              <a:t>El año 2013 se promulga la actualización del Reglamento del SEIA, adecuándolo a la nueva institucionalidad ambiental.  </a:t>
            </a:r>
            <a:r>
              <a:rPr lang="es-CL" sz="2000" dirty="0" smtClean="0"/>
              <a:t>Los </a:t>
            </a:r>
            <a:r>
              <a:rPr lang="es-CL" sz="2000" dirty="0"/>
              <a:t>principales aportes del reglamento </a:t>
            </a:r>
            <a:r>
              <a:rPr lang="es-CL" sz="2000" dirty="0" smtClean="0"/>
              <a:t>son los siguientes:</a:t>
            </a:r>
          </a:p>
          <a:p>
            <a:pPr marL="0" indent="0" algn="just">
              <a:buNone/>
            </a:pPr>
            <a:endParaRPr lang="es-CL" sz="2000" dirty="0" smtClean="0"/>
          </a:p>
          <a:p>
            <a:pPr algn="just"/>
            <a:r>
              <a:rPr lang="es-CL" sz="2000" dirty="0" smtClean="0"/>
              <a:t>(1</a:t>
            </a:r>
            <a:r>
              <a:rPr lang="es-CL" sz="2000" dirty="0"/>
              <a:t>) </a:t>
            </a:r>
            <a:r>
              <a:rPr lang="es-CL" sz="2000" u="sng" dirty="0"/>
              <a:t>Ampliación de la participación ciudadana</a:t>
            </a:r>
            <a:r>
              <a:rPr lang="es-CL" sz="2000" dirty="0"/>
              <a:t>, de manera que todos los ciudadanos puedan participar y no sólo los directamente afectados. Además, se incorporan las observaciones de los ciudadanos como parte del proceso de calificación. También permite que, mediante solicitud, se pueda hacer participación ciudadana en las </a:t>
            </a:r>
            <a:r>
              <a:rPr lang="es-CL" sz="2000" dirty="0" smtClean="0"/>
              <a:t>DIA, </a:t>
            </a:r>
            <a:r>
              <a:rPr lang="es-CL" sz="2000" dirty="0"/>
              <a:t>lo que anteriormente era exclusivo para los </a:t>
            </a:r>
            <a:r>
              <a:rPr lang="es-CL" sz="2000" dirty="0" smtClean="0"/>
              <a:t>EIA. </a:t>
            </a:r>
            <a:r>
              <a:rPr lang="es-CL" sz="2000" dirty="0"/>
              <a:t>Por último, los ciudadanos pueden denunciar y de esa manera ayudar a fiscalizar el cumplimiento de la normativa ambiental. </a:t>
            </a:r>
            <a:endParaRPr lang="es-CL" sz="2000" dirty="0" smtClean="0"/>
          </a:p>
          <a:p>
            <a:pPr marL="0" indent="0" algn="just">
              <a:buNone/>
            </a:pPr>
            <a:endParaRPr lang="es-CL" sz="2000" dirty="0" smtClean="0"/>
          </a:p>
          <a:p>
            <a:pPr algn="just"/>
            <a:r>
              <a:rPr lang="es-CL" sz="2000" dirty="0" smtClean="0"/>
              <a:t>(</a:t>
            </a:r>
            <a:r>
              <a:rPr lang="es-CL" sz="2000" dirty="0"/>
              <a:t>2) </a:t>
            </a:r>
            <a:r>
              <a:rPr lang="es-CL" sz="2000" u="sng" dirty="0"/>
              <a:t>No se permite el fraccionamiento de proyectos</a:t>
            </a:r>
            <a:r>
              <a:rPr lang="es-CL" sz="2000" dirty="0"/>
              <a:t>, es decir, que se presente un proyecto como si fueran dos para que el impacto de ambos sea menor que el conjunto. Por ejemplo, presentar de forma separada la mina y el botadero. </a:t>
            </a:r>
            <a:endParaRPr lang="es-CL" sz="2000" dirty="0" smtClean="0"/>
          </a:p>
        </p:txBody>
      </p:sp>
    </p:spTree>
    <p:extLst>
      <p:ext uri="{BB962C8B-B14F-4D97-AF65-F5344CB8AC3E}">
        <p14:creationId xmlns:p14="http://schemas.microsoft.com/office/powerpoint/2010/main" val="12892001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116632"/>
            <a:ext cx="8229600" cy="562074"/>
          </a:xfrm>
        </p:spPr>
        <p:txBody>
          <a:bodyPr>
            <a:normAutofit/>
          </a:bodyPr>
          <a:lstStyle/>
          <a:p>
            <a:r>
              <a:rPr lang="es-CL" sz="2800" dirty="0" smtClean="0">
                <a:solidFill>
                  <a:srgbClr val="0000CC"/>
                </a:solidFill>
              </a:rPr>
              <a:t>INTRODUCCIÓN</a:t>
            </a:r>
            <a:endParaRPr lang="es-CL" sz="2800" dirty="0">
              <a:solidFill>
                <a:srgbClr val="0000CC"/>
              </a:solidFill>
            </a:endParaRPr>
          </a:p>
        </p:txBody>
      </p:sp>
      <p:sp>
        <p:nvSpPr>
          <p:cNvPr id="3" name="2 Marcador de contenido"/>
          <p:cNvSpPr>
            <a:spLocks noGrp="1"/>
          </p:cNvSpPr>
          <p:nvPr>
            <p:ph idx="1"/>
          </p:nvPr>
        </p:nvSpPr>
        <p:spPr>
          <a:xfrm>
            <a:off x="539552" y="908720"/>
            <a:ext cx="8229600" cy="5328592"/>
          </a:xfrm>
        </p:spPr>
        <p:txBody>
          <a:bodyPr>
            <a:noAutofit/>
          </a:bodyPr>
          <a:lstStyle/>
          <a:p>
            <a:pPr algn="just"/>
            <a:r>
              <a:rPr lang="es-CL" sz="2000" dirty="0" smtClean="0"/>
              <a:t>(</a:t>
            </a:r>
            <a:r>
              <a:rPr lang="es-CL" sz="2000" dirty="0"/>
              <a:t>3) </a:t>
            </a:r>
            <a:r>
              <a:rPr lang="es-CL" sz="2000" u="sng" dirty="0"/>
              <a:t>Se especifica que los proyectos deben tener información relevante y esencial</a:t>
            </a:r>
            <a:r>
              <a:rPr lang="es-CL" sz="2000" dirty="0"/>
              <a:t>, y que si carece de </a:t>
            </a:r>
            <a:r>
              <a:rPr lang="es-CL" sz="2000" dirty="0" smtClean="0"/>
              <a:t>ésta se </a:t>
            </a:r>
            <a:r>
              <a:rPr lang="es-CL" sz="2000" dirty="0"/>
              <a:t>le puede poner término al procedimiento de evaluación ambiental. </a:t>
            </a:r>
            <a:endParaRPr lang="es-CL" sz="2000" dirty="0" smtClean="0"/>
          </a:p>
          <a:p>
            <a:pPr algn="just"/>
            <a:endParaRPr lang="es-CL" sz="2000" dirty="0" smtClean="0"/>
          </a:p>
          <a:p>
            <a:pPr algn="just"/>
            <a:r>
              <a:rPr lang="es-CL" sz="2000" dirty="0" smtClean="0"/>
              <a:t>(</a:t>
            </a:r>
            <a:r>
              <a:rPr lang="es-CL" sz="2000" dirty="0"/>
              <a:t>4) </a:t>
            </a:r>
            <a:r>
              <a:rPr lang="es-CL" sz="2000" u="sng" dirty="0"/>
              <a:t>Se establecen claramente los criterios de admisibilidad</a:t>
            </a:r>
            <a:r>
              <a:rPr lang="es-CL" sz="2000" dirty="0"/>
              <a:t>, es decir, la forma, el fondo, los antecedentes y la vía de evaluación del proyecto que se presenta. Con esto, </a:t>
            </a:r>
            <a:r>
              <a:rPr lang="es-CL" sz="2000" dirty="0" smtClean="0"/>
              <a:t>el </a:t>
            </a:r>
            <a:r>
              <a:rPr lang="es-CL" sz="2000" dirty="0"/>
              <a:t>proyecto está presentado de manera más completa y entendible. Además, al estar estandarizado, se reducen los errores administrativos. Junto con esto, se establece un plazo de 5 días desde la presentación de los antecedentes para definir su </a:t>
            </a:r>
            <a:r>
              <a:rPr lang="es-CL" sz="2000" dirty="0" smtClean="0"/>
              <a:t>admisibilidad.</a:t>
            </a:r>
          </a:p>
          <a:p>
            <a:pPr algn="just"/>
            <a:endParaRPr lang="es-CL" sz="2000" dirty="0" smtClean="0"/>
          </a:p>
          <a:p>
            <a:pPr algn="just"/>
            <a:r>
              <a:rPr lang="es-CL" sz="2000" dirty="0" smtClean="0"/>
              <a:t>(5</a:t>
            </a:r>
            <a:r>
              <a:rPr lang="es-CL" sz="2000" dirty="0"/>
              <a:t>) </a:t>
            </a:r>
            <a:r>
              <a:rPr lang="es-CL" sz="2000" u="sng" dirty="0"/>
              <a:t>Se reducen los plazos de evaluación de 180 y 90 a 120 y 60 días para las </a:t>
            </a:r>
            <a:r>
              <a:rPr lang="es-CL" sz="2000" u="sng" dirty="0" err="1"/>
              <a:t>EIAs</a:t>
            </a:r>
            <a:r>
              <a:rPr lang="es-CL" sz="2000" u="sng" dirty="0"/>
              <a:t> y </a:t>
            </a:r>
            <a:r>
              <a:rPr lang="es-CL" sz="2000" u="sng" dirty="0" err="1"/>
              <a:t>DIAs</a:t>
            </a:r>
            <a:r>
              <a:rPr lang="es-CL" sz="2000" u="sng" dirty="0"/>
              <a:t>, respectivamente</a:t>
            </a:r>
            <a:r>
              <a:rPr lang="es-CL" sz="2000" dirty="0"/>
              <a:t>. </a:t>
            </a:r>
            <a:endParaRPr lang="es-CL" sz="2000" dirty="0" smtClean="0"/>
          </a:p>
          <a:p>
            <a:pPr algn="just"/>
            <a:endParaRPr lang="es-CL" sz="2000" dirty="0"/>
          </a:p>
          <a:p>
            <a:pPr algn="just"/>
            <a:r>
              <a:rPr lang="es-CL" sz="2000" dirty="0" smtClean="0"/>
              <a:t>La </a:t>
            </a:r>
            <a:r>
              <a:rPr lang="es-CL" sz="2000" dirty="0"/>
              <a:t>entrada en vigencia del nuevo Reglamento </a:t>
            </a:r>
            <a:r>
              <a:rPr lang="es-CL" sz="2000" dirty="0" smtClean="0"/>
              <a:t>quedó </a:t>
            </a:r>
            <a:r>
              <a:rPr lang="es-CL" sz="2000" dirty="0"/>
              <a:t>reflejada en los proyectos que ingresaron el año 2014.</a:t>
            </a:r>
          </a:p>
        </p:txBody>
      </p:sp>
    </p:spTree>
    <p:extLst>
      <p:ext uri="{BB962C8B-B14F-4D97-AF65-F5344CB8AC3E}">
        <p14:creationId xmlns:p14="http://schemas.microsoft.com/office/powerpoint/2010/main" val="10340324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850106"/>
          </a:xfrm>
        </p:spPr>
        <p:txBody>
          <a:bodyPr>
            <a:normAutofit fontScale="90000"/>
          </a:bodyPr>
          <a:lstStyle/>
          <a:p>
            <a:r>
              <a:rPr lang="es-CL" sz="2800" dirty="0" smtClean="0">
                <a:solidFill>
                  <a:srgbClr val="0000CC"/>
                </a:solidFill>
              </a:rPr>
              <a:t>PROYECTOS MINEROS, </a:t>
            </a:r>
            <a:br>
              <a:rPr lang="es-CL" sz="2800" dirty="0" smtClean="0">
                <a:solidFill>
                  <a:srgbClr val="0000CC"/>
                </a:solidFill>
              </a:rPr>
            </a:br>
            <a:r>
              <a:rPr lang="es-CL" sz="2800" dirty="0" smtClean="0">
                <a:solidFill>
                  <a:srgbClr val="0000CC"/>
                </a:solidFill>
              </a:rPr>
              <a:t>PRONUNCIAMIENTO DE LOS SERVICIOS</a:t>
            </a:r>
            <a:endParaRPr lang="es-CL" sz="2800" dirty="0">
              <a:solidFill>
                <a:srgbClr val="0000CC"/>
              </a:solidFill>
            </a:endParaRPr>
          </a:p>
        </p:txBody>
      </p:sp>
      <p:sp>
        <p:nvSpPr>
          <p:cNvPr id="3" name="2 Marcador de contenido"/>
          <p:cNvSpPr>
            <a:spLocks noGrp="1"/>
          </p:cNvSpPr>
          <p:nvPr>
            <p:ph idx="1"/>
          </p:nvPr>
        </p:nvSpPr>
        <p:spPr>
          <a:xfrm>
            <a:off x="468508" y="1124744"/>
            <a:ext cx="8229600" cy="5733256"/>
          </a:xfrm>
        </p:spPr>
        <p:txBody>
          <a:bodyPr>
            <a:noAutofit/>
          </a:bodyPr>
          <a:lstStyle/>
          <a:p>
            <a:pPr algn="just"/>
            <a:r>
              <a:rPr lang="es-CL" sz="2000" dirty="0"/>
              <a:t>La principal etapa del proceso de evaluación ambiental es la evaluación misma, es decir cuando el SEA regional requiere a los servicios regionales pertinentes que se pronuncien en su área de competencia, con respecto al proyecto que se ingresó. </a:t>
            </a:r>
            <a:endParaRPr lang="es-CL" sz="2000" dirty="0" smtClean="0"/>
          </a:p>
          <a:p>
            <a:pPr algn="just"/>
            <a:endParaRPr lang="es-CL" sz="2000" dirty="0"/>
          </a:p>
          <a:p>
            <a:pPr algn="just"/>
            <a:r>
              <a:rPr lang="es-CL" sz="2000" dirty="0" smtClean="0"/>
              <a:t>Sus </a:t>
            </a:r>
            <a:r>
              <a:rPr lang="es-CL" sz="2000" dirty="0"/>
              <a:t>observaciones determinarán en parte importante el tiempo de permanencia, y, si bien depende del SEA y de los servicios si el proyecto se aprueba o rechaza, </a:t>
            </a:r>
            <a:r>
              <a:rPr lang="es-CL" sz="2000" dirty="0" smtClean="0"/>
              <a:t>no </a:t>
            </a:r>
            <a:r>
              <a:rPr lang="es-CL" sz="2000" dirty="0"/>
              <a:t>son los únicos factores de decisión. </a:t>
            </a:r>
            <a:r>
              <a:rPr lang="es-CL" sz="2000" dirty="0" smtClean="0"/>
              <a:t>Los servicios </a:t>
            </a:r>
            <a:r>
              <a:rPr lang="es-CL" sz="2000" dirty="0"/>
              <a:t>pueden pronunciarse de cuatro maneras diferentes: </a:t>
            </a:r>
            <a:endParaRPr lang="es-CL" sz="2000" dirty="0" smtClean="0"/>
          </a:p>
          <a:p>
            <a:pPr algn="just"/>
            <a:r>
              <a:rPr lang="es-CL" sz="2000" dirty="0" smtClean="0"/>
              <a:t>(</a:t>
            </a:r>
            <a:r>
              <a:rPr lang="es-CL" sz="2000" dirty="0"/>
              <a:t>1) </a:t>
            </a:r>
            <a:r>
              <a:rPr lang="es-CL" sz="2000" dirty="0" smtClean="0"/>
              <a:t>Conforme</a:t>
            </a:r>
            <a:r>
              <a:rPr lang="es-CL" sz="2000" dirty="0"/>
              <a:t>, </a:t>
            </a:r>
            <a:endParaRPr lang="es-CL" sz="2000" dirty="0" smtClean="0"/>
          </a:p>
          <a:p>
            <a:pPr algn="just"/>
            <a:r>
              <a:rPr lang="es-CL" sz="2000" dirty="0" smtClean="0"/>
              <a:t>(</a:t>
            </a:r>
            <a:r>
              <a:rPr lang="es-CL" sz="2000" dirty="0"/>
              <a:t>2) </a:t>
            </a:r>
            <a:r>
              <a:rPr lang="es-CL" sz="2000" dirty="0" smtClean="0"/>
              <a:t>No </a:t>
            </a:r>
            <a:r>
              <a:rPr lang="es-CL" sz="2000" dirty="0"/>
              <a:t>conforme, </a:t>
            </a:r>
            <a:endParaRPr lang="es-CL" sz="2000" dirty="0" smtClean="0"/>
          </a:p>
          <a:p>
            <a:pPr algn="just"/>
            <a:r>
              <a:rPr lang="es-CL" sz="2000" dirty="0" smtClean="0"/>
              <a:t>(</a:t>
            </a:r>
            <a:r>
              <a:rPr lang="es-CL" sz="2000" dirty="0"/>
              <a:t>3) </a:t>
            </a:r>
            <a:r>
              <a:rPr lang="es-CL" sz="2000" dirty="0" smtClean="0"/>
              <a:t>No </a:t>
            </a:r>
            <a:r>
              <a:rPr lang="es-CL" sz="2000" dirty="0"/>
              <a:t>participa, o </a:t>
            </a:r>
            <a:endParaRPr lang="es-CL" sz="2000" dirty="0" smtClean="0"/>
          </a:p>
          <a:p>
            <a:pPr algn="just"/>
            <a:r>
              <a:rPr lang="es-CL" sz="2000" dirty="0" smtClean="0"/>
              <a:t>(</a:t>
            </a:r>
            <a:r>
              <a:rPr lang="es-CL" sz="2000" dirty="0"/>
              <a:t>4) </a:t>
            </a:r>
            <a:r>
              <a:rPr lang="es-CL" sz="2000" dirty="0" smtClean="0"/>
              <a:t>Con </a:t>
            </a:r>
            <a:r>
              <a:rPr lang="es-CL" sz="2000" dirty="0"/>
              <a:t>observaciones al proyecto. </a:t>
            </a:r>
            <a:endParaRPr lang="es-CL" sz="2000" dirty="0" smtClean="0"/>
          </a:p>
          <a:p>
            <a:pPr algn="just"/>
            <a:endParaRPr lang="es-CL" sz="2000" dirty="0" smtClean="0"/>
          </a:p>
          <a:p>
            <a:pPr algn="just"/>
            <a:r>
              <a:rPr lang="es-CL" sz="2000" dirty="0" smtClean="0"/>
              <a:t>Si </a:t>
            </a:r>
            <a:r>
              <a:rPr lang="es-CL" sz="2000" dirty="0"/>
              <a:t>bien el reglamento establece que si el servicio no se pronuncia, se asume que está conforme con respecto al proyecto, </a:t>
            </a:r>
            <a:r>
              <a:rPr lang="es-CL" sz="2000" dirty="0" smtClean="0"/>
              <a:t>se considera las </a:t>
            </a:r>
            <a:r>
              <a:rPr lang="es-CL" sz="2000" dirty="0"/>
              <a:t>no-pronunciaciones como tales y no como conformes. </a:t>
            </a:r>
          </a:p>
        </p:txBody>
      </p:sp>
    </p:spTree>
    <p:extLst>
      <p:ext uri="{BB962C8B-B14F-4D97-AF65-F5344CB8AC3E}">
        <p14:creationId xmlns:p14="http://schemas.microsoft.com/office/powerpoint/2010/main" val="17918026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850106"/>
          </a:xfrm>
        </p:spPr>
        <p:txBody>
          <a:bodyPr>
            <a:normAutofit fontScale="90000"/>
          </a:bodyPr>
          <a:lstStyle/>
          <a:p>
            <a:r>
              <a:rPr lang="es-CL" sz="2800" dirty="0">
                <a:solidFill>
                  <a:srgbClr val="0000CC"/>
                </a:solidFill>
              </a:rPr>
              <a:t>PROYECTOS MINEROS, </a:t>
            </a:r>
            <a:br>
              <a:rPr lang="es-CL" sz="2800" dirty="0">
                <a:solidFill>
                  <a:srgbClr val="0000CC"/>
                </a:solidFill>
              </a:rPr>
            </a:br>
            <a:r>
              <a:rPr lang="es-CL" sz="2800" dirty="0">
                <a:solidFill>
                  <a:srgbClr val="0000CC"/>
                </a:solidFill>
              </a:rPr>
              <a:t>PRONUNCIAMIENTO DE LOS SERVICIOS</a:t>
            </a:r>
            <a:endParaRPr lang="es-CL" dirty="0">
              <a:solidFill>
                <a:srgbClr val="0000CC"/>
              </a:solidFill>
            </a:endParaRPr>
          </a:p>
        </p:txBody>
      </p:sp>
      <p:sp>
        <p:nvSpPr>
          <p:cNvPr id="3" name="2 Marcador de contenido"/>
          <p:cNvSpPr>
            <a:spLocks noGrp="1"/>
          </p:cNvSpPr>
          <p:nvPr>
            <p:ph idx="1"/>
          </p:nvPr>
        </p:nvSpPr>
        <p:spPr>
          <a:xfrm>
            <a:off x="539552" y="1189831"/>
            <a:ext cx="8229600" cy="4525963"/>
          </a:xfrm>
        </p:spPr>
        <p:txBody>
          <a:bodyPr/>
          <a:lstStyle/>
          <a:p>
            <a:pPr lvl="0" algn="just"/>
            <a:r>
              <a:rPr lang="es-CL" sz="2000" dirty="0">
                <a:solidFill>
                  <a:prstClr val="black"/>
                </a:solidFill>
              </a:rPr>
              <a:t>Considerando todas las regiones, en el período de evaluación, los servicios que más se pronunciaron de cualquiera de las cuatro formas posibles se muestran en la tabla a continuación</a:t>
            </a:r>
            <a:r>
              <a:rPr lang="es-CL" sz="2000" dirty="0" smtClean="0">
                <a:solidFill>
                  <a:prstClr val="black"/>
                </a:solidFill>
              </a:rPr>
              <a:t>.</a:t>
            </a:r>
            <a:endParaRPr lang="es-CL" sz="2000" dirty="0">
              <a:solidFill>
                <a:prstClr val="black"/>
              </a:solidFill>
            </a:endParaRPr>
          </a:p>
        </p:txBody>
      </p:sp>
      <p:graphicFrame>
        <p:nvGraphicFramePr>
          <p:cNvPr id="4" name="3 Tabla"/>
          <p:cNvGraphicFramePr>
            <a:graphicFrameLocks noGrp="1"/>
          </p:cNvGraphicFramePr>
          <p:nvPr>
            <p:extLst>
              <p:ext uri="{D42A27DB-BD31-4B8C-83A1-F6EECF244321}">
                <p14:modId xmlns:p14="http://schemas.microsoft.com/office/powerpoint/2010/main" val="2997796973"/>
              </p:ext>
            </p:extLst>
          </p:nvPr>
        </p:nvGraphicFramePr>
        <p:xfrm>
          <a:off x="1043608" y="2348880"/>
          <a:ext cx="7560838" cy="3895296"/>
        </p:xfrm>
        <a:graphic>
          <a:graphicData uri="http://schemas.openxmlformats.org/drawingml/2006/table">
            <a:tbl>
              <a:tblPr firstRow="1" firstCol="1" bandRow="1">
                <a:tableStyleId>{5C22544A-7EE6-4342-B048-85BDC9FD1C3A}</a:tableStyleId>
              </a:tblPr>
              <a:tblGrid>
                <a:gridCol w="1045953"/>
                <a:gridCol w="4536671"/>
                <a:gridCol w="1978214"/>
              </a:tblGrid>
              <a:tr h="408045">
                <a:tc>
                  <a:txBody>
                    <a:bodyPr/>
                    <a:lstStyle/>
                    <a:p>
                      <a:pPr algn="ctr">
                        <a:lnSpc>
                          <a:spcPct val="115000"/>
                        </a:lnSpc>
                        <a:spcAft>
                          <a:spcPts val="0"/>
                        </a:spcAft>
                      </a:pPr>
                      <a:r>
                        <a:rPr lang="es-CL" sz="1800" dirty="0">
                          <a:effectLst/>
                        </a:rPr>
                        <a:t>Lugar</a:t>
                      </a:r>
                      <a:endParaRPr lang="es-CL" sz="1800" dirty="0">
                        <a:effectLst/>
                        <a:latin typeface="Calibri"/>
                        <a:ea typeface="Calibri"/>
                        <a:cs typeface="Times New Roman"/>
                      </a:endParaRPr>
                    </a:p>
                  </a:txBody>
                  <a:tcPr marL="68580" marR="68580" marT="0" marB="0"/>
                </a:tc>
                <a:tc>
                  <a:txBody>
                    <a:bodyPr/>
                    <a:lstStyle/>
                    <a:p>
                      <a:pPr algn="ctr">
                        <a:lnSpc>
                          <a:spcPct val="115000"/>
                        </a:lnSpc>
                        <a:spcAft>
                          <a:spcPts val="0"/>
                        </a:spcAft>
                      </a:pPr>
                      <a:r>
                        <a:rPr lang="es-CL" sz="1800" dirty="0">
                          <a:effectLst/>
                        </a:rPr>
                        <a:t>Servicio</a:t>
                      </a:r>
                      <a:endParaRPr lang="es-CL" sz="1800" dirty="0">
                        <a:effectLst/>
                        <a:latin typeface="Calibri"/>
                        <a:ea typeface="Calibri"/>
                        <a:cs typeface="Times New Roman"/>
                      </a:endParaRPr>
                    </a:p>
                  </a:txBody>
                  <a:tcPr marL="68580" marR="68580" marT="0" marB="0"/>
                </a:tc>
                <a:tc>
                  <a:txBody>
                    <a:bodyPr/>
                    <a:lstStyle/>
                    <a:p>
                      <a:pPr algn="ctr">
                        <a:lnSpc>
                          <a:spcPct val="115000"/>
                        </a:lnSpc>
                        <a:spcAft>
                          <a:spcPts val="0"/>
                        </a:spcAft>
                      </a:pPr>
                      <a:r>
                        <a:rPr lang="es-CL" sz="1800">
                          <a:effectLst/>
                        </a:rPr>
                        <a:t>Pronunciamiento (%)</a:t>
                      </a:r>
                      <a:endParaRPr lang="es-CL" sz="1800">
                        <a:effectLst/>
                        <a:latin typeface="Calibri"/>
                        <a:ea typeface="Calibri"/>
                        <a:cs typeface="Times New Roman"/>
                      </a:endParaRPr>
                    </a:p>
                  </a:txBody>
                  <a:tcPr marL="68580" marR="68580" marT="0" marB="0"/>
                </a:tc>
              </a:tr>
              <a:tr h="408045">
                <a:tc>
                  <a:txBody>
                    <a:bodyPr/>
                    <a:lstStyle/>
                    <a:p>
                      <a:pPr algn="ctr">
                        <a:lnSpc>
                          <a:spcPct val="115000"/>
                        </a:lnSpc>
                        <a:spcAft>
                          <a:spcPts val="0"/>
                        </a:spcAft>
                      </a:pPr>
                      <a:r>
                        <a:rPr lang="es-CL" sz="1800">
                          <a:effectLst/>
                        </a:rPr>
                        <a:t>1</a:t>
                      </a:r>
                      <a:endParaRPr lang="es-CL"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s-CL" sz="1800" dirty="0">
                          <a:effectLst/>
                        </a:rPr>
                        <a:t>SERNAGEOMIN</a:t>
                      </a:r>
                      <a:endParaRPr lang="es-CL" sz="1800" dirty="0">
                        <a:effectLst/>
                        <a:latin typeface="Calibri"/>
                        <a:ea typeface="Calibri"/>
                        <a:cs typeface="Times New Roman"/>
                      </a:endParaRPr>
                    </a:p>
                  </a:txBody>
                  <a:tcPr marL="68580" marR="68580" marT="0" marB="0"/>
                </a:tc>
                <a:tc>
                  <a:txBody>
                    <a:bodyPr/>
                    <a:lstStyle/>
                    <a:p>
                      <a:pPr algn="ctr">
                        <a:lnSpc>
                          <a:spcPct val="115000"/>
                        </a:lnSpc>
                        <a:spcAft>
                          <a:spcPts val="0"/>
                        </a:spcAft>
                      </a:pPr>
                      <a:r>
                        <a:rPr lang="es-CL" sz="1800" dirty="0">
                          <a:effectLst/>
                        </a:rPr>
                        <a:t>97,0</a:t>
                      </a:r>
                      <a:endParaRPr lang="es-CL" sz="1800" dirty="0">
                        <a:effectLst/>
                        <a:latin typeface="Calibri"/>
                        <a:ea typeface="Calibri"/>
                        <a:cs typeface="Times New Roman"/>
                      </a:endParaRPr>
                    </a:p>
                  </a:txBody>
                  <a:tcPr marL="68580" marR="68580" marT="0" marB="0"/>
                </a:tc>
              </a:tr>
              <a:tr h="408045">
                <a:tc>
                  <a:txBody>
                    <a:bodyPr/>
                    <a:lstStyle/>
                    <a:p>
                      <a:pPr algn="ctr">
                        <a:lnSpc>
                          <a:spcPct val="115000"/>
                        </a:lnSpc>
                        <a:spcAft>
                          <a:spcPts val="0"/>
                        </a:spcAft>
                      </a:pPr>
                      <a:r>
                        <a:rPr lang="es-CL" sz="1800">
                          <a:effectLst/>
                        </a:rPr>
                        <a:t>2</a:t>
                      </a:r>
                      <a:endParaRPr lang="es-CL"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s-CL" sz="1800">
                          <a:effectLst/>
                        </a:rPr>
                        <a:t>Dirección General de Aguas</a:t>
                      </a:r>
                      <a:endParaRPr lang="es-CL"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s-CL" sz="1800" dirty="0">
                          <a:effectLst/>
                        </a:rPr>
                        <a:t>96,7</a:t>
                      </a:r>
                      <a:endParaRPr lang="es-CL" sz="1800" dirty="0">
                        <a:effectLst/>
                        <a:latin typeface="Calibri"/>
                        <a:ea typeface="Calibri"/>
                        <a:cs typeface="Times New Roman"/>
                      </a:endParaRPr>
                    </a:p>
                  </a:txBody>
                  <a:tcPr marL="68580" marR="68580" marT="0" marB="0"/>
                </a:tc>
              </a:tr>
              <a:tr h="408045">
                <a:tc>
                  <a:txBody>
                    <a:bodyPr/>
                    <a:lstStyle/>
                    <a:p>
                      <a:pPr algn="ctr">
                        <a:lnSpc>
                          <a:spcPct val="115000"/>
                        </a:lnSpc>
                        <a:spcAft>
                          <a:spcPts val="0"/>
                        </a:spcAft>
                      </a:pPr>
                      <a:r>
                        <a:rPr lang="es-CL" sz="1800">
                          <a:effectLst/>
                        </a:rPr>
                        <a:t>3</a:t>
                      </a:r>
                      <a:endParaRPr lang="es-CL"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s-CL" sz="1800">
                          <a:effectLst/>
                        </a:rPr>
                        <a:t>Servicio Agrícola y Ganadero</a:t>
                      </a:r>
                      <a:endParaRPr lang="es-CL"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s-CL" sz="1800" dirty="0">
                          <a:effectLst/>
                        </a:rPr>
                        <a:t>96,4</a:t>
                      </a:r>
                      <a:endParaRPr lang="es-CL" sz="1800" dirty="0">
                        <a:effectLst/>
                        <a:latin typeface="Calibri"/>
                        <a:ea typeface="Calibri"/>
                        <a:cs typeface="Times New Roman"/>
                      </a:endParaRPr>
                    </a:p>
                  </a:txBody>
                  <a:tcPr marL="68580" marR="68580" marT="0" marB="0"/>
                </a:tc>
              </a:tr>
              <a:tr h="408045">
                <a:tc>
                  <a:txBody>
                    <a:bodyPr/>
                    <a:lstStyle/>
                    <a:p>
                      <a:pPr algn="ctr">
                        <a:lnSpc>
                          <a:spcPct val="115000"/>
                        </a:lnSpc>
                        <a:spcAft>
                          <a:spcPts val="0"/>
                        </a:spcAft>
                      </a:pPr>
                      <a:r>
                        <a:rPr lang="es-CL" sz="1800">
                          <a:effectLst/>
                        </a:rPr>
                        <a:t>4</a:t>
                      </a:r>
                      <a:endParaRPr lang="es-CL"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s-CL" sz="1800">
                          <a:effectLst/>
                        </a:rPr>
                        <a:t>Ministerio de Salud</a:t>
                      </a:r>
                      <a:endParaRPr lang="es-CL"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s-CL" sz="1800" dirty="0">
                          <a:effectLst/>
                        </a:rPr>
                        <a:t>96,1</a:t>
                      </a:r>
                      <a:endParaRPr lang="es-CL" sz="1800" dirty="0">
                        <a:effectLst/>
                        <a:latin typeface="Calibri"/>
                        <a:ea typeface="Calibri"/>
                        <a:cs typeface="Times New Roman"/>
                      </a:endParaRPr>
                    </a:p>
                  </a:txBody>
                  <a:tcPr marL="68580" marR="68580" marT="0" marB="0"/>
                </a:tc>
              </a:tr>
              <a:tr h="408045">
                <a:tc>
                  <a:txBody>
                    <a:bodyPr/>
                    <a:lstStyle/>
                    <a:p>
                      <a:pPr algn="ctr">
                        <a:lnSpc>
                          <a:spcPct val="115000"/>
                        </a:lnSpc>
                        <a:spcAft>
                          <a:spcPts val="0"/>
                        </a:spcAft>
                      </a:pPr>
                      <a:r>
                        <a:rPr lang="es-CL" sz="1800">
                          <a:effectLst/>
                        </a:rPr>
                        <a:t>5</a:t>
                      </a:r>
                      <a:endParaRPr lang="es-CL"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s-CL" sz="1800">
                          <a:effectLst/>
                        </a:rPr>
                        <a:t>Ministerio del Medio ambiente</a:t>
                      </a:r>
                      <a:endParaRPr lang="es-CL"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s-CL" sz="1800" dirty="0">
                          <a:effectLst/>
                        </a:rPr>
                        <a:t>92,3</a:t>
                      </a:r>
                      <a:endParaRPr lang="es-CL" sz="1800" dirty="0">
                        <a:effectLst/>
                        <a:latin typeface="Calibri"/>
                        <a:ea typeface="Calibri"/>
                        <a:cs typeface="Times New Roman"/>
                      </a:endParaRPr>
                    </a:p>
                  </a:txBody>
                  <a:tcPr marL="68580" marR="68580" marT="0" marB="0"/>
                </a:tc>
              </a:tr>
              <a:tr h="408045">
                <a:tc>
                  <a:txBody>
                    <a:bodyPr/>
                    <a:lstStyle/>
                    <a:p>
                      <a:pPr algn="ctr">
                        <a:lnSpc>
                          <a:spcPct val="115000"/>
                        </a:lnSpc>
                        <a:spcAft>
                          <a:spcPts val="0"/>
                        </a:spcAft>
                      </a:pPr>
                      <a:r>
                        <a:rPr lang="es-CL" sz="1800">
                          <a:effectLst/>
                        </a:rPr>
                        <a:t>6</a:t>
                      </a:r>
                      <a:endParaRPr lang="es-CL"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s-CL" sz="1800">
                          <a:effectLst/>
                        </a:rPr>
                        <a:t>CONAF</a:t>
                      </a:r>
                      <a:endParaRPr lang="es-CL"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s-CL" sz="1800" dirty="0">
                          <a:effectLst/>
                        </a:rPr>
                        <a:t>91,7</a:t>
                      </a:r>
                      <a:endParaRPr lang="es-CL" sz="1800" dirty="0">
                        <a:effectLst/>
                        <a:latin typeface="Calibri"/>
                        <a:ea typeface="Calibri"/>
                        <a:cs typeface="Times New Roman"/>
                      </a:endParaRPr>
                    </a:p>
                  </a:txBody>
                  <a:tcPr marL="68580" marR="68580" marT="0" marB="0"/>
                </a:tc>
              </a:tr>
              <a:tr h="408045">
                <a:tc>
                  <a:txBody>
                    <a:bodyPr/>
                    <a:lstStyle/>
                    <a:p>
                      <a:pPr algn="ctr">
                        <a:lnSpc>
                          <a:spcPct val="115000"/>
                        </a:lnSpc>
                        <a:spcAft>
                          <a:spcPts val="0"/>
                        </a:spcAft>
                      </a:pPr>
                      <a:r>
                        <a:rPr lang="es-CL" sz="1800">
                          <a:effectLst/>
                        </a:rPr>
                        <a:t>7</a:t>
                      </a:r>
                      <a:endParaRPr lang="es-CL"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s-CL" sz="1800">
                          <a:effectLst/>
                        </a:rPr>
                        <a:t>Ministerio de Vivienda y Urbanismo</a:t>
                      </a:r>
                      <a:endParaRPr lang="es-CL"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s-CL" sz="1800" dirty="0">
                          <a:effectLst/>
                        </a:rPr>
                        <a:t>88,4</a:t>
                      </a:r>
                      <a:endParaRPr lang="es-CL" sz="1800" dirty="0">
                        <a:effectLst/>
                        <a:latin typeface="Calibri"/>
                        <a:ea typeface="Calibri"/>
                        <a:cs typeface="Times New Roman"/>
                      </a:endParaRPr>
                    </a:p>
                  </a:txBody>
                  <a:tcPr marL="68580" marR="68580" marT="0" marB="0"/>
                </a:tc>
              </a:tr>
              <a:tr h="408045">
                <a:tc>
                  <a:txBody>
                    <a:bodyPr/>
                    <a:lstStyle/>
                    <a:p>
                      <a:pPr algn="ctr">
                        <a:lnSpc>
                          <a:spcPct val="115000"/>
                        </a:lnSpc>
                        <a:spcAft>
                          <a:spcPts val="0"/>
                        </a:spcAft>
                      </a:pPr>
                      <a:r>
                        <a:rPr lang="es-CL" sz="1800">
                          <a:effectLst/>
                        </a:rPr>
                        <a:t>8</a:t>
                      </a:r>
                      <a:endParaRPr lang="es-CL"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s-CL" sz="1800">
                          <a:effectLst/>
                        </a:rPr>
                        <a:t>SERNATUR</a:t>
                      </a:r>
                      <a:endParaRPr lang="es-CL"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s-CL" sz="1800" dirty="0">
                          <a:effectLst/>
                        </a:rPr>
                        <a:t>87,5</a:t>
                      </a:r>
                      <a:endParaRPr lang="es-CL" sz="1800" dirty="0">
                        <a:effectLst/>
                        <a:latin typeface="Calibri"/>
                        <a:ea typeface="Calibri"/>
                        <a:cs typeface="Times New Roman"/>
                      </a:endParaRPr>
                    </a:p>
                  </a:txBody>
                  <a:tcPr marL="68580" marR="68580" marT="0" marB="0"/>
                </a:tc>
              </a:tr>
            </a:tbl>
          </a:graphicData>
        </a:graphic>
      </p:graphicFrame>
      <p:sp>
        <p:nvSpPr>
          <p:cNvPr id="5" name="Rectangle 1"/>
          <p:cNvSpPr>
            <a:spLocks noChangeArrowheads="1"/>
          </p:cNvSpPr>
          <p:nvPr/>
        </p:nvSpPr>
        <p:spPr bwMode="auto">
          <a:xfrm>
            <a:off x="1720850" y="299561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L"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8619550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dirty="0" smtClean="0">
                <a:solidFill>
                  <a:srgbClr val="0000CC"/>
                </a:solidFill>
              </a:rPr>
              <a:t>LEY 19300 SOBRE BASES GENERALES </a:t>
            </a:r>
            <a:br>
              <a:rPr lang="es-CL" sz="2800" dirty="0" smtClean="0">
                <a:solidFill>
                  <a:srgbClr val="0000CC"/>
                </a:solidFill>
              </a:rPr>
            </a:br>
            <a:r>
              <a:rPr lang="es-CL" sz="2800" dirty="0" smtClean="0">
                <a:solidFill>
                  <a:srgbClr val="0000CC"/>
                </a:solidFill>
              </a:rPr>
              <a:t>DEL MEDIO AMBIENTE</a:t>
            </a:r>
            <a:endParaRPr lang="es-CL" sz="2800" dirty="0">
              <a:solidFill>
                <a:srgbClr val="0000CC"/>
              </a:solidFill>
            </a:endParaRPr>
          </a:p>
        </p:txBody>
      </p:sp>
      <p:sp>
        <p:nvSpPr>
          <p:cNvPr id="3" name="2 Marcador de contenido"/>
          <p:cNvSpPr>
            <a:spLocks noGrp="1"/>
          </p:cNvSpPr>
          <p:nvPr>
            <p:ph idx="1"/>
          </p:nvPr>
        </p:nvSpPr>
        <p:spPr/>
        <p:txBody>
          <a:bodyPr>
            <a:normAutofit/>
          </a:bodyPr>
          <a:lstStyle/>
          <a:p>
            <a:r>
              <a:rPr lang="es-CL" sz="2000" dirty="0" smtClean="0"/>
              <a:t>Título I. Disposiciones Generales.</a:t>
            </a:r>
          </a:p>
          <a:p>
            <a:endParaRPr lang="es-CL" sz="2000" dirty="0" smtClean="0"/>
          </a:p>
          <a:p>
            <a:r>
              <a:rPr lang="es-CL" sz="2000" dirty="0" smtClean="0"/>
              <a:t>Título II. De los Instrumentos de Gestión Ambiental.</a:t>
            </a:r>
          </a:p>
          <a:p>
            <a:endParaRPr lang="es-CL" sz="2000" dirty="0" smtClean="0"/>
          </a:p>
          <a:p>
            <a:r>
              <a:rPr lang="es-CL" sz="2000" dirty="0" smtClean="0"/>
              <a:t>Título III. De la Responsabilidad por Daño Ambiental.</a:t>
            </a:r>
          </a:p>
          <a:p>
            <a:endParaRPr lang="es-CL" sz="2000" dirty="0" smtClean="0"/>
          </a:p>
          <a:p>
            <a:r>
              <a:rPr lang="es-CL" sz="2000" dirty="0" smtClean="0"/>
              <a:t>Título IV. De la Fiscalización.</a:t>
            </a:r>
          </a:p>
          <a:p>
            <a:endParaRPr lang="es-CL" sz="2000" dirty="0" smtClean="0"/>
          </a:p>
          <a:p>
            <a:r>
              <a:rPr lang="es-CL" sz="2000" dirty="0" smtClean="0"/>
              <a:t>Título V. Del Fondo de Protección Ambiental.</a:t>
            </a:r>
          </a:p>
          <a:p>
            <a:endParaRPr lang="es-CL" sz="2000" dirty="0" smtClean="0"/>
          </a:p>
          <a:p>
            <a:r>
              <a:rPr lang="es-CL" sz="2000" dirty="0" smtClean="0"/>
              <a:t>Título Final. Del Ministerio del Medio Ambiente.</a:t>
            </a:r>
            <a:endParaRPr lang="es-CL" sz="2000" dirty="0"/>
          </a:p>
        </p:txBody>
      </p:sp>
    </p:spTree>
    <p:extLst>
      <p:ext uri="{BB962C8B-B14F-4D97-AF65-F5344CB8AC3E}">
        <p14:creationId xmlns:p14="http://schemas.microsoft.com/office/powerpoint/2010/main" val="2425825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dirty="0" smtClean="0">
                <a:solidFill>
                  <a:srgbClr val="0000CC"/>
                </a:solidFill>
              </a:rPr>
              <a:t>INSTRUMENTOS DE GESTIÓN AMBIENTAL</a:t>
            </a:r>
            <a:endParaRPr lang="es-CL" sz="2800" dirty="0">
              <a:solidFill>
                <a:srgbClr val="0000CC"/>
              </a:solidFill>
            </a:endParaRPr>
          </a:p>
        </p:txBody>
      </p:sp>
      <p:sp>
        <p:nvSpPr>
          <p:cNvPr id="3" name="2 Marcador de contenido"/>
          <p:cNvSpPr>
            <a:spLocks noGrp="1"/>
          </p:cNvSpPr>
          <p:nvPr>
            <p:ph idx="1"/>
          </p:nvPr>
        </p:nvSpPr>
        <p:spPr>
          <a:xfrm>
            <a:off x="539552" y="1196752"/>
            <a:ext cx="8229600" cy="5112568"/>
          </a:xfrm>
        </p:spPr>
        <p:txBody>
          <a:bodyPr>
            <a:normAutofit/>
          </a:bodyPr>
          <a:lstStyle/>
          <a:p>
            <a:pPr lvl="0" fontAlgn="base">
              <a:spcAft>
                <a:spcPct val="0"/>
              </a:spcAft>
              <a:buFontTx/>
              <a:buChar char="•"/>
            </a:pPr>
            <a:r>
              <a:rPr lang="es-ES" sz="2000" kern="0" dirty="0"/>
              <a:t>Educación e Investigación  (Párrafo 1</a:t>
            </a:r>
            <a:r>
              <a:rPr lang="es-ES" sz="2000" kern="0" dirty="0" smtClean="0"/>
              <a:t>)</a:t>
            </a:r>
          </a:p>
          <a:p>
            <a:pPr lvl="0" fontAlgn="base">
              <a:spcAft>
                <a:spcPct val="0"/>
              </a:spcAft>
              <a:buFontTx/>
              <a:buChar char="•"/>
            </a:pPr>
            <a:endParaRPr lang="es-ES" sz="2000" kern="0" dirty="0"/>
          </a:p>
          <a:p>
            <a:pPr lvl="0" fontAlgn="base">
              <a:spcAft>
                <a:spcPct val="0"/>
              </a:spcAft>
              <a:buFontTx/>
              <a:buChar char="•"/>
            </a:pPr>
            <a:r>
              <a:rPr lang="es-ES" sz="2000" kern="0" dirty="0"/>
              <a:t>Sistema de Evaluación de Impacto Ambiental (Párrafo 2</a:t>
            </a:r>
            <a:r>
              <a:rPr lang="es-ES" sz="2000" kern="0" dirty="0" smtClean="0"/>
              <a:t>)</a:t>
            </a:r>
          </a:p>
          <a:p>
            <a:pPr lvl="0" fontAlgn="base">
              <a:spcAft>
                <a:spcPct val="0"/>
              </a:spcAft>
              <a:buFontTx/>
              <a:buChar char="•"/>
            </a:pPr>
            <a:endParaRPr lang="es-ES" sz="2000" kern="0" dirty="0"/>
          </a:p>
          <a:p>
            <a:pPr lvl="0" fontAlgn="base">
              <a:spcAft>
                <a:spcPct val="0"/>
              </a:spcAft>
              <a:buFontTx/>
              <a:buChar char="•"/>
            </a:pPr>
            <a:r>
              <a:rPr lang="es-ES" sz="2000" kern="0" dirty="0"/>
              <a:t>Participación </a:t>
            </a:r>
            <a:r>
              <a:rPr lang="es-ES" sz="2000" kern="0" dirty="0" smtClean="0"/>
              <a:t>Ciudadana </a:t>
            </a:r>
            <a:r>
              <a:rPr lang="es-ES" sz="2000" kern="0" dirty="0"/>
              <a:t>(Párrafo 3</a:t>
            </a:r>
            <a:r>
              <a:rPr lang="es-ES" sz="2000" kern="0" dirty="0" smtClean="0"/>
              <a:t>)</a:t>
            </a:r>
          </a:p>
          <a:p>
            <a:pPr lvl="0" fontAlgn="base">
              <a:spcAft>
                <a:spcPct val="0"/>
              </a:spcAft>
              <a:buFontTx/>
              <a:buChar char="•"/>
            </a:pPr>
            <a:endParaRPr lang="es-ES" sz="2000" kern="0" dirty="0"/>
          </a:p>
          <a:p>
            <a:pPr lvl="0" fontAlgn="base">
              <a:spcAft>
                <a:spcPct val="0"/>
              </a:spcAft>
              <a:buFontTx/>
              <a:buChar char="•"/>
            </a:pPr>
            <a:r>
              <a:rPr lang="es-ES" sz="2000" kern="0" dirty="0"/>
              <a:t>Normas de Calidad (Párrafo 4</a:t>
            </a:r>
            <a:r>
              <a:rPr lang="es-ES" sz="2000" kern="0" dirty="0" smtClean="0"/>
              <a:t>)</a:t>
            </a:r>
          </a:p>
          <a:p>
            <a:pPr lvl="0" fontAlgn="base">
              <a:spcAft>
                <a:spcPct val="0"/>
              </a:spcAft>
              <a:buFontTx/>
              <a:buChar char="•"/>
            </a:pPr>
            <a:endParaRPr lang="es-ES" sz="2000" kern="0" dirty="0"/>
          </a:p>
          <a:p>
            <a:pPr lvl="0" fontAlgn="base">
              <a:spcAft>
                <a:spcPct val="0"/>
              </a:spcAft>
              <a:buFontTx/>
              <a:buChar char="•"/>
            </a:pPr>
            <a:r>
              <a:rPr lang="es-ES" sz="2000" kern="0" dirty="0"/>
              <a:t>Normas de Emisión (Párrafo 5</a:t>
            </a:r>
            <a:r>
              <a:rPr lang="es-ES" sz="2000" kern="0" dirty="0" smtClean="0"/>
              <a:t>)</a:t>
            </a:r>
          </a:p>
          <a:p>
            <a:pPr lvl="0" fontAlgn="base">
              <a:spcAft>
                <a:spcPct val="0"/>
              </a:spcAft>
              <a:buFontTx/>
              <a:buChar char="•"/>
            </a:pPr>
            <a:endParaRPr lang="es-ES" sz="2000" kern="0" dirty="0"/>
          </a:p>
          <a:p>
            <a:pPr lvl="0" fontAlgn="base">
              <a:spcAft>
                <a:spcPct val="0"/>
              </a:spcAft>
              <a:buFontTx/>
              <a:buChar char="•"/>
            </a:pPr>
            <a:r>
              <a:rPr lang="es-ES" sz="2000" kern="0" dirty="0"/>
              <a:t>Planes de Manejo, Prevención o</a:t>
            </a:r>
            <a:r>
              <a:rPr lang="es-ES" sz="2000" kern="0" dirty="0" smtClean="0"/>
              <a:t> Descontaminación </a:t>
            </a:r>
            <a:r>
              <a:rPr lang="es-ES" sz="2000" kern="0" dirty="0"/>
              <a:t>(Párrafo 6</a:t>
            </a:r>
            <a:r>
              <a:rPr lang="es-ES" sz="2000" kern="0" dirty="0" smtClean="0"/>
              <a:t>)</a:t>
            </a:r>
          </a:p>
          <a:p>
            <a:pPr lvl="0" fontAlgn="base">
              <a:spcAft>
                <a:spcPct val="0"/>
              </a:spcAft>
              <a:buFontTx/>
              <a:buChar char="•"/>
            </a:pPr>
            <a:endParaRPr lang="es-ES" sz="2000" kern="0" dirty="0"/>
          </a:p>
          <a:p>
            <a:pPr lvl="0" fontAlgn="base">
              <a:spcAft>
                <a:spcPct val="0"/>
              </a:spcAft>
              <a:buFontTx/>
              <a:buChar char="•"/>
            </a:pPr>
            <a:r>
              <a:rPr lang="es-ES" sz="2000" kern="0" dirty="0"/>
              <a:t>Procedimientos de Reclamo (Párrafo 7)</a:t>
            </a:r>
          </a:p>
          <a:p>
            <a:endParaRPr lang="es-CL" dirty="0"/>
          </a:p>
        </p:txBody>
      </p:sp>
    </p:spTree>
    <p:extLst>
      <p:ext uri="{BB962C8B-B14F-4D97-AF65-F5344CB8AC3E}">
        <p14:creationId xmlns:p14="http://schemas.microsoft.com/office/powerpoint/2010/main" val="2569333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L" sz="2400" dirty="0">
                <a:solidFill>
                  <a:srgbClr val="0000CC"/>
                </a:solidFill>
              </a:rPr>
              <a:t>SEIA: SISTEMA DE EVALUACIÓN DE IMPACTO AMBIENTAL</a:t>
            </a:r>
            <a:endParaRPr lang="es-CL" dirty="0">
              <a:solidFill>
                <a:srgbClr val="0000CC"/>
              </a:solidFill>
            </a:endParaRPr>
          </a:p>
        </p:txBody>
      </p:sp>
      <p:sp>
        <p:nvSpPr>
          <p:cNvPr id="3" name="2 Marcador de contenido"/>
          <p:cNvSpPr>
            <a:spLocks noGrp="1"/>
          </p:cNvSpPr>
          <p:nvPr>
            <p:ph idx="1"/>
          </p:nvPr>
        </p:nvSpPr>
        <p:spPr>
          <a:xfrm>
            <a:off x="467544" y="1196752"/>
            <a:ext cx="8229600" cy="5472608"/>
          </a:xfrm>
        </p:spPr>
        <p:txBody>
          <a:bodyPr>
            <a:noAutofit/>
          </a:bodyPr>
          <a:lstStyle/>
          <a:p>
            <a:pPr algn="just"/>
            <a:r>
              <a:rPr lang="es-CL" sz="2400" dirty="0"/>
              <a:t>El SEIA </a:t>
            </a:r>
            <a:r>
              <a:rPr lang="es-CL" sz="2400" dirty="0" smtClean="0"/>
              <a:t>es </a:t>
            </a:r>
            <a:r>
              <a:rPr lang="es-CL" sz="2400" dirty="0"/>
              <a:t>un instrumento de gestión ambiental de carácter preventivo, es decir que permite a la autoridad determinar antes de la ejecución de un proyecto si éste</a:t>
            </a:r>
            <a:r>
              <a:rPr lang="es-CL" sz="2400" dirty="0" smtClean="0"/>
              <a:t>:</a:t>
            </a:r>
          </a:p>
          <a:p>
            <a:pPr marL="0" indent="0" algn="just">
              <a:buNone/>
            </a:pPr>
            <a:endParaRPr lang="es-CL" sz="2400" dirty="0"/>
          </a:p>
          <a:p>
            <a:pPr marL="0" indent="0" algn="just">
              <a:buNone/>
            </a:pPr>
            <a:r>
              <a:rPr lang="es-CL" sz="2400" dirty="0" smtClean="0"/>
              <a:t>      a) Cumple </a:t>
            </a:r>
            <a:r>
              <a:rPr lang="es-CL" sz="2400" dirty="0"/>
              <a:t>con la legislación ambiental vigente.</a:t>
            </a:r>
          </a:p>
          <a:p>
            <a:pPr marL="0" indent="0" algn="just">
              <a:buNone/>
            </a:pPr>
            <a:r>
              <a:rPr lang="es-CL" sz="2400" dirty="0" smtClean="0"/>
              <a:t>      b) Si se </a:t>
            </a:r>
            <a:r>
              <a:rPr lang="es-CL" sz="2400" dirty="0"/>
              <a:t>hace cargo de los potenciales impactos ambientales significativos</a:t>
            </a:r>
            <a:r>
              <a:rPr lang="es-CL" sz="2400" dirty="0" smtClean="0"/>
              <a:t>.</a:t>
            </a:r>
          </a:p>
          <a:p>
            <a:pPr marL="0" indent="0" algn="just">
              <a:buNone/>
            </a:pPr>
            <a:endParaRPr lang="es-CL" sz="2400" dirty="0" smtClean="0"/>
          </a:p>
          <a:p>
            <a:pPr algn="just"/>
            <a:r>
              <a:rPr lang="es-CL" sz="2400" dirty="0" smtClean="0"/>
              <a:t>El Servicio de Evaluación Ambiental (SEA) administra el SEIA.</a:t>
            </a:r>
          </a:p>
          <a:p>
            <a:pPr marL="0" indent="0" algn="just">
              <a:buNone/>
            </a:pPr>
            <a:endParaRPr lang="es-CL" sz="2400" dirty="0"/>
          </a:p>
          <a:p>
            <a:pPr algn="just"/>
            <a:r>
              <a:rPr lang="es-CL" sz="2400" dirty="0"/>
              <a:t>El proceso de evaluación culmina con una resolución que califica ambientalmente el proyecto evaluado, aprobándolo o rechazándolo (</a:t>
            </a:r>
            <a:r>
              <a:rPr lang="es-CL" sz="2400" dirty="0" smtClean="0"/>
              <a:t>Resolución de Calificación Ambiental).</a:t>
            </a:r>
          </a:p>
          <a:p>
            <a:pPr algn="just"/>
            <a:endParaRPr lang="es-CL" sz="2400" dirty="0"/>
          </a:p>
          <a:p>
            <a:endParaRPr lang="es-CL" sz="1800" dirty="0"/>
          </a:p>
        </p:txBody>
      </p:sp>
    </p:spTree>
    <p:extLst>
      <p:ext uri="{BB962C8B-B14F-4D97-AF65-F5344CB8AC3E}">
        <p14:creationId xmlns:p14="http://schemas.microsoft.com/office/powerpoint/2010/main" val="26088173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L" sz="2800" dirty="0" smtClean="0"/>
              <a:t/>
            </a:r>
            <a:br>
              <a:rPr lang="es-CL" sz="2800" dirty="0" smtClean="0"/>
            </a:br>
            <a:r>
              <a:rPr lang="es-CL" sz="2800" dirty="0"/>
              <a:t/>
            </a:r>
            <a:br>
              <a:rPr lang="es-CL" sz="2800" dirty="0"/>
            </a:br>
            <a:r>
              <a:rPr lang="es-CL" sz="3100" dirty="0" smtClean="0">
                <a:solidFill>
                  <a:srgbClr val="0000CC"/>
                </a:solidFill>
              </a:rPr>
              <a:t>RESOLUCIÓN DE CALIFICACIÓN AMBIENTAL (RCA)</a:t>
            </a:r>
            <a:br>
              <a:rPr lang="es-CL" sz="3100" dirty="0" smtClean="0">
                <a:solidFill>
                  <a:srgbClr val="0000CC"/>
                </a:solidFill>
              </a:rPr>
            </a:br>
            <a:endParaRPr lang="es-CL" sz="3100" dirty="0">
              <a:solidFill>
                <a:srgbClr val="0000CC"/>
              </a:solidFill>
            </a:endParaRPr>
          </a:p>
        </p:txBody>
      </p:sp>
      <p:sp>
        <p:nvSpPr>
          <p:cNvPr id="3" name="2 Marcador de contenido"/>
          <p:cNvSpPr>
            <a:spLocks noGrp="1"/>
          </p:cNvSpPr>
          <p:nvPr>
            <p:ph idx="1"/>
          </p:nvPr>
        </p:nvSpPr>
        <p:spPr>
          <a:xfrm>
            <a:off x="457200" y="1556792"/>
            <a:ext cx="8229600" cy="4968552"/>
          </a:xfrm>
        </p:spPr>
        <p:txBody>
          <a:bodyPr>
            <a:normAutofit lnSpcReduction="10000"/>
          </a:bodyPr>
          <a:lstStyle/>
          <a:p>
            <a:pPr algn="just"/>
            <a:r>
              <a:rPr lang="es-CL" sz="2400" dirty="0" smtClean="0"/>
              <a:t>La </a:t>
            </a:r>
            <a:r>
              <a:rPr lang="es-CL" sz="2400" dirty="0"/>
              <a:t>Resolución de Calificación </a:t>
            </a:r>
            <a:r>
              <a:rPr lang="es-CL" sz="2400" dirty="0" smtClean="0"/>
              <a:t>Ambiental </a:t>
            </a:r>
            <a:r>
              <a:rPr lang="es-CL" sz="2400" dirty="0"/>
              <a:t>es un documento administrativo que se obtiene una vez culminado el proceso de evaluación ambiental, que coordina el SEA. Este documento establece las condiciones, exigencias o medidas que el titular asociado a un proyecto o actividad deberá cumplir durante su ejecución</a:t>
            </a:r>
            <a:r>
              <a:rPr lang="es-CL" sz="2400" dirty="0" smtClean="0"/>
              <a:t>.</a:t>
            </a:r>
          </a:p>
          <a:p>
            <a:pPr algn="just"/>
            <a:endParaRPr lang="es-CL" sz="2400" dirty="0"/>
          </a:p>
          <a:p>
            <a:pPr algn="just"/>
            <a:r>
              <a:rPr lang="es-CL" sz="2400" dirty="0">
                <a:solidFill>
                  <a:srgbClr val="222222"/>
                </a:solidFill>
              </a:rPr>
              <a:t>La Resolución de Calificación Ambiental </a:t>
            </a:r>
            <a:r>
              <a:rPr lang="es-CL" sz="2400" dirty="0" smtClean="0">
                <a:solidFill>
                  <a:srgbClr val="222222"/>
                </a:solidFill>
              </a:rPr>
              <a:t>es </a:t>
            </a:r>
            <a:r>
              <a:rPr lang="es-CL" sz="2400" dirty="0">
                <a:solidFill>
                  <a:srgbClr val="222222"/>
                </a:solidFill>
              </a:rPr>
              <a:t>la autorización que entrega el SEA, es un documento administrativo que se obtiene una vez culminado el proceso de evaluación, del Estudio de Impacto Ambiental (EIA) o de la Declaración de Impacto Ambiental (DIA).</a:t>
            </a:r>
            <a:r>
              <a:rPr lang="es-CL" sz="2400" dirty="0">
                <a:solidFill>
                  <a:srgbClr val="404040"/>
                </a:solidFill>
              </a:rPr>
              <a:t> En la RCA se establece si el proyecto presentado  ha sido aprobado o rechazado.</a:t>
            </a:r>
            <a:r>
              <a:rPr lang="es-CL" sz="2400" dirty="0">
                <a:solidFill>
                  <a:srgbClr val="222222"/>
                </a:solidFill>
              </a:rPr>
              <a:t> </a:t>
            </a:r>
            <a:endParaRPr lang="es-CL" sz="2400" dirty="0"/>
          </a:p>
          <a:p>
            <a:pPr algn="just"/>
            <a:endParaRPr lang="es-CL" sz="1800" dirty="0"/>
          </a:p>
          <a:p>
            <a:pPr algn="just"/>
            <a:endParaRPr lang="es-CL" sz="1800" dirty="0"/>
          </a:p>
          <a:p>
            <a:pPr algn="just"/>
            <a:endParaRPr lang="es-CL" sz="1800" dirty="0"/>
          </a:p>
          <a:p>
            <a:pPr algn="just"/>
            <a:endParaRPr lang="es-CL" sz="1800" dirty="0"/>
          </a:p>
        </p:txBody>
      </p:sp>
    </p:spTree>
    <p:extLst>
      <p:ext uri="{BB962C8B-B14F-4D97-AF65-F5344CB8AC3E}">
        <p14:creationId xmlns:p14="http://schemas.microsoft.com/office/powerpoint/2010/main" val="28902297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CL" sz="2400" dirty="0" smtClean="0">
                <a:solidFill>
                  <a:srgbClr val="0000CC"/>
                </a:solidFill>
              </a:rPr>
              <a:t>PROYECTOS O ACTIVIDADES QUE DEBEN SOMETERSE OBLIGATORIAMENTE AL SEIA</a:t>
            </a:r>
            <a:endParaRPr lang="es-CL" sz="2400" dirty="0">
              <a:solidFill>
                <a:srgbClr val="0000CC"/>
              </a:solidFill>
            </a:endParaRPr>
          </a:p>
        </p:txBody>
      </p:sp>
      <p:sp>
        <p:nvSpPr>
          <p:cNvPr id="3" name="2 Marcador de contenido"/>
          <p:cNvSpPr>
            <a:spLocks noGrp="1"/>
          </p:cNvSpPr>
          <p:nvPr>
            <p:ph idx="1"/>
          </p:nvPr>
        </p:nvSpPr>
        <p:spPr>
          <a:xfrm>
            <a:off x="457200" y="1600200"/>
            <a:ext cx="8229600" cy="4997152"/>
          </a:xfrm>
        </p:spPr>
        <p:txBody>
          <a:bodyPr>
            <a:normAutofit lnSpcReduction="10000"/>
          </a:bodyPr>
          <a:lstStyle/>
          <a:p>
            <a:pPr algn="just"/>
            <a:r>
              <a:rPr lang="es-CL" sz="2000" dirty="0"/>
              <a:t>La Ley N 19.300 de Bases Generales del Medio </a:t>
            </a:r>
            <a:r>
              <a:rPr lang="es-CL" sz="2000" dirty="0" smtClean="0"/>
              <a:t>Ambiente </a:t>
            </a:r>
            <a:r>
              <a:rPr lang="es-CL" sz="2000" dirty="0"/>
              <a:t>dispone que los proyectos o actividades en ella señalados, y especificados en el Reglamento, sólo podrán ejecutarse o modificarse previa evaluación de su impacto ambiental, y que los contenidos de carácter ambiental de todos los permisos o pronunciamientos que, de acuerdo a la legislación vigente, deban o puedan emitir los organismos del Estado, serán analizados y resueltos a través del SEIA.</a:t>
            </a:r>
          </a:p>
          <a:p>
            <a:pPr algn="just"/>
            <a:endParaRPr lang="es-CL" sz="2000" dirty="0"/>
          </a:p>
          <a:p>
            <a:pPr algn="just"/>
            <a:r>
              <a:rPr lang="es-CL" sz="2000" dirty="0"/>
              <a:t>El artículo 3 del </a:t>
            </a:r>
            <a:r>
              <a:rPr lang="es-CL" sz="2000" dirty="0" smtClean="0"/>
              <a:t>Reglamento del SEIA  establece los </a:t>
            </a:r>
            <a:r>
              <a:rPr lang="es-CL" sz="2000" dirty="0"/>
              <a:t>proyectos </a:t>
            </a:r>
            <a:r>
              <a:rPr lang="es-CL" sz="2000" dirty="0" smtClean="0"/>
              <a:t>que deben </a:t>
            </a:r>
            <a:r>
              <a:rPr lang="es-CL" sz="2000" dirty="0"/>
              <a:t>someterse obligatoriamente </a:t>
            </a:r>
            <a:r>
              <a:rPr lang="es-CL" sz="2000" dirty="0" smtClean="0"/>
              <a:t>al Sistema.</a:t>
            </a:r>
          </a:p>
          <a:p>
            <a:pPr algn="just"/>
            <a:endParaRPr lang="es-CL" sz="2000" dirty="0"/>
          </a:p>
          <a:p>
            <a:pPr algn="just"/>
            <a:r>
              <a:rPr lang="es-CL" sz="2000" dirty="0"/>
              <a:t>Si el proyecto o actividad debe someterse obligatoriamente al Sistema (es decir, se encuentra en la lista establecida en el Artículo 3 del Reglamento), o desea hacerlo voluntariamente, el titular de dicho proyecto o actividad debe presentar ante la autoridad una Declaración de Impacto Ambiental (DIA) o un Estudio de Impacto Ambiental (EIA).</a:t>
            </a:r>
          </a:p>
          <a:p>
            <a:pPr algn="just"/>
            <a:endParaRPr lang="es-CL" sz="2000" dirty="0"/>
          </a:p>
        </p:txBody>
      </p:sp>
    </p:spTree>
    <p:extLst>
      <p:ext uri="{BB962C8B-B14F-4D97-AF65-F5344CB8AC3E}">
        <p14:creationId xmlns:p14="http://schemas.microsoft.com/office/powerpoint/2010/main" val="32836728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CL" sz="2400" dirty="0" smtClean="0">
                <a:solidFill>
                  <a:srgbClr val="0000CC"/>
                </a:solidFill>
              </a:rPr>
              <a:t>PROYECTOS O ACTIVIDADES QUE DEBEN SOMETERSE OBLIGATORIAMENTE AL SEIA</a:t>
            </a:r>
            <a:endParaRPr lang="es-CL" sz="2400" dirty="0">
              <a:solidFill>
                <a:srgbClr val="0000CC"/>
              </a:solidFill>
            </a:endParaRPr>
          </a:p>
        </p:txBody>
      </p:sp>
      <p:sp>
        <p:nvSpPr>
          <p:cNvPr id="3" name="2 Marcador de contenido"/>
          <p:cNvSpPr>
            <a:spLocks noGrp="1"/>
          </p:cNvSpPr>
          <p:nvPr>
            <p:ph idx="1"/>
          </p:nvPr>
        </p:nvSpPr>
        <p:spPr>
          <a:xfrm>
            <a:off x="457200" y="1268760"/>
            <a:ext cx="8229600" cy="5400600"/>
          </a:xfrm>
        </p:spPr>
        <p:txBody>
          <a:bodyPr>
            <a:normAutofit fontScale="92500" lnSpcReduction="10000"/>
          </a:bodyPr>
          <a:lstStyle/>
          <a:p>
            <a:pPr algn="just"/>
            <a:r>
              <a:rPr lang="es-CL" sz="2200" dirty="0" smtClean="0"/>
              <a:t>a</a:t>
            </a:r>
            <a:r>
              <a:rPr lang="es-CL" sz="2200" dirty="0"/>
              <a:t>) Acueductos, embalses o tranques y sifones que deban someterse a la autorización establecida en el artículo 294 del Código de Aguas. Presas, drenajes, desecación, dragado, defensa o alteración, significativos, de cuerpos o cursos naturales de aguas, incluyendo a los glaciares que se encuentren incorporados como tales en un Inventario Público a cargo de la Dirección General de Aguas. </a:t>
            </a:r>
          </a:p>
          <a:p>
            <a:pPr algn="just"/>
            <a:r>
              <a:rPr lang="es-CL" sz="2200" dirty="0"/>
              <a:t>b) Líneas de transmisión eléctrica de alto voltaje y sus subestaciones.</a:t>
            </a:r>
          </a:p>
          <a:p>
            <a:pPr algn="just"/>
            <a:r>
              <a:rPr lang="es-CL" sz="2200" dirty="0"/>
              <a:t>c) Centrales generadoras de energía mayores a 3 MW. d) Reactores y establecimientos nucleares e instalaciones relacionadas. </a:t>
            </a:r>
          </a:p>
          <a:p>
            <a:pPr algn="just"/>
            <a:r>
              <a:rPr lang="es-CL" sz="2200" dirty="0"/>
              <a:t>e) Aeropuertos, terminales de buses, camiones y ferrocarriles, vías férreas, estaciones de servicio, autopistas y los caminos públicos que puedan afectar áreas protegidas.</a:t>
            </a:r>
          </a:p>
          <a:p>
            <a:pPr algn="just"/>
            <a:r>
              <a:rPr lang="es-CL" sz="2200" dirty="0"/>
              <a:t>f) Puertos, vías de navegación, astilleros y terminales marítimos. </a:t>
            </a:r>
          </a:p>
          <a:p>
            <a:pPr algn="just"/>
            <a:r>
              <a:rPr lang="es-CL" sz="2200" dirty="0"/>
              <a:t>g) Proyectos de desarrollo urbano o turístico, en zonas no comprendidas en alguno de los planes evaluados estratégicamente de conformidad a lo establecido en el párrafo 1º bis del Título II de la Ley. </a:t>
            </a:r>
          </a:p>
          <a:p>
            <a:pPr algn="just"/>
            <a:r>
              <a:rPr lang="es-CL" sz="2200" dirty="0"/>
              <a:t>h) Proyectos industriales o inmobiliarios que se ejecuten en zonas declaradas latentes o saturadas. </a:t>
            </a:r>
          </a:p>
          <a:p>
            <a:pPr algn="just"/>
            <a:endParaRPr lang="es-CL" sz="2000" dirty="0"/>
          </a:p>
        </p:txBody>
      </p:sp>
    </p:spTree>
    <p:extLst>
      <p:ext uri="{BB962C8B-B14F-4D97-AF65-F5344CB8AC3E}">
        <p14:creationId xmlns:p14="http://schemas.microsoft.com/office/powerpoint/2010/main" val="36133473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CL" sz="2400" dirty="0" smtClean="0">
                <a:solidFill>
                  <a:srgbClr val="0000CC"/>
                </a:solidFill>
              </a:rPr>
              <a:t>PROYECTOS O ACTIVIDADES QUE DEBEN SOMETERSE OBLIGATORIAMENTE AL SEIA</a:t>
            </a:r>
            <a:endParaRPr lang="es-CL" sz="2400" dirty="0">
              <a:solidFill>
                <a:srgbClr val="0000CC"/>
              </a:solidFill>
            </a:endParaRPr>
          </a:p>
        </p:txBody>
      </p:sp>
      <p:sp>
        <p:nvSpPr>
          <p:cNvPr id="3" name="2 Marcador de contenido"/>
          <p:cNvSpPr>
            <a:spLocks noGrp="1"/>
          </p:cNvSpPr>
          <p:nvPr>
            <p:ph idx="1"/>
          </p:nvPr>
        </p:nvSpPr>
        <p:spPr>
          <a:xfrm>
            <a:off x="451215" y="1417638"/>
            <a:ext cx="8229600" cy="5107706"/>
          </a:xfrm>
        </p:spPr>
        <p:txBody>
          <a:bodyPr>
            <a:normAutofit lnSpcReduction="10000"/>
          </a:bodyPr>
          <a:lstStyle/>
          <a:p>
            <a:pPr algn="just"/>
            <a:r>
              <a:rPr lang="es-CL" sz="2000" dirty="0"/>
              <a:t>i) Proyectos de desarrollo minero, incluidos los de carbón, petróleo y gas, comprendiendo las prospecciones, explotaciones, plantas procesadoras y disposición de residuos y estériles, así como la extracción industrial de áridos, turba o greda.       i.1. Se entenderá por proyectos de desarrollo minero aquellas acciones u obras cuyo fin es la extracción o beneficio de uno o más yacimientos mineros y cuya capacidad de extracción de mineral es superior a cinco mil toneladas mensuales (5.000 t/mes). </a:t>
            </a:r>
          </a:p>
          <a:p>
            <a:pPr algn="just"/>
            <a:r>
              <a:rPr lang="es-CL" sz="2000" dirty="0"/>
              <a:t> j) Oleoductos, gasoductos, ductos mineros u otros análogos. </a:t>
            </a:r>
          </a:p>
          <a:p>
            <a:pPr algn="just"/>
            <a:r>
              <a:rPr lang="es-CL" sz="2000" dirty="0"/>
              <a:t>k) Instalaciones fabriles, tales como metalúrgicas, químicas, textiles, productoras de materiales para la construcción, de equipos y productos metálicos y curtiembres, de dimensiones industriales.</a:t>
            </a:r>
          </a:p>
          <a:p>
            <a:pPr algn="just"/>
            <a:r>
              <a:rPr lang="es-CL" sz="2000" dirty="0"/>
              <a:t> l) Agroindustrias, mataderos, planteles y establos de crianza, lechería y engorda de animales, de dimensiones industriales. </a:t>
            </a:r>
          </a:p>
          <a:p>
            <a:pPr algn="just"/>
            <a:r>
              <a:rPr lang="es-CL" sz="2000" dirty="0"/>
              <a:t>m) Proyectos de desarrollo o explotación forestales en suelos frágiles, en terrenos cubiertos de bosque nativo, industrias de celulosa, pasta de papel y papel, plantas </a:t>
            </a:r>
            <a:r>
              <a:rPr lang="es-CL" sz="2000" dirty="0" err="1"/>
              <a:t>astilladoras</a:t>
            </a:r>
            <a:r>
              <a:rPr lang="es-CL" sz="2000" dirty="0"/>
              <a:t>, elaboradoras de madera y aserraderos, todos de dimensiones industriales. </a:t>
            </a:r>
          </a:p>
          <a:p>
            <a:pPr algn="just"/>
            <a:endParaRPr lang="es-CL" sz="2000" dirty="0"/>
          </a:p>
        </p:txBody>
      </p:sp>
    </p:spTree>
    <p:extLst>
      <p:ext uri="{BB962C8B-B14F-4D97-AF65-F5344CB8AC3E}">
        <p14:creationId xmlns:p14="http://schemas.microsoft.com/office/powerpoint/2010/main" val="41748743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2916" y="188640"/>
            <a:ext cx="8229600" cy="792088"/>
          </a:xfrm>
        </p:spPr>
        <p:txBody>
          <a:bodyPr>
            <a:noAutofit/>
          </a:bodyPr>
          <a:lstStyle/>
          <a:p>
            <a:r>
              <a:rPr lang="es-CL" sz="2400" dirty="0" smtClean="0">
                <a:solidFill>
                  <a:srgbClr val="0000CC"/>
                </a:solidFill>
              </a:rPr>
              <a:t>PROYECTOS O ACTIVIDADES QUE DEBEN SOMETERSE OBLIGATORIAMENTE AL SEIA</a:t>
            </a:r>
            <a:endParaRPr lang="es-CL" sz="2400" dirty="0">
              <a:solidFill>
                <a:srgbClr val="0000CC"/>
              </a:solidFill>
            </a:endParaRPr>
          </a:p>
        </p:txBody>
      </p:sp>
      <p:sp>
        <p:nvSpPr>
          <p:cNvPr id="3" name="2 Marcador de contenido"/>
          <p:cNvSpPr>
            <a:spLocks noGrp="1"/>
          </p:cNvSpPr>
          <p:nvPr>
            <p:ph idx="1"/>
          </p:nvPr>
        </p:nvSpPr>
        <p:spPr>
          <a:xfrm>
            <a:off x="457200" y="1196752"/>
            <a:ext cx="8229600" cy="5400600"/>
          </a:xfrm>
        </p:spPr>
        <p:txBody>
          <a:bodyPr>
            <a:normAutofit/>
          </a:bodyPr>
          <a:lstStyle/>
          <a:p>
            <a:pPr algn="just"/>
            <a:r>
              <a:rPr lang="es-CL" sz="2000" dirty="0"/>
              <a:t>n) Proyectos de explotación intensiva, cultivo y plantas procesadoras de recursos hidrobiológicos. </a:t>
            </a:r>
            <a:endParaRPr lang="es-CL" sz="2000" dirty="0" smtClean="0"/>
          </a:p>
          <a:p>
            <a:pPr algn="just"/>
            <a:r>
              <a:rPr lang="es-CL" sz="2000" dirty="0" smtClean="0"/>
              <a:t>ñ</a:t>
            </a:r>
            <a:r>
              <a:rPr lang="es-CL" sz="2000" dirty="0"/>
              <a:t>) Producción, almacenamiento, transporte, disposición o reutilización habituales de sustancias tóxicas, explosivas, radioactivas, inflamables, corrosivas o reactivas </a:t>
            </a:r>
          </a:p>
          <a:p>
            <a:pPr algn="just"/>
            <a:r>
              <a:rPr lang="es-CL" sz="2000" dirty="0"/>
              <a:t>o) Proyectos de saneamiento ambiental, tales como sistemas de alcantarillado y agua potable, plantas de tratamiento de agua o de residuos sólidos de origen domiciliario, rellenos sanitarios, emisarios submarinos, sistemas de tratamiento y disposición de residuos industriales líquidos o sólidos.</a:t>
            </a:r>
          </a:p>
          <a:p>
            <a:pPr algn="just"/>
            <a:r>
              <a:rPr lang="es-CL" sz="2000" dirty="0"/>
              <a:t> p) Ejecución de obras, programas o actividades en parques nacionales, reservas nacionales, monumentos naturales, Biblioteca del Congreso Nacional de Chile - www.leychile.cl - documento generado el 11-Jun-2015 reservas de zonas vírgenes, santuarios de la naturaleza, parques marinos, reservas marinas o en cualesquiera otras áreas colocadas bajo protección oficial, en los casos en que la legislación respectiva lo permita. </a:t>
            </a:r>
          </a:p>
        </p:txBody>
      </p:sp>
    </p:spTree>
    <p:extLst>
      <p:ext uri="{BB962C8B-B14F-4D97-AF65-F5344CB8AC3E}">
        <p14:creationId xmlns:p14="http://schemas.microsoft.com/office/powerpoint/2010/main" val="3820017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2916" y="116632"/>
            <a:ext cx="8229600" cy="792088"/>
          </a:xfrm>
        </p:spPr>
        <p:txBody>
          <a:bodyPr>
            <a:noAutofit/>
          </a:bodyPr>
          <a:lstStyle/>
          <a:p>
            <a:r>
              <a:rPr lang="es-CL" sz="2400" dirty="0" smtClean="0">
                <a:solidFill>
                  <a:srgbClr val="0000CC"/>
                </a:solidFill>
              </a:rPr>
              <a:t>PROYECTOS O ACTIVIDADES QUE DEBEN SOMETERSE OBLIGATORIAMENTE AL SEIA</a:t>
            </a:r>
            <a:endParaRPr lang="es-CL" sz="2400" dirty="0">
              <a:solidFill>
                <a:srgbClr val="0000CC"/>
              </a:solidFill>
            </a:endParaRPr>
          </a:p>
        </p:txBody>
      </p:sp>
      <p:sp>
        <p:nvSpPr>
          <p:cNvPr id="3" name="2 Marcador de contenido"/>
          <p:cNvSpPr>
            <a:spLocks noGrp="1"/>
          </p:cNvSpPr>
          <p:nvPr>
            <p:ph idx="1"/>
          </p:nvPr>
        </p:nvSpPr>
        <p:spPr>
          <a:xfrm>
            <a:off x="474224" y="914348"/>
            <a:ext cx="8229600" cy="5827020"/>
          </a:xfrm>
        </p:spPr>
        <p:txBody>
          <a:bodyPr>
            <a:normAutofit fontScale="85000" lnSpcReduction="10000"/>
          </a:bodyPr>
          <a:lstStyle/>
          <a:p>
            <a:pPr algn="just"/>
            <a:r>
              <a:rPr lang="es-CL" sz="2200" dirty="0"/>
              <a:t>q) Aplicación masiva de productos químicos en áreas urbanas o zonas rurales próximas a centros poblados o a cursos o masas de aguas que puedan ser afectadas. Se entenderá por aplicación masiva los planes y programas destinados a prevenir la aparición o brote de plagas o pestes, así como también aquellos planes y programas operacionales destinados a erradicar la presencia de plagas cuarentenarias ante emergencias fitosanitarias o zoosanitarias, que se efectúen por vía aérea sobre una superficie igual o superior a mil hectáreas (1.000 ha). Asimismo, se entenderá que las aplicaciones en zonas rurales son próximas cuando se realicen a una distancia inferior a cinco kilómetros (5 Km) de centros poblados o a cursos o masas de aguas. </a:t>
            </a:r>
          </a:p>
          <a:p>
            <a:pPr algn="just"/>
            <a:r>
              <a:rPr lang="es-CL" sz="2200" dirty="0"/>
              <a:t>r) Proyectos de desarrollo, cultivo o explotación, en las áreas mineras, agrícolas, forestales e hidrobiológicas que utilicen organismos genéticamente modificados con fines de producción y en áreas no confinadas.</a:t>
            </a:r>
          </a:p>
          <a:p>
            <a:pPr algn="just"/>
            <a:r>
              <a:rPr lang="es-CL" sz="2200" dirty="0"/>
              <a:t>s) Cotos de caza, en virtud del artículo 10 de la Ley Nº 19.473, que sustituye texto de la Ley N° 4.061, sobre Caza, y artículo 609 del Código Civil. </a:t>
            </a:r>
          </a:p>
          <a:p>
            <a:pPr algn="just"/>
            <a:r>
              <a:rPr lang="es-CL" sz="2200" dirty="0"/>
              <a:t>t) Obras que se concesionen para construir y explotar el subsuelo de los bienes nacionales de uso público, en virtud del artículo 37 del Decreto con Fuerza de Ley Nº 1, de 2006, del Ministerio del Interior, que fija el texto refundido de la Ley Nº 18.695, Orgánica Constitucional de Municipalidades</a:t>
            </a:r>
            <a:r>
              <a:rPr lang="es-CL" sz="2000" dirty="0"/>
              <a:t>.</a:t>
            </a:r>
          </a:p>
        </p:txBody>
      </p:sp>
    </p:spTree>
    <p:extLst>
      <p:ext uri="{BB962C8B-B14F-4D97-AF65-F5344CB8AC3E}">
        <p14:creationId xmlns:p14="http://schemas.microsoft.com/office/powerpoint/2010/main" val="22247419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CL" sz="2800" dirty="0" smtClean="0">
                <a:solidFill>
                  <a:srgbClr val="0000CC"/>
                </a:solidFill>
              </a:rPr>
              <a:t>CÓMO SABER SI SE PRESENTA UNA DIA O UN EIA</a:t>
            </a:r>
            <a:endParaRPr lang="es-CL" sz="2800" dirty="0">
              <a:solidFill>
                <a:srgbClr val="0000CC"/>
              </a:solidFill>
            </a:endParaRPr>
          </a:p>
        </p:txBody>
      </p:sp>
      <p:sp>
        <p:nvSpPr>
          <p:cNvPr id="3" name="2 Marcador de contenido"/>
          <p:cNvSpPr>
            <a:spLocks noGrp="1"/>
          </p:cNvSpPr>
          <p:nvPr>
            <p:ph idx="1"/>
          </p:nvPr>
        </p:nvSpPr>
        <p:spPr/>
        <p:txBody>
          <a:bodyPr>
            <a:normAutofit/>
          </a:bodyPr>
          <a:lstStyle/>
          <a:p>
            <a:pPr algn="just"/>
            <a:r>
              <a:rPr lang="es-CL" sz="2400" dirty="0" smtClean="0"/>
              <a:t>Para </a:t>
            </a:r>
            <a:r>
              <a:rPr lang="es-CL" sz="2400" dirty="0"/>
              <a:t>determinar la pertinencia de presentar una DIA o un EIA, la Ley y el Reglamento establecen una serie de criterios que pretenden estimar el grado de significancia de los impactos ambientales implícitos en ellos. </a:t>
            </a:r>
            <a:endParaRPr lang="es-CL" sz="2400" dirty="0" smtClean="0"/>
          </a:p>
          <a:p>
            <a:pPr algn="just"/>
            <a:endParaRPr lang="es-CL" sz="2400" dirty="0"/>
          </a:p>
          <a:p>
            <a:pPr algn="just"/>
            <a:r>
              <a:rPr lang="es-CL" sz="2400" dirty="0" smtClean="0"/>
              <a:t>Si </a:t>
            </a:r>
            <a:r>
              <a:rPr lang="es-CL" sz="2400" dirty="0"/>
              <a:t>el proyecto o actividad genera o presenta a lo menos uno de los efectos, características o circunstancias indicados, deberá presentarse al Sistema mediante un EIA; en caso contrario, deberá presentar una DIA. Estos criterios que definen la forma de presentación al Sistema </a:t>
            </a:r>
            <a:r>
              <a:rPr lang="es-CL" sz="2400" dirty="0" smtClean="0"/>
              <a:t>se definen a continuación.</a:t>
            </a:r>
            <a:endParaRPr lang="es-CL" sz="2400" dirty="0"/>
          </a:p>
        </p:txBody>
      </p:sp>
    </p:spTree>
    <p:extLst>
      <p:ext uri="{BB962C8B-B14F-4D97-AF65-F5344CB8AC3E}">
        <p14:creationId xmlns:p14="http://schemas.microsoft.com/office/powerpoint/2010/main" val="82756361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CL" sz="2400" dirty="0">
                <a:solidFill>
                  <a:srgbClr val="0000CC"/>
                </a:solidFill>
              </a:rPr>
              <a:t>CRITERIOS QUE DEFINEN LA PRESENTACIÓN DE UN EIA AL SEIA</a:t>
            </a:r>
          </a:p>
        </p:txBody>
      </p:sp>
      <p:sp>
        <p:nvSpPr>
          <p:cNvPr id="3" name="2 Marcador de contenido"/>
          <p:cNvSpPr>
            <a:spLocks noGrp="1"/>
          </p:cNvSpPr>
          <p:nvPr>
            <p:ph idx="1"/>
          </p:nvPr>
        </p:nvSpPr>
        <p:spPr>
          <a:xfrm>
            <a:off x="478904" y="1417638"/>
            <a:ext cx="8229600" cy="5035698"/>
          </a:xfrm>
        </p:spPr>
        <p:txBody>
          <a:bodyPr>
            <a:normAutofit lnSpcReduction="10000"/>
          </a:bodyPr>
          <a:lstStyle/>
          <a:p>
            <a:pPr algn="just"/>
            <a:r>
              <a:rPr lang="es-CL" sz="2000" dirty="0" smtClean="0">
                <a:solidFill>
                  <a:srgbClr val="006600"/>
                </a:solidFill>
              </a:rPr>
              <a:t>El titular de un proyecto o actividad que se someta al SEIA deberá presentar un Estudio de Impacto ambiental si el proyecto presenta:</a:t>
            </a:r>
          </a:p>
          <a:p>
            <a:pPr algn="just"/>
            <a:endParaRPr lang="es-CL" sz="2000" dirty="0">
              <a:solidFill>
                <a:srgbClr val="006600"/>
              </a:solidFill>
            </a:endParaRPr>
          </a:p>
          <a:p>
            <a:pPr algn="just"/>
            <a:r>
              <a:rPr lang="es-CL" sz="2000" dirty="0" smtClean="0"/>
              <a:t>a</a:t>
            </a:r>
            <a:r>
              <a:rPr lang="es-CL" sz="2000" dirty="0"/>
              <a:t>) Riesgo para la salud de la población, debido a la cantidad y calidad de efluentes, emisiones o </a:t>
            </a:r>
            <a:r>
              <a:rPr lang="es-CL" sz="2000" dirty="0" smtClean="0"/>
              <a:t>residuos</a:t>
            </a:r>
            <a:r>
              <a:rPr lang="es-CL" sz="2000" dirty="0"/>
              <a:t>.</a:t>
            </a:r>
            <a:endParaRPr lang="es-CL" sz="2000" dirty="0" smtClean="0"/>
          </a:p>
          <a:p>
            <a:pPr algn="just"/>
            <a:endParaRPr lang="es-CL" sz="2000" dirty="0"/>
          </a:p>
          <a:p>
            <a:pPr algn="just"/>
            <a:r>
              <a:rPr lang="es-CL" sz="2000" dirty="0"/>
              <a:t>b) Efectos adversos significativos sobre la cantidad y calidad de los recursos naturales renovables, incluidos el suelo, agua y </a:t>
            </a:r>
            <a:r>
              <a:rPr lang="es-CL" sz="2000" dirty="0" smtClean="0"/>
              <a:t>aire</a:t>
            </a:r>
            <a:r>
              <a:rPr lang="es-CL" sz="2000" dirty="0"/>
              <a:t>.</a:t>
            </a:r>
            <a:endParaRPr lang="es-CL" sz="2000" dirty="0" smtClean="0"/>
          </a:p>
          <a:p>
            <a:pPr algn="just"/>
            <a:endParaRPr lang="es-CL" sz="2000" dirty="0" smtClean="0"/>
          </a:p>
          <a:p>
            <a:pPr algn="just"/>
            <a:r>
              <a:rPr lang="es-CL" sz="2000" dirty="0" smtClean="0"/>
              <a:t>c</a:t>
            </a:r>
            <a:r>
              <a:rPr lang="es-CL" sz="2000" dirty="0"/>
              <a:t>) Reasentamiento de comunidades humanas, o alteración significativa de los sistemas de vida y costumbres de grupos </a:t>
            </a:r>
            <a:r>
              <a:rPr lang="es-CL" sz="2000" dirty="0" smtClean="0"/>
              <a:t>humanos.</a:t>
            </a:r>
          </a:p>
          <a:p>
            <a:pPr algn="just"/>
            <a:endParaRPr lang="es-CL" sz="2000" dirty="0" smtClean="0"/>
          </a:p>
          <a:p>
            <a:r>
              <a:rPr lang="es-CL" sz="2000" dirty="0" smtClean="0"/>
              <a:t>d</a:t>
            </a:r>
            <a:r>
              <a:rPr lang="es-CL" sz="2000" dirty="0"/>
              <a:t>) Localización </a:t>
            </a:r>
            <a:r>
              <a:rPr lang="es-CL" sz="2000" dirty="0" smtClean="0"/>
              <a:t>próxima </a:t>
            </a:r>
            <a:r>
              <a:rPr lang="es-CL" sz="2000" dirty="0"/>
              <a:t>a poblaciones, recursos y áreas protegidas, sitios prioritarios para la conservación, humedales protegidos y glaciares, susceptibles de ser afectados, así como el valor ambiental del territorio en que se pretende </a:t>
            </a:r>
            <a:r>
              <a:rPr lang="es-CL" sz="2000" dirty="0" smtClean="0"/>
              <a:t>emplazar.</a:t>
            </a:r>
            <a:endParaRPr lang="es-CL" sz="2000" dirty="0"/>
          </a:p>
          <a:p>
            <a:pPr algn="just"/>
            <a:endParaRPr lang="es-CL" sz="2000" dirty="0"/>
          </a:p>
        </p:txBody>
      </p:sp>
    </p:spTree>
    <p:extLst>
      <p:ext uri="{BB962C8B-B14F-4D97-AF65-F5344CB8AC3E}">
        <p14:creationId xmlns:p14="http://schemas.microsoft.com/office/powerpoint/2010/main" val="33650741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CL" sz="2400" dirty="0" smtClean="0">
                <a:solidFill>
                  <a:srgbClr val="0000CC"/>
                </a:solidFill>
              </a:rPr>
              <a:t>CRITERIOS QUE DEFINEN LA PRESENTACIÓN DE UN EIA AL SEIA</a:t>
            </a:r>
            <a:endParaRPr lang="es-CL" sz="2400" dirty="0">
              <a:solidFill>
                <a:srgbClr val="0000CC"/>
              </a:solidFill>
            </a:endParaRPr>
          </a:p>
        </p:txBody>
      </p:sp>
      <p:sp>
        <p:nvSpPr>
          <p:cNvPr id="3" name="2 Marcador de contenido"/>
          <p:cNvSpPr>
            <a:spLocks noGrp="1"/>
          </p:cNvSpPr>
          <p:nvPr>
            <p:ph idx="1"/>
          </p:nvPr>
        </p:nvSpPr>
        <p:spPr>
          <a:xfrm>
            <a:off x="457200" y="1600200"/>
            <a:ext cx="8229600" cy="4997152"/>
          </a:xfrm>
        </p:spPr>
        <p:txBody>
          <a:bodyPr>
            <a:normAutofit lnSpcReduction="10000"/>
          </a:bodyPr>
          <a:lstStyle/>
          <a:p>
            <a:r>
              <a:rPr lang="es-CL" sz="2000" dirty="0" smtClean="0"/>
              <a:t>e</a:t>
            </a:r>
            <a:r>
              <a:rPr lang="es-CL" sz="2000" dirty="0"/>
              <a:t>) Alteración significativa, en términos de magnitud o duración, del valor paisajístico o turístico de una </a:t>
            </a:r>
            <a:r>
              <a:rPr lang="es-CL" sz="2000" dirty="0" smtClean="0"/>
              <a:t>zona. </a:t>
            </a:r>
          </a:p>
          <a:p>
            <a:endParaRPr lang="es-CL" sz="2000" dirty="0"/>
          </a:p>
          <a:p>
            <a:r>
              <a:rPr lang="es-CL" sz="2000" dirty="0"/>
              <a:t>f) Alteración de monumentos, sitios con valor antropológico, arqueológico, histórico y, en general, los pertenecientes al patrimonio cultural</a:t>
            </a:r>
            <a:r>
              <a:rPr lang="es-CL" sz="2000" dirty="0" smtClean="0"/>
              <a:t>.</a:t>
            </a:r>
          </a:p>
          <a:p>
            <a:endParaRPr lang="es-CL" sz="2000" dirty="0"/>
          </a:p>
          <a:p>
            <a:r>
              <a:rPr lang="es-CL" sz="2000" dirty="0"/>
              <a:t>Para los efectos de evaluar el riesgo indicado en la letra a) y los efectos adversos señalados en la letra b), se considerará lo establecido en las normas de calidad ambiental y de emisión vigentes. A falta de tales normas, se utilizarán como referencia las vigentes en los Estados que señale el reglamento</a:t>
            </a:r>
            <a:r>
              <a:rPr lang="es-CL" sz="2000" dirty="0" smtClean="0"/>
              <a:t>.</a:t>
            </a:r>
          </a:p>
          <a:p>
            <a:endParaRPr lang="es-CL" sz="2000" dirty="0"/>
          </a:p>
          <a:p>
            <a:r>
              <a:rPr lang="es-CL" sz="2000" dirty="0"/>
              <a:t>El Reglamento, en su Título II, presenta una serie de indicadores y criterios que pretenden especificar el alcance de los efectos, características o circunstancias antes indicados</a:t>
            </a:r>
            <a:r>
              <a:rPr lang="es-CL" sz="2000" dirty="0" smtClean="0"/>
              <a:t>.</a:t>
            </a:r>
            <a:r>
              <a:rPr lang="es-CL" sz="2000" dirty="0"/>
              <a:t> </a:t>
            </a:r>
          </a:p>
          <a:p>
            <a:pPr algn="just"/>
            <a:endParaRPr lang="es-CL" sz="2000" dirty="0"/>
          </a:p>
        </p:txBody>
      </p:sp>
    </p:spTree>
    <p:extLst>
      <p:ext uri="{BB962C8B-B14F-4D97-AF65-F5344CB8AC3E}">
        <p14:creationId xmlns:p14="http://schemas.microsoft.com/office/powerpoint/2010/main" val="9355064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562074"/>
          </a:xfrm>
        </p:spPr>
        <p:txBody>
          <a:bodyPr>
            <a:normAutofit/>
          </a:bodyPr>
          <a:lstStyle/>
          <a:p>
            <a:r>
              <a:rPr lang="es-CL" sz="2800" dirty="0" smtClean="0">
                <a:solidFill>
                  <a:srgbClr val="0000CC"/>
                </a:solidFill>
              </a:rPr>
              <a:t>EIA: ¿QUÉ DEBE CONTENER?</a:t>
            </a:r>
            <a:endParaRPr lang="es-CL" sz="2800" dirty="0">
              <a:solidFill>
                <a:srgbClr val="0000CC"/>
              </a:solidFill>
            </a:endParaRPr>
          </a:p>
        </p:txBody>
      </p:sp>
      <p:sp>
        <p:nvSpPr>
          <p:cNvPr id="3" name="2 Marcador de contenido"/>
          <p:cNvSpPr>
            <a:spLocks noGrp="1"/>
          </p:cNvSpPr>
          <p:nvPr>
            <p:ph idx="1"/>
          </p:nvPr>
        </p:nvSpPr>
        <p:spPr>
          <a:xfrm>
            <a:off x="539552" y="836712"/>
            <a:ext cx="8229600" cy="5904656"/>
          </a:xfrm>
        </p:spPr>
        <p:txBody>
          <a:bodyPr>
            <a:noAutofit/>
          </a:bodyPr>
          <a:lstStyle/>
          <a:p>
            <a:pPr algn="just"/>
            <a:r>
              <a:rPr lang="es-CL" sz="1600" dirty="0" smtClean="0"/>
              <a:t>a</a:t>
            </a:r>
            <a:r>
              <a:rPr lang="es-CL" sz="1600" dirty="0"/>
              <a:t>) Una descripción del proyecto o </a:t>
            </a:r>
            <a:r>
              <a:rPr lang="es-CL" sz="1600" dirty="0" smtClean="0"/>
              <a:t>actividad</a:t>
            </a:r>
            <a:r>
              <a:rPr lang="es-CL" sz="1600" dirty="0"/>
              <a:t>.</a:t>
            </a:r>
            <a:endParaRPr lang="es-CL" sz="1600" dirty="0" smtClean="0"/>
          </a:p>
          <a:p>
            <a:pPr algn="just"/>
            <a:endParaRPr lang="es-CL" sz="1600" dirty="0"/>
          </a:p>
          <a:p>
            <a:pPr algn="just"/>
            <a:r>
              <a:rPr lang="es-CL" sz="1600" dirty="0"/>
              <a:t>b) La descripción de la línea de base, que deberá considerar todos los proyectos que cuenten con resolución de calificación ambiental, aún cuando no se encuentren operando</a:t>
            </a:r>
            <a:r>
              <a:rPr lang="es-CL" sz="1600" dirty="0" smtClean="0"/>
              <a:t>.</a:t>
            </a:r>
          </a:p>
          <a:p>
            <a:pPr algn="just"/>
            <a:endParaRPr lang="es-CL" sz="1600" dirty="0"/>
          </a:p>
          <a:p>
            <a:pPr algn="just"/>
            <a:r>
              <a:rPr lang="es-CL" sz="1600" dirty="0"/>
              <a:t>c) Una descripción pormenorizada de aquellos efectos, características o circunstancias del artículo 11 </a:t>
            </a:r>
            <a:r>
              <a:rPr lang="es-CL" sz="1600" dirty="0" smtClean="0"/>
              <a:t> de la Ley 19.300 que </a:t>
            </a:r>
            <a:r>
              <a:rPr lang="es-CL" sz="1600" dirty="0"/>
              <a:t>dan origen a la necesidad de efectuar un </a:t>
            </a:r>
            <a:r>
              <a:rPr lang="es-CL" sz="1600" dirty="0" smtClean="0"/>
              <a:t>EIA.</a:t>
            </a:r>
          </a:p>
          <a:p>
            <a:pPr algn="just"/>
            <a:endParaRPr lang="es-CL" sz="1600" dirty="0"/>
          </a:p>
          <a:p>
            <a:pPr algn="just"/>
            <a:r>
              <a:rPr lang="es-CL" sz="1600" dirty="0"/>
              <a:t>d) Una predicción y evaluación del impacto ambiental del proyecto o actividad, incluidas las eventuales situaciones de riesgo. Cuando el proyecto deba presentar un </a:t>
            </a:r>
            <a:r>
              <a:rPr lang="es-CL" sz="1600" dirty="0" smtClean="0"/>
              <a:t>EIA </a:t>
            </a:r>
            <a:r>
              <a:rPr lang="es-CL" sz="1600" dirty="0"/>
              <a:t>por generar alguno de los efectos, características o circunstancias señaladas en la letra a) del artículo 11, y no existiera Norma Primaria de Calidad o de Emisión en Chile o en los Estados de referencia que señale el Reglamento, el proponente deberá considerar un capítulo específico relativo a los potenciales riesgos que el proyecto podría generar en la salud de las personas</a:t>
            </a:r>
            <a:r>
              <a:rPr lang="es-CL" sz="1600" dirty="0" smtClean="0"/>
              <a:t>.</a:t>
            </a:r>
          </a:p>
          <a:p>
            <a:pPr algn="just"/>
            <a:endParaRPr lang="es-CL" sz="1600" dirty="0"/>
          </a:p>
          <a:p>
            <a:pPr algn="just"/>
            <a:r>
              <a:rPr lang="es-CL" sz="1600" dirty="0"/>
              <a:t>e) Las medidas que se adoptarán para eliminar o minimizar los efectos adversos del proyecto o actividad y las acciones de reparación que se realizarán, cuando ello sea </a:t>
            </a:r>
            <a:r>
              <a:rPr lang="es-CL" sz="1600" dirty="0" smtClean="0"/>
              <a:t>procedente.</a:t>
            </a:r>
          </a:p>
          <a:p>
            <a:pPr algn="just"/>
            <a:endParaRPr lang="es-CL" sz="1600" dirty="0"/>
          </a:p>
          <a:p>
            <a:pPr algn="just"/>
            <a:r>
              <a:rPr lang="es-CL" sz="1600" dirty="0"/>
              <a:t>f) Un plan de seguimiento de las variables ambientales relevantes que dan origen al </a:t>
            </a:r>
            <a:r>
              <a:rPr lang="es-CL" sz="1600" dirty="0" smtClean="0"/>
              <a:t>EIA.</a:t>
            </a:r>
          </a:p>
          <a:p>
            <a:pPr algn="just"/>
            <a:endParaRPr lang="es-CL" sz="1600" dirty="0"/>
          </a:p>
          <a:p>
            <a:pPr algn="just"/>
            <a:r>
              <a:rPr lang="es-CL" sz="1600" dirty="0"/>
              <a:t>g) Un plan de cumplimiento de la legislación ambiental aplicable.</a:t>
            </a:r>
          </a:p>
          <a:p>
            <a:pPr algn="just"/>
            <a:endParaRPr lang="es-CL" sz="1600" dirty="0"/>
          </a:p>
        </p:txBody>
      </p:sp>
    </p:spTree>
    <p:extLst>
      <p:ext uri="{BB962C8B-B14F-4D97-AF65-F5344CB8AC3E}">
        <p14:creationId xmlns:p14="http://schemas.microsoft.com/office/powerpoint/2010/main" val="32780021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562074"/>
          </a:xfrm>
        </p:spPr>
        <p:txBody>
          <a:bodyPr>
            <a:normAutofit/>
          </a:bodyPr>
          <a:lstStyle/>
          <a:p>
            <a:r>
              <a:rPr lang="es-CL" sz="2800" dirty="0" smtClean="0">
                <a:solidFill>
                  <a:srgbClr val="0000CC"/>
                </a:solidFill>
              </a:rPr>
              <a:t>DIA: ¿QUÉ DEBE CONTENER?</a:t>
            </a:r>
            <a:endParaRPr lang="es-CL" sz="2800" dirty="0">
              <a:solidFill>
                <a:srgbClr val="0000CC"/>
              </a:solidFill>
            </a:endParaRPr>
          </a:p>
        </p:txBody>
      </p:sp>
      <p:sp>
        <p:nvSpPr>
          <p:cNvPr id="3" name="2 Marcador de contenido"/>
          <p:cNvSpPr>
            <a:spLocks noGrp="1"/>
          </p:cNvSpPr>
          <p:nvPr>
            <p:ph idx="1"/>
          </p:nvPr>
        </p:nvSpPr>
        <p:spPr>
          <a:xfrm>
            <a:off x="467544" y="836712"/>
            <a:ext cx="8229600" cy="5688632"/>
          </a:xfrm>
        </p:spPr>
        <p:txBody>
          <a:bodyPr>
            <a:noAutofit/>
          </a:bodyPr>
          <a:lstStyle/>
          <a:p>
            <a:pPr algn="just"/>
            <a:r>
              <a:rPr lang="es-CL" sz="1600" dirty="0" smtClean="0"/>
              <a:t>Una DIA debe </a:t>
            </a:r>
            <a:r>
              <a:rPr lang="es-CL" sz="1600" dirty="0"/>
              <a:t>presentarse bajo la forma de una declaración jurada, en la cual se expresa que cumple con la legislación ambiental vigente, acompañando todos los antecedentes que permitan a la autoridad evaluar si su impacto ambiental se ajusta a las normas ambientales vigentes. </a:t>
            </a:r>
            <a:r>
              <a:rPr lang="es-CL" sz="1600" dirty="0" smtClean="0"/>
              <a:t>La DIA deberá contener lo siguiente:</a:t>
            </a:r>
          </a:p>
          <a:p>
            <a:pPr algn="just"/>
            <a:endParaRPr lang="es-CL" sz="1600" dirty="0"/>
          </a:p>
          <a:p>
            <a:pPr algn="just"/>
            <a:r>
              <a:rPr lang="es-CL" sz="1600" dirty="0"/>
              <a:t>a) Una descripción del proyecto o </a:t>
            </a:r>
            <a:r>
              <a:rPr lang="es-CL" sz="1600" dirty="0" smtClean="0"/>
              <a:t>actividad.</a:t>
            </a:r>
          </a:p>
          <a:p>
            <a:pPr algn="just"/>
            <a:endParaRPr lang="es-CL" sz="1600" dirty="0"/>
          </a:p>
          <a:p>
            <a:pPr algn="just"/>
            <a:r>
              <a:rPr lang="es-CL" sz="1600" dirty="0"/>
              <a:t>b) Los antecedentes necesarios que justifiquen la inexistencia de aquellos efectos, características o circunstancias del artículo 11 que pueden dar origen a la necesidad de efectuar un Estudio de Impacto </a:t>
            </a:r>
            <a:r>
              <a:rPr lang="es-CL" sz="1600" dirty="0" smtClean="0"/>
              <a:t>Ambiental.</a:t>
            </a:r>
          </a:p>
          <a:p>
            <a:pPr algn="just"/>
            <a:endParaRPr lang="es-CL" sz="1600" dirty="0"/>
          </a:p>
          <a:p>
            <a:pPr algn="just"/>
            <a:r>
              <a:rPr lang="es-CL" sz="1600" dirty="0"/>
              <a:t>c) La indicación normativa ambiental aplicable, y la forma en la que se </a:t>
            </a:r>
            <a:r>
              <a:rPr lang="es-CL" sz="1600" dirty="0" smtClean="0"/>
              <a:t>cumplirá.</a:t>
            </a:r>
          </a:p>
          <a:p>
            <a:pPr algn="just"/>
            <a:endParaRPr lang="es-CL" sz="1600" dirty="0"/>
          </a:p>
          <a:p>
            <a:pPr algn="just"/>
            <a:r>
              <a:rPr lang="es-CL" sz="1600" dirty="0"/>
              <a:t>d) La indicación de los permisos ambientales sectoriales aplicables, y los antecedentes asociados a los requisitos y exigencias para el respectivo pronunciamiento</a:t>
            </a:r>
            <a:r>
              <a:rPr lang="es-CL" sz="1600" dirty="0" smtClean="0"/>
              <a:t>.</a:t>
            </a:r>
          </a:p>
          <a:p>
            <a:pPr algn="just"/>
            <a:endParaRPr lang="es-CL" sz="1600" dirty="0"/>
          </a:p>
          <a:p>
            <a:pPr algn="just"/>
            <a:r>
              <a:rPr lang="es-CL" sz="1600" dirty="0"/>
              <a:t>Tanto el </a:t>
            </a:r>
            <a:r>
              <a:rPr lang="es-CL" sz="1600" dirty="0" smtClean="0"/>
              <a:t>EIA como </a:t>
            </a:r>
            <a:r>
              <a:rPr lang="es-CL" sz="1600" dirty="0"/>
              <a:t>la </a:t>
            </a:r>
            <a:r>
              <a:rPr lang="es-CL" sz="1600" dirty="0" smtClean="0"/>
              <a:t>DIA deberán </a:t>
            </a:r>
            <a:r>
              <a:rPr lang="es-CL" sz="1600" dirty="0"/>
              <a:t>acompañarse de la documentación y los antecedentes necesarios para acreditar el cumplimiento de la normativa de carácter ambiental y de los requisitos y contenidos de los permisos ambientales sectoriales contemplados en los artículos del Título VII del Reglamento.</a:t>
            </a:r>
          </a:p>
          <a:p>
            <a:pPr algn="just"/>
            <a:endParaRPr lang="es-CL" sz="1600" dirty="0"/>
          </a:p>
        </p:txBody>
      </p:sp>
    </p:spTree>
    <p:extLst>
      <p:ext uri="{BB962C8B-B14F-4D97-AF65-F5344CB8AC3E}">
        <p14:creationId xmlns:p14="http://schemas.microsoft.com/office/powerpoint/2010/main" val="370810451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33960" y="343787"/>
            <a:ext cx="8229600" cy="636941"/>
          </a:xfrm>
        </p:spPr>
        <p:txBody>
          <a:bodyPr>
            <a:normAutofit fontScale="90000"/>
          </a:bodyPr>
          <a:lstStyle/>
          <a:p>
            <a:r>
              <a:rPr lang="es-CL" sz="2800" dirty="0" smtClean="0">
                <a:solidFill>
                  <a:srgbClr val="0000CC"/>
                </a:solidFill>
              </a:rPr>
              <a:t/>
            </a:r>
            <a:br>
              <a:rPr lang="es-CL" sz="2800" dirty="0" smtClean="0">
                <a:solidFill>
                  <a:srgbClr val="0000CC"/>
                </a:solidFill>
              </a:rPr>
            </a:br>
            <a:r>
              <a:rPr lang="es-CL" sz="2800" dirty="0" smtClean="0">
                <a:solidFill>
                  <a:srgbClr val="0000CC"/>
                </a:solidFill>
              </a:rPr>
              <a:t>¿ANTE QUÉ AUTORIDAD SE DEBE PRESENTAR EL EIA O LA DIA?</a:t>
            </a:r>
            <a:endParaRPr lang="es-CL" sz="2800" dirty="0">
              <a:solidFill>
                <a:srgbClr val="0000CC"/>
              </a:solidFill>
            </a:endParaRPr>
          </a:p>
        </p:txBody>
      </p:sp>
      <p:sp>
        <p:nvSpPr>
          <p:cNvPr id="3" name="2 Marcador de contenido"/>
          <p:cNvSpPr>
            <a:spLocks noGrp="1"/>
          </p:cNvSpPr>
          <p:nvPr>
            <p:ph idx="1"/>
          </p:nvPr>
        </p:nvSpPr>
        <p:spPr>
          <a:xfrm>
            <a:off x="533960" y="1169368"/>
            <a:ext cx="8229600" cy="5211960"/>
          </a:xfrm>
        </p:spPr>
        <p:txBody>
          <a:bodyPr>
            <a:noAutofit/>
          </a:bodyPr>
          <a:lstStyle/>
          <a:p>
            <a:pPr algn="just"/>
            <a:r>
              <a:rPr lang="es-CL" sz="2000" dirty="0" smtClean="0"/>
              <a:t>Las </a:t>
            </a:r>
            <a:r>
              <a:rPr lang="es-CL" sz="2000" dirty="0"/>
              <a:t>Declaraciones de Impacto Ambiental o los Estudios de Impacto Ambiental se presentarán, para obtener las autorizaciones correspondientes, ante la Dirección Regional del Servicio de Evaluación Ambiental de la Región en que se realizarán las obras materiales que contemple el proyecto o actividad, con anterioridad a su ejecución. </a:t>
            </a:r>
            <a:endParaRPr lang="es-CL" sz="2000" dirty="0" smtClean="0"/>
          </a:p>
          <a:p>
            <a:pPr marL="0" indent="0" algn="just">
              <a:buNone/>
            </a:pPr>
            <a:endParaRPr lang="es-CL" sz="2000" dirty="0"/>
          </a:p>
          <a:p>
            <a:pPr algn="just"/>
            <a:r>
              <a:rPr lang="es-CL" sz="2000" dirty="0" smtClean="0"/>
              <a:t>En </a:t>
            </a:r>
            <a:r>
              <a:rPr lang="es-CL" sz="2000" dirty="0"/>
              <a:t>los casos en que la actividad o proyecto pueda causar impactos ambientales en zonas situadas en distintas regiones, las Declaraciones o los Estudios de Impacto Ambiental deberán presentarse ante la Dirección Ejecutiva de Servicio de Evaluación Ambiental</a:t>
            </a:r>
            <a:r>
              <a:rPr lang="es-CL" sz="2000" dirty="0" smtClean="0"/>
              <a:t>.</a:t>
            </a:r>
          </a:p>
          <a:p>
            <a:pPr marL="0" indent="0" algn="just">
              <a:buNone/>
            </a:pPr>
            <a:endParaRPr lang="es-CL" sz="2000" dirty="0"/>
          </a:p>
          <a:p>
            <a:pPr algn="just"/>
            <a:r>
              <a:rPr lang="es-CL" sz="2000" dirty="0"/>
              <a:t>En caso de dudas, corresponderá a esta Dirección determinar si el proyecto o actividad afecta zonas situadas en distintas regiones, </a:t>
            </a:r>
            <a:r>
              <a:rPr lang="es-CL" sz="2000" dirty="0" smtClean="0"/>
              <a:t>este pronunciamiento deberá solicitarse a través de </a:t>
            </a:r>
            <a:r>
              <a:rPr lang="es-CL" sz="2000" dirty="0"/>
              <a:t>oficio o a petición de una o más Direcciones Regionales de Evaluación Ambiental o del titular del proyecto o actividad.</a:t>
            </a:r>
          </a:p>
        </p:txBody>
      </p:sp>
    </p:spTree>
    <p:extLst>
      <p:ext uri="{BB962C8B-B14F-4D97-AF65-F5344CB8AC3E}">
        <p14:creationId xmlns:p14="http://schemas.microsoft.com/office/powerpoint/2010/main" val="2633106071"/>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283</TotalTime>
  <Words>3433</Words>
  <Application>Microsoft Office PowerPoint</Application>
  <PresentationFormat>Presentación en pantalla (4:3)</PresentationFormat>
  <Paragraphs>223</Paragraphs>
  <Slides>26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26</vt:i4>
      </vt:variant>
    </vt:vector>
  </HeadingPairs>
  <TitlesOfParts>
    <vt:vector size="30" baseType="lpstr">
      <vt:lpstr>Arial</vt:lpstr>
      <vt:lpstr>Calibri</vt:lpstr>
      <vt:lpstr>Times New Roman</vt:lpstr>
      <vt:lpstr>Tema de Office</vt:lpstr>
      <vt:lpstr>UNIDAD 2   LEGISLACIÓN EN CHILE EN TORNO AL TEMA MEDIOAMBIENTAL</vt:lpstr>
      <vt:lpstr>CRONOLOGÍA</vt:lpstr>
      <vt:lpstr>INTRODUCCIÓN</vt:lpstr>
      <vt:lpstr>INTRODUCCIÓN</vt:lpstr>
      <vt:lpstr>  MINISTERIO DEL MEDIO AMBIENTE  </vt:lpstr>
      <vt:lpstr>SERVICIO DE EVALUACIÓN AMBIENTAL (SEA) </vt:lpstr>
      <vt:lpstr>SUPERINTENDENCIA DEL MEDIO AMBIENTE (SMA) </vt:lpstr>
      <vt:lpstr>ACTUALIZACIÓN DEL REGLAMENTO DEL SEIA</vt:lpstr>
      <vt:lpstr>INTRODUCCIÓN</vt:lpstr>
      <vt:lpstr>PROYECTOS MINEROS,  PRONUNCIAMIENTO DE LOS SERVICIOS</vt:lpstr>
      <vt:lpstr>PROYECTOS MINEROS,  PRONUNCIAMIENTO DE LOS SERVICIOS</vt:lpstr>
      <vt:lpstr>LEY 19300 SOBRE BASES GENERALES  DEL MEDIO AMBIENTE</vt:lpstr>
      <vt:lpstr>INSTRUMENTOS DE GESTIÓN AMBIENTAL</vt:lpstr>
      <vt:lpstr>SEIA: SISTEMA DE EVALUACIÓN DE IMPACTO AMBIENTAL</vt:lpstr>
      <vt:lpstr>  RESOLUCIÓN DE CALIFICACIÓN AMBIENTAL (RCA) </vt:lpstr>
      <vt:lpstr>PROYECTOS O ACTIVIDADES QUE DEBEN SOMETERSE OBLIGATORIAMENTE AL SEIA</vt:lpstr>
      <vt:lpstr>PROYECTOS O ACTIVIDADES QUE DEBEN SOMETERSE OBLIGATORIAMENTE AL SEIA</vt:lpstr>
      <vt:lpstr>PROYECTOS O ACTIVIDADES QUE DEBEN SOMETERSE OBLIGATORIAMENTE AL SEIA</vt:lpstr>
      <vt:lpstr>PROYECTOS O ACTIVIDADES QUE DEBEN SOMETERSE OBLIGATORIAMENTE AL SEIA</vt:lpstr>
      <vt:lpstr>PROYECTOS O ACTIVIDADES QUE DEBEN SOMETERSE OBLIGATORIAMENTE AL SEIA</vt:lpstr>
      <vt:lpstr>CÓMO SABER SI SE PRESENTA UNA DIA O UN EIA</vt:lpstr>
      <vt:lpstr>CRITERIOS QUE DEFINEN LA PRESENTACIÓN DE UN EIA AL SEIA</vt:lpstr>
      <vt:lpstr>CRITERIOS QUE DEFINEN LA PRESENTACIÓN DE UN EIA AL SEIA</vt:lpstr>
      <vt:lpstr>EIA: ¿QUÉ DEBE CONTENER?</vt:lpstr>
      <vt:lpstr>DIA: ¿QUÉ DEBE CONTENER?</vt:lpstr>
      <vt:lpstr> ¿ANTE QUÉ AUTORIDAD SE DEBE PRESENTAR EL EIA O LA DIA?</vt:lpstr>
    </vt:vector>
  </TitlesOfParts>
  <Company>Hewlett-Packard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2   LEGISLACIÓN EN CHILE EN TORNO AL TEMA MEDIOAMBIENTAL</dc:title>
  <dc:creator>Osvaldo</dc:creator>
  <cp:lastModifiedBy>OSVALDO</cp:lastModifiedBy>
  <cp:revision>39</cp:revision>
  <dcterms:created xsi:type="dcterms:W3CDTF">2019-01-09T15:51:07Z</dcterms:created>
  <dcterms:modified xsi:type="dcterms:W3CDTF">2022-03-31T11:50:20Z</dcterms:modified>
</cp:coreProperties>
</file>