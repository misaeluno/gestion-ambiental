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66" r:id="rId4"/>
    <p:sldId id="289" r:id="rId5"/>
    <p:sldId id="280" r:id="rId6"/>
    <p:sldId id="265" r:id="rId7"/>
    <p:sldId id="264" r:id="rId8"/>
    <p:sldId id="262" r:id="rId9"/>
    <p:sldId id="261" r:id="rId10"/>
    <p:sldId id="284" r:id="rId11"/>
    <p:sldId id="288" r:id="rId12"/>
    <p:sldId id="260" r:id="rId13"/>
    <p:sldId id="267" r:id="rId14"/>
    <p:sldId id="274" r:id="rId15"/>
    <p:sldId id="273" r:id="rId16"/>
    <p:sldId id="272" r:id="rId17"/>
    <p:sldId id="275" r:id="rId18"/>
    <p:sldId id="271" r:id="rId19"/>
    <p:sldId id="268" r:id="rId20"/>
    <p:sldId id="270" r:id="rId21"/>
    <p:sldId id="269" r:id="rId22"/>
    <p:sldId id="276" r:id="rId23"/>
    <p:sldId id="277" r:id="rId24"/>
    <p:sldId id="278" r:id="rId25"/>
    <p:sldId id="279" r:id="rId26"/>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09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4830DA-2200-4D8D-8F4E-B55F15A8F4FD}" type="datetimeFigureOut">
              <a:rPr lang="es-CL" smtClean="0"/>
              <a:t>22-10-2022</a:t>
            </a:fld>
            <a:endParaRPr lang="es-C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13E60F-0C78-4B32-8FF6-8359A68DDC98}" type="slidenum">
              <a:rPr lang="es-CL" smtClean="0"/>
              <a:t>‹Nº›</a:t>
            </a:fld>
            <a:endParaRPr lang="es-CL"/>
          </a:p>
        </p:txBody>
      </p:sp>
    </p:spTree>
    <p:extLst>
      <p:ext uri="{BB962C8B-B14F-4D97-AF65-F5344CB8AC3E}">
        <p14:creationId xmlns:p14="http://schemas.microsoft.com/office/powerpoint/2010/main" val="1664371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10"/>
          </p:nvPr>
        </p:nvSpPr>
        <p:spPr/>
        <p:txBody>
          <a:bodyPr/>
          <a:lstStyle/>
          <a:p>
            <a:fld id="{BD13E60F-0C78-4B32-8FF6-8359A68DDC98}" type="slidenum">
              <a:rPr lang="es-CL" smtClean="0"/>
              <a:t>1</a:t>
            </a:fld>
            <a:endParaRPr lang="es-CL"/>
          </a:p>
        </p:txBody>
      </p:sp>
    </p:spTree>
    <p:extLst>
      <p:ext uri="{BB962C8B-B14F-4D97-AF65-F5344CB8AC3E}">
        <p14:creationId xmlns:p14="http://schemas.microsoft.com/office/powerpoint/2010/main" val="4160869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2236726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764197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071879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22027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8" name="7 Marcador de pie de página"/>
          <p:cNvSpPr>
            <a:spLocks noGrp="1"/>
          </p:cNvSpPr>
          <p:nvPr>
            <p:ph type="ftr" sz="quarter" idx="11"/>
          </p:nvPr>
        </p:nvSpPr>
        <p:spPr/>
        <p:txBody>
          <a:bodyPr/>
          <a:lstStyle/>
          <a:p>
            <a:endParaRPr lang="es-CL"/>
          </a:p>
        </p:txBody>
      </p:sp>
      <p:sp>
        <p:nvSpPr>
          <p:cNvPr id="9" name="8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180018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4" name="3 Marcador de pie de página"/>
          <p:cNvSpPr>
            <a:spLocks noGrp="1"/>
          </p:cNvSpPr>
          <p:nvPr>
            <p:ph type="ftr" sz="quarter" idx="11"/>
          </p:nvPr>
        </p:nvSpPr>
        <p:spPr/>
        <p:txBody>
          <a:bodyPr/>
          <a:lstStyle/>
          <a:p>
            <a:endParaRPr lang="es-CL"/>
          </a:p>
        </p:txBody>
      </p:sp>
      <p:sp>
        <p:nvSpPr>
          <p:cNvPr id="5" name="4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1053874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3" name="2 Marcador de pie de página"/>
          <p:cNvSpPr>
            <a:spLocks noGrp="1"/>
          </p:cNvSpPr>
          <p:nvPr>
            <p:ph type="ftr" sz="quarter" idx="11"/>
          </p:nvPr>
        </p:nvSpPr>
        <p:spPr/>
        <p:txBody>
          <a:bodyPr/>
          <a:lstStyle/>
          <a:p>
            <a:endParaRPr lang="es-CL"/>
          </a:p>
        </p:txBody>
      </p:sp>
      <p:sp>
        <p:nvSpPr>
          <p:cNvPr id="4" name="3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6131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465570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71056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364262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F70A1F55-71EA-4D45-93B6-471C90C77D51}" type="datetimeFigureOut">
              <a:rPr lang="es-CL" smtClean="0"/>
              <a:t>22-10-2022</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CE4C417F-FE26-4856-A9D8-D4309F5CE261}" type="slidenum">
              <a:rPr lang="es-CL" smtClean="0"/>
              <a:t>‹Nº›</a:t>
            </a:fld>
            <a:endParaRPr lang="es-CL"/>
          </a:p>
        </p:txBody>
      </p:sp>
    </p:spTree>
    <p:extLst>
      <p:ext uri="{BB962C8B-B14F-4D97-AF65-F5344CB8AC3E}">
        <p14:creationId xmlns:p14="http://schemas.microsoft.com/office/powerpoint/2010/main" val="284985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0A1F55-71EA-4D45-93B6-471C90C77D51}" type="datetimeFigureOut">
              <a:rPr lang="es-CL" smtClean="0"/>
              <a:t>22-10-2022</a:t>
            </a:fld>
            <a:endParaRPr lang="es-CL"/>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C417F-FE26-4856-A9D8-D4309F5CE261}" type="slidenum">
              <a:rPr lang="es-CL" smtClean="0"/>
              <a:t>‹Nº›</a:t>
            </a:fld>
            <a:endParaRPr lang="es-CL"/>
          </a:p>
        </p:txBody>
      </p:sp>
    </p:spTree>
    <p:extLst>
      <p:ext uri="{BB962C8B-B14F-4D97-AF65-F5344CB8AC3E}">
        <p14:creationId xmlns:p14="http://schemas.microsoft.com/office/powerpoint/2010/main" val="1739676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67544" y="1196753"/>
            <a:ext cx="8280920" cy="3384376"/>
          </a:xfrm>
        </p:spPr>
        <p:txBody>
          <a:bodyPr>
            <a:normAutofit/>
          </a:bodyPr>
          <a:lstStyle/>
          <a:p>
            <a:r>
              <a:rPr lang="es-CL" sz="3600" b="1" dirty="0" smtClean="0">
                <a:solidFill>
                  <a:srgbClr val="006600"/>
                </a:solidFill>
              </a:rPr>
              <a:t/>
            </a:r>
            <a:br>
              <a:rPr lang="es-CL" sz="3600" b="1" dirty="0" smtClean="0">
                <a:solidFill>
                  <a:srgbClr val="006600"/>
                </a:solidFill>
              </a:rPr>
            </a:br>
            <a:r>
              <a:rPr lang="es-CL" sz="3600" b="1" dirty="0" smtClean="0">
                <a:solidFill>
                  <a:srgbClr val="006600"/>
                </a:solidFill>
              </a:rPr>
              <a:t/>
            </a:r>
            <a:br>
              <a:rPr lang="es-CL" sz="3600" b="1" dirty="0" smtClean="0">
                <a:solidFill>
                  <a:srgbClr val="006600"/>
                </a:solidFill>
              </a:rPr>
            </a:br>
            <a:r>
              <a:rPr lang="es-CL" sz="3600" b="1" dirty="0" smtClean="0">
                <a:solidFill>
                  <a:srgbClr val="006600"/>
                </a:solidFill>
              </a:rPr>
              <a:t>LA GESTIÓN AMBIENTAL EN LA EMPRESA</a:t>
            </a:r>
            <a:endParaRPr lang="es-CL" sz="3600" b="1" dirty="0">
              <a:solidFill>
                <a:srgbClr val="006600"/>
              </a:solidFill>
            </a:endParaRPr>
          </a:p>
        </p:txBody>
      </p:sp>
      <p:sp>
        <p:nvSpPr>
          <p:cNvPr id="3" name="2 Subtítulo"/>
          <p:cNvSpPr>
            <a:spLocks noGrp="1"/>
          </p:cNvSpPr>
          <p:nvPr>
            <p:ph type="subTitle" idx="1"/>
          </p:nvPr>
        </p:nvSpPr>
        <p:spPr>
          <a:xfrm>
            <a:off x="1371600" y="5301208"/>
            <a:ext cx="6400800" cy="337592"/>
          </a:xfrm>
        </p:spPr>
        <p:txBody>
          <a:bodyPr>
            <a:normAutofit fontScale="62500" lnSpcReduction="20000"/>
          </a:bodyPr>
          <a:lstStyle/>
          <a:p>
            <a:endParaRPr lang="es-CL" dirty="0"/>
          </a:p>
        </p:txBody>
      </p:sp>
    </p:spTree>
    <p:extLst>
      <p:ext uri="{BB962C8B-B14F-4D97-AF65-F5344CB8AC3E}">
        <p14:creationId xmlns:p14="http://schemas.microsoft.com/office/powerpoint/2010/main" val="33067500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GESTIÓN AMBIENTAL</a:t>
            </a:r>
            <a:endParaRPr lang="es-CL" sz="2800" dirty="0">
              <a:solidFill>
                <a:srgbClr val="0000CC"/>
              </a:solidFill>
            </a:endParaRPr>
          </a:p>
        </p:txBody>
      </p:sp>
      <p:sp>
        <p:nvSpPr>
          <p:cNvPr id="3" name="2 Marcador de contenido"/>
          <p:cNvSpPr>
            <a:spLocks noGrp="1"/>
          </p:cNvSpPr>
          <p:nvPr>
            <p:ph idx="1"/>
          </p:nvPr>
        </p:nvSpPr>
        <p:spPr/>
        <p:txBody>
          <a:bodyPr>
            <a:normAutofit/>
          </a:bodyPr>
          <a:lstStyle/>
          <a:p>
            <a:pPr algn="just">
              <a:lnSpc>
                <a:spcPct val="115000"/>
              </a:lnSpc>
              <a:spcAft>
                <a:spcPts val="1000"/>
              </a:spcAft>
            </a:pPr>
            <a:r>
              <a:rPr lang="es-CL" sz="1800" dirty="0">
                <a:ea typeface="Calibri"/>
                <a:cs typeface="Times New Roman"/>
              </a:rPr>
              <a:t>Se denomina gestión ambiental o gestión del medio ambiente al conjunto de diligencias conducentes al manejo integral del sistema ambiental. Dicho de otro </a:t>
            </a:r>
            <a:r>
              <a:rPr lang="es-CL" sz="1800" dirty="0" smtClean="0">
                <a:ea typeface="Calibri"/>
                <a:cs typeface="Times New Roman"/>
              </a:rPr>
              <a:t>modo, </a:t>
            </a:r>
            <a:r>
              <a:rPr lang="es-CL" sz="1800" dirty="0">
                <a:ea typeface="Calibri"/>
                <a:cs typeface="Times New Roman"/>
              </a:rPr>
              <a:t>e incluyendo el concepto de </a:t>
            </a:r>
            <a:r>
              <a:rPr lang="es-CL" sz="1800" dirty="0" smtClean="0">
                <a:ea typeface="Calibri"/>
                <a:cs typeface="Times New Roman"/>
              </a:rPr>
              <a:t>desarrollo sustentable</a:t>
            </a:r>
            <a:r>
              <a:rPr lang="es-CL" sz="1800" dirty="0">
                <a:ea typeface="Calibri"/>
                <a:cs typeface="Times New Roman"/>
              </a:rPr>
              <a:t>, es la estrategia mediante la cual se organizan las actividades antrópicas que afectan al medio ambiente, con el fin de lograr una adecuada calidad de vida, previniendo o mitigando los problemas ambientales</a:t>
            </a:r>
            <a:r>
              <a:rPr lang="es-CL" sz="1800" dirty="0" smtClean="0">
                <a:ea typeface="Calibri"/>
                <a:cs typeface="Times New Roman"/>
              </a:rPr>
              <a:t>.</a:t>
            </a:r>
            <a:endParaRPr lang="es-CL" sz="1100" dirty="0">
              <a:ea typeface="Calibri"/>
              <a:cs typeface="Times New Roman"/>
            </a:endParaRPr>
          </a:p>
          <a:p>
            <a:pPr algn="just">
              <a:lnSpc>
                <a:spcPct val="115000"/>
              </a:lnSpc>
              <a:spcAft>
                <a:spcPts val="1000"/>
              </a:spcAft>
            </a:pPr>
            <a:r>
              <a:rPr lang="es-CL" sz="1800" dirty="0">
                <a:ea typeface="Calibri"/>
                <a:cs typeface="Times New Roman"/>
              </a:rPr>
              <a:t>La gestión ambiental responde al "cómo hay que hacer" para conseguir lo planteado por el desarrollo sostenible, es decir, para conseguir un equilibrio adecuado para el desarrollo económico, crecimiento de la población, uso racional de los recursos y protección y conservación del ambiente. </a:t>
            </a:r>
            <a:endParaRPr lang="es-CL" sz="1800" dirty="0"/>
          </a:p>
        </p:txBody>
      </p:sp>
    </p:spTree>
    <p:extLst>
      <p:ext uri="{BB962C8B-B14F-4D97-AF65-F5344CB8AC3E}">
        <p14:creationId xmlns:p14="http://schemas.microsoft.com/office/powerpoint/2010/main" val="14590685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NORMAS ISO 14000</a:t>
            </a:r>
            <a:endParaRPr lang="es-CL" sz="2800" dirty="0">
              <a:solidFill>
                <a:srgbClr val="0000CC"/>
              </a:solidFill>
            </a:endParaRPr>
          </a:p>
        </p:txBody>
      </p:sp>
      <p:sp>
        <p:nvSpPr>
          <p:cNvPr id="3" name="2 Marcador de contenido"/>
          <p:cNvSpPr>
            <a:spLocks noGrp="1"/>
          </p:cNvSpPr>
          <p:nvPr>
            <p:ph idx="1"/>
          </p:nvPr>
        </p:nvSpPr>
        <p:spPr>
          <a:xfrm>
            <a:off x="457200" y="1600200"/>
            <a:ext cx="8229600" cy="4997152"/>
          </a:xfrm>
        </p:spPr>
        <p:txBody>
          <a:bodyPr>
            <a:normAutofit lnSpcReduction="10000"/>
          </a:bodyPr>
          <a:lstStyle/>
          <a:p>
            <a:pPr algn="just">
              <a:lnSpc>
                <a:spcPct val="115000"/>
              </a:lnSpc>
              <a:spcAft>
                <a:spcPts val="1000"/>
              </a:spcAft>
            </a:pPr>
            <a:r>
              <a:rPr lang="es-CL" sz="2400" dirty="0">
                <a:ea typeface="Calibri"/>
                <a:cs typeface="Times New Roman"/>
              </a:rPr>
              <a:t>La serie de normas ISO 14000 es un conjunto de normas que cubre aspectos del ambiente, de productos y organizaciones, destacando la Norma ISO 14001, un estándar internacional de gestión ambiental publicado en 1996, tras el éxito de la serie de normas ISO 9000 para sistemas de gestión de la calidad</a:t>
            </a:r>
            <a:r>
              <a:rPr lang="es-CL" sz="2400" dirty="0" smtClean="0">
                <a:ea typeface="Calibri"/>
                <a:cs typeface="Times New Roman"/>
              </a:rPr>
              <a:t>.</a:t>
            </a:r>
            <a:endParaRPr lang="es-CL" sz="2400" dirty="0">
              <a:ea typeface="Calibri"/>
              <a:cs typeface="Times New Roman"/>
            </a:endParaRPr>
          </a:p>
          <a:p>
            <a:pPr algn="just">
              <a:lnSpc>
                <a:spcPct val="115000"/>
              </a:lnSpc>
              <a:spcAft>
                <a:spcPts val="1000"/>
              </a:spcAft>
            </a:pPr>
            <a:r>
              <a:rPr lang="es-CL" sz="2400" dirty="0">
                <a:ea typeface="Calibri"/>
                <a:cs typeface="Times New Roman"/>
              </a:rPr>
              <a:t>La Norma ISO 14000 es la primera serie de normas que permite a las organizaciones de todo el mundo realizar esfuerzos ambientales y medir su actuación siguiendo criterios comunes aceptados internacionalmente, al mismo tiempo expresa cómo establecer un Sistema de Gestión Ambiental efectivo</a:t>
            </a:r>
            <a:r>
              <a:rPr lang="es-CL" sz="2400" dirty="0" smtClean="0">
                <a:ea typeface="Calibri"/>
                <a:cs typeface="Times New Roman"/>
              </a:rPr>
              <a:t>.</a:t>
            </a:r>
            <a:endParaRPr lang="es-CL" sz="2400" dirty="0">
              <a:ea typeface="Calibri"/>
              <a:cs typeface="Times New Roman"/>
            </a:endParaRPr>
          </a:p>
          <a:p>
            <a:pPr algn="just"/>
            <a:endParaRPr lang="es-CL" sz="1800" dirty="0"/>
          </a:p>
        </p:txBody>
      </p:sp>
    </p:spTree>
    <p:extLst>
      <p:ext uri="{BB962C8B-B14F-4D97-AF65-F5344CB8AC3E}">
        <p14:creationId xmlns:p14="http://schemas.microsoft.com/office/powerpoint/2010/main" val="4234175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NORMAS ISO 14000</a:t>
            </a:r>
            <a:endParaRPr lang="es-CL" sz="2800" dirty="0">
              <a:solidFill>
                <a:srgbClr val="0000CC"/>
              </a:solidFill>
            </a:endParaRPr>
          </a:p>
        </p:txBody>
      </p:sp>
      <p:sp>
        <p:nvSpPr>
          <p:cNvPr id="3" name="2 Marcador de contenido"/>
          <p:cNvSpPr>
            <a:spLocks noGrp="1"/>
          </p:cNvSpPr>
          <p:nvPr>
            <p:ph idx="1"/>
          </p:nvPr>
        </p:nvSpPr>
        <p:spPr>
          <a:xfrm>
            <a:off x="458911" y="1124744"/>
            <a:ext cx="8229600" cy="5573216"/>
          </a:xfrm>
        </p:spPr>
        <p:txBody>
          <a:bodyPr>
            <a:normAutofit fontScale="92500" lnSpcReduction="10000"/>
          </a:bodyPr>
          <a:lstStyle/>
          <a:p>
            <a:r>
              <a:rPr lang="es-CL" sz="2000" dirty="0" smtClean="0"/>
              <a:t>ISO </a:t>
            </a:r>
            <a:r>
              <a:rPr lang="es-CL" sz="2000" dirty="0"/>
              <a:t>14000: Guía a la gerencia en los principios ambientales, sistemas y técnicas que se utilizan.</a:t>
            </a:r>
          </a:p>
          <a:p>
            <a:r>
              <a:rPr lang="es-CL" sz="2000" dirty="0" smtClean="0"/>
              <a:t>ISO </a:t>
            </a:r>
            <a:r>
              <a:rPr lang="es-CL" sz="2000" dirty="0"/>
              <a:t>14001: Sistema de Gestión Ambiental. Especificaciones para el uso. </a:t>
            </a:r>
          </a:p>
          <a:p>
            <a:r>
              <a:rPr lang="es-CL" sz="2000" dirty="0" smtClean="0"/>
              <a:t>ISO </a:t>
            </a:r>
            <a:r>
              <a:rPr lang="es-CL" sz="2000" dirty="0"/>
              <a:t>14010: Principios generales de Auditoría Ambiental. </a:t>
            </a:r>
          </a:p>
          <a:p>
            <a:r>
              <a:rPr lang="es-CL" sz="2000" dirty="0" smtClean="0"/>
              <a:t> </a:t>
            </a:r>
            <a:r>
              <a:rPr lang="es-CL" sz="2000" dirty="0"/>
              <a:t>ISO 14011: Directrices y procedimientos para las auditorías </a:t>
            </a:r>
          </a:p>
          <a:p>
            <a:r>
              <a:rPr lang="es-CL" sz="2000" dirty="0" smtClean="0"/>
              <a:t>ISO </a:t>
            </a:r>
            <a:r>
              <a:rPr lang="es-CL" sz="2000" dirty="0"/>
              <a:t>14012: Guías de consulta para la protección ambiental. Criterios de calificación para los auditores ambientales.</a:t>
            </a:r>
          </a:p>
          <a:p>
            <a:r>
              <a:rPr lang="es-CL" sz="2000" dirty="0" smtClean="0"/>
              <a:t>ISO </a:t>
            </a:r>
            <a:r>
              <a:rPr lang="es-CL" sz="2000" dirty="0"/>
              <a:t>14013/15: Guías de consulta para la revisión ambiental. Programas de revisión, intervención y gravámenes. </a:t>
            </a:r>
          </a:p>
          <a:p>
            <a:r>
              <a:rPr lang="es-CL" sz="2000" dirty="0" smtClean="0"/>
              <a:t>ISO </a:t>
            </a:r>
            <a:r>
              <a:rPr lang="es-CL" sz="2000" dirty="0"/>
              <a:t>14020/23: Etiquetado </a:t>
            </a:r>
            <a:r>
              <a:rPr lang="es-CL" sz="2000" dirty="0" smtClean="0"/>
              <a:t>ambiental. </a:t>
            </a:r>
            <a:endParaRPr lang="es-CL" sz="2000" dirty="0"/>
          </a:p>
          <a:p>
            <a:r>
              <a:rPr lang="es-CL" sz="2000" dirty="0" smtClean="0"/>
              <a:t>ISO 14024: Principios, prácticas y procedimientos de etiquetado ambiental.</a:t>
            </a:r>
          </a:p>
          <a:p>
            <a:r>
              <a:rPr lang="es-CL" sz="2000" dirty="0" smtClean="0"/>
              <a:t>ISO 14031/32: Guías de consulta para la evaluación de funcionamiento ambiental. </a:t>
            </a:r>
          </a:p>
          <a:p>
            <a:r>
              <a:rPr lang="es-CL" sz="2000" dirty="0" smtClean="0"/>
              <a:t>ISO </a:t>
            </a:r>
            <a:r>
              <a:rPr lang="es-CL" sz="2000" dirty="0"/>
              <a:t>14040/4: Principios y prácticas generales del ciclo de vida del </a:t>
            </a:r>
            <a:r>
              <a:rPr lang="es-CL" sz="2000" dirty="0" smtClean="0"/>
              <a:t>producto. </a:t>
            </a:r>
            <a:endParaRPr lang="es-CL" sz="2000" dirty="0"/>
          </a:p>
          <a:p>
            <a:r>
              <a:rPr lang="es-CL" sz="2000" dirty="0" smtClean="0"/>
              <a:t>ISO </a:t>
            </a:r>
            <a:r>
              <a:rPr lang="es-CL" sz="2000" dirty="0"/>
              <a:t>14050: </a:t>
            </a:r>
            <a:r>
              <a:rPr lang="es-CL" sz="2000" dirty="0" smtClean="0"/>
              <a:t>Glosario. </a:t>
            </a:r>
            <a:endParaRPr lang="es-CL" sz="2000" dirty="0"/>
          </a:p>
          <a:p>
            <a:r>
              <a:rPr lang="es-CL" sz="2000" dirty="0" smtClean="0"/>
              <a:t>ISO </a:t>
            </a:r>
            <a:r>
              <a:rPr lang="es-CL" sz="2000" dirty="0"/>
              <a:t>14060: Guía para la inclusión de aspectos ambientales en los estándares de </a:t>
            </a:r>
            <a:r>
              <a:rPr lang="es-CL" sz="2000" dirty="0" smtClean="0"/>
              <a:t>producto.</a:t>
            </a:r>
            <a:endParaRPr lang="es-CL" sz="2000" dirty="0"/>
          </a:p>
          <a:p>
            <a:pPr algn="just"/>
            <a:endParaRPr lang="es-CL" sz="1800" dirty="0"/>
          </a:p>
        </p:txBody>
      </p:sp>
    </p:spTree>
    <p:extLst>
      <p:ext uri="{BB962C8B-B14F-4D97-AF65-F5344CB8AC3E}">
        <p14:creationId xmlns:p14="http://schemas.microsoft.com/office/powerpoint/2010/main" val="655269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NORMA ISO 14001</a:t>
            </a:r>
            <a:endParaRPr lang="es-CL" sz="2800" dirty="0">
              <a:solidFill>
                <a:srgbClr val="0000CC"/>
              </a:solidFill>
            </a:endParaRPr>
          </a:p>
        </p:txBody>
      </p:sp>
      <p:sp>
        <p:nvSpPr>
          <p:cNvPr id="3" name="2 Marcador de contenido"/>
          <p:cNvSpPr>
            <a:spLocks noGrp="1"/>
          </p:cNvSpPr>
          <p:nvPr>
            <p:ph idx="1"/>
          </p:nvPr>
        </p:nvSpPr>
        <p:spPr>
          <a:xfrm>
            <a:off x="457200" y="1600200"/>
            <a:ext cx="8229600" cy="4997152"/>
          </a:xfrm>
        </p:spPr>
        <p:txBody>
          <a:bodyPr>
            <a:normAutofit/>
          </a:bodyPr>
          <a:lstStyle/>
          <a:p>
            <a:pPr algn="just">
              <a:lnSpc>
                <a:spcPct val="115000"/>
              </a:lnSpc>
              <a:spcAft>
                <a:spcPts val="1000"/>
              </a:spcAft>
            </a:pPr>
            <a:r>
              <a:rPr lang="es-CL" sz="2400" dirty="0" smtClean="0">
                <a:ea typeface="Calibri"/>
                <a:cs typeface="Times New Roman"/>
              </a:rPr>
              <a:t>La </a:t>
            </a:r>
            <a:r>
              <a:rPr lang="es-CL" sz="2400" dirty="0">
                <a:ea typeface="Calibri"/>
                <a:cs typeface="Times New Roman"/>
              </a:rPr>
              <a:t>familia de normas ISO 14000 cuenta con muchas normas además de la Norma ISO 14001, sin embargo, la norma ISO 14001 es la más utilizada ya que certifica el Sistema de Gestión Ambiental que se quiere implantar en una empresa. </a:t>
            </a:r>
          </a:p>
          <a:p>
            <a:pPr algn="just">
              <a:lnSpc>
                <a:spcPct val="115000"/>
              </a:lnSpc>
              <a:spcAft>
                <a:spcPts val="1000"/>
              </a:spcAft>
            </a:pPr>
            <a:r>
              <a:rPr lang="es-CL" sz="2400" dirty="0">
                <a:ea typeface="Calibri"/>
                <a:cs typeface="Times New Roman"/>
              </a:rPr>
              <a:t>La Norma ISO 14001 se puede implantar en cualquier tipo de empresa independientemente de cuál sea su tamaño o actividades.  Normalmente, se aplica con mayor </a:t>
            </a:r>
            <a:r>
              <a:rPr lang="es-CL" sz="2400" dirty="0" smtClean="0">
                <a:ea typeface="Calibri"/>
                <a:cs typeface="Times New Roman"/>
              </a:rPr>
              <a:t>frecuencia </a:t>
            </a:r>
            <a:r>
              <a:rPr lang="es-CL" sz="2400" dirty="0">
                <a:ea typeface="Calibri"/>
                <a:cs typeface="Times New Roman"/>
              </a:rPr>
              <a:t>en las empresas que puedan afectar directamente o indirectamente al medio ambiente.</a:t>
            </a:r>
          </a:p>
          <a:p>
            <a:pPr algn="just"/>
            <a:endParaRPr lang="es-CL" sz="1800" dirty="0"/>
          </a:p>
        </p:txBody>
      </p:sp>
    </p:spTree>
    <p:extLst>
      <p:ext uri="{BB962C8B-B14F-4D97-AF65-F5344CB8AC3E}">
        <p14:creationId xmlns:p14="http://schemas.microsoft.com/office/powerpoint/2010/main" val="30242488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404664"/>
            <a:ext cx="8229600" cy="562074"/>
          </a:xfrm>
        </p:spPr>
        <p:txBody>
          <a:bodyPr>
            <a:normAutofit/>
          </a:bodyPr>
          <a:lstStyle/>
          <a:p>
            <a:r>
              <a:rPr lang="es-CL" sz="2800" dirty="0" smtClean="0">
                <a:solidFill>
                  <a:srgbClr val="0000CC"/>
                </a:solidFill>
              </a:rPr>
              <a:t>LA NCH ISO 14001</a:t>
            </a:r>
            <a:endParaRPr lang="es-CL" sz="2800" dirty="0">
              <a:solidFill>
                <a:srgbClr val="0000CC"/>
              </a:solidFill>
            </a:endParaRPr>
          </a:p>
        </p:txBody>
      </p:sp>
      <p:sp>
        <p:nvSpPr>
          <p:cNvPr id="3" name="2 Marcador de contenido"/>
          <p:cNvSpPr>
            <a:spLocks noGrp="1"/>
          </p:cNvSpPr>
          <p:nvPr>
            <p:ph idx="1"/>
          </p:nvPr>
        </p:nvSpPr>
        <p:spPr>
          <a:xfrm>
            <a:off x="539552" y="1124744"/>
            <a:ext cx="8229600" cy="5112568"/>
          </a:xfrm>
        </p:spPr>
        <p:txBody>
          <a:bodyPr>
            <a:noAutofit/>
          </a:bodyPr>
          <a:lstStyle/>
          <a:p>
            <a:pPr algn="just">
              <a:lnSpc>
                <a:spcPct val="115000"/>
              </a:lnSpc>
              <a:spcAft>
                <a:spcPts val="1000"/>
              </a:spcAft>
            </a:pPr>
            <a:r>
              <a:rPr lang="es-CL" sz="1800" dirty="0">
                <a:ea typeface="Calibri"/>
                <a:cs typeface="Times New Roman"/>
              </a:rPr>
              <a:t>La NCH ISO 14001 es una norma chilena elaborada y difundida por el Instituto Nacional de Normalización (INN</a:t>
            </a:r>
            <a:r>
              <a:rPr lang="es-CL" sz="1800" dirty="0" smtClean="0">
                <a:ea typeface="Calibri"/>
                <a:cs typeface="Times New Roman"/>
              </a:rPr>
              <a:t>).</a:t>
            </a:r>
            <a:endParaRPr lang="es-CL" sz="1800" dirty="0">
              <a:ea typeface="Calibri"/>
              <a:cs typeface="Times New Roman"/>
            </a:endParaRPr>
          </a:p>
          <a:p>
            <a:pPr algn="just">
              <a:lnSpc>
                <a:spcPct val="115000"/>
              </a:lnSpc>
              <a:spcAft>
                <a:spcPts val="1000"/>
              </a:spcAft>
            </a:pPr>
            <a:r>
              <a:rPr lang="es-CL" sz="1800" dirty="0">
                <a:ea typeface="Calibri"/>
                <a:cs typeface="Times New Roman"/>
              </a:rPr>
              <a:t>La norma NCH 14001 establece los requisitos para poder implantar con éxito un Sistema de Gestión Ambiental. Además, la norma permite que la implantación de dicho sistema garantice que la organización desarrolla sus actividades respetando el </a:t>
            </a:r>
            <a:r>
              <a:rPr lang="es-CL" sz="1800">
                <a:ea typeface="Calibri"/>
                <a:cs typeface="Times New Roman"/>
              </a:rPr>
              <a:t>medio </a:t>
            </a:r>
            <a:r>
              <a:rPr lang="es-CL" sz="1800" smtClean="0">
                <a:ea typeface="Calibri"/>
                <a:cs typeface="Times New Roman"/>
              </a:rPr>
              <a:t>ambiente</a:t>
            </a:r>
            <a:r>
              <a:rPr lang="es-CL" sz="1800" dirty="0" smtClean="0">
                <a:ea typeface="Calibri"/>
                <a:cs typeface="Times New Roman"/>
              </a:rPr>
              <a:t>.</a:t>
            </a:r>
            <a:endParaRPr lang="es-CL" sz="1800" dirty="0">
              <a:ea typeface="Calibri"/>
              <a:cs typeface="Times New Roman"/>
            </a:endParaRPr>
          </a:p>
          <a:p>
            <a:pPr algn="just">
              <a:lnSpc>
                <a:spcPct val="115000"/>
              </a:lnSpc>
              <a:spcAft>
                <a:spcPts val="1000"/>
              </a:spcAft>
            </a:pPr>
            <a:r>
              <a:rPr lang="es-CL" sz="1800" dirty="0">
                <a:ea typeface="Calibri"/>
                <a:cs typeface="Times New Roman"/>
              </a:rPr>
              <a:t>Las organizaciones pueden certificar su Sistema de Gestión Ambiental basándose en la norma NCH ISO 14001 sin importar el sector económico o el tamaño. Con esta certificación se garantiza la minimización de los impactos negativos generados sobre el medio y del mismo modo, se cumple con la legislación vigente relacionada con los temas ambientales</a:t>
            </a:r>
            <a:r>
              <a:rPr lang="es-CL" sz="1800" dirty="0" smtClean="0">
                <a:ea typeface="Calibri"/>
                <a:cs typeface="Times New Roman"/>
              </a:rPr>
              <a:t>.</a:t>
            </a:r>
            <a:endParaRPr lang="es-CL" sz="1800" dirty="0">
              <a:ea typeface="Calibri"/>
              <a:cs typeface="Times New Roman"/>
            </a:endParaRPr>
          </a:p>
          <a:p>
            <a:pPr algn="just">
              <a:lnSpc>
                <a:spcPct val="115000"/>
              </a:lnSpc>
              <a:spcAft>
                <a:spcPts val="1000"/>
              </a:spcAft>
            </a:pPr>
            <a:r>
              <a:rPr lang="es-CL" sz="1800" dirty="0">
                <a:ea typeface="Calibri"/>
                <a:cs typeface="Times New Roman"/>
              </a:rPr>
              <a:t>En el año 2013, en Chile 967 organizaciones estaban certificadas con la norma NCH ISO 14001.</a:t>
            </a:r>
          </a:p>
          <a:p>
            <a:pPr algn="just"/>
            <a:endParaRPr lang="es-CL" sz="1800" dirty="0"/>
          </a:p>
        </p:txBody>
      </p:sp>
    </p:spTree>
    <p:extLst>
      <p:ext uri="{BB962C8B-B14F-4D97-AF65-F5344CB8AC3E}">
        <p14:creationId xmlns:p14="http://schemas.microsoft.com/office/powerpoint/2010/main" val="10340324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404664"/>
            <a:ext cx="8229600" cy="634082"/>
          </a:xfrm>
        </p:spPr>
        <p:txBody>
          <a:bodyPr>
            <a:normAutofit fontScale="90000"/>
          </a:bodyPr>
          <a:lstStyle/>
          <a:p>
            <a:pPr>
              <a:lnSpc>
                <a:spcPct val="115000"/>
              </a:lnSpc>
              <a:spcAft>
                <a:spcPts val="1000"/>
              </a:spcAft>
            </a:pPr>
            <a:r>
              <a:rPr lang="es-CL" sz="2800" dirty="0" smtClean="0">
                <a:ea typeface="Calibri"/>
                <a:cs typeface="Times New Roman"/>
              </a:rPr>
              <a:t/>
            </a:r>
            <a:br>
              <a:rPr lang="es-CL" sz="2800" dirty="0" smtClean="0">
                <a:ea typeface="Calibri"/>
                <a:cs typeface="Times New Roman"/>
              </a:rPr>
            </a:br>
            <a:r>
              <a:rPr lang="es-CL" sz="2800" dirty="0" smtClean="0">
                <a:solidFill>
                  <a:srgbClr val="0000CC"/>
                </a:solidFill>
                <a:ea typeface="Calibri"/>
                <a:cs typeface="Times New Roman"/>
              </a:rPr>
              <a:t>ESTRUCTURA </a:t>
            </a:r>
            <a:r>
              <a:rPr lang="es-CL" sz="2800" dirty="0">
                <a:solidFill>
                  <a:srgbClr val="0000CC"/>
                </a:solidFill>
                <a:ea typeface="Calibri"/>
                <a:cs typeface="Times New Roman"/>
              </a:rPr>
              <a:t>DE LA NORMA NCH ISO 14001</a:t>
            </a:r>
            <a:r>
              <a:rPr lang="es-CL" sz="1600" dirty="0">
                <a:solidFill>
                  <a:srgbClr val="0000CC"/>
                </a:solidFill>
                <a:ea typeface="Calibri"/>
                <a:cs typeface="Times New Roman"/>
              </a:rPr>
              <a:t/>
            </a:r>
            <a:br>
              <a:rPr lang="es-CL" sz="1600" dirty="0">
                <a:solidFill>
                  <a:srgbClr val="0000CC"/>
                </a:solidFill>
                <a:ea typeface="Calibri"/>
                <a:cs typeface="Times New Roman"/>
              </a:rPr>
            </a:br>
            <a:endParaRPr lang="es-CL" sz="2800" dirty="0">
              <a:solidFill>
                <a:srgbClr val="0000CC"/>
              </a:solidFill>
            </a:endParaRPr>
          </a:p>
        </p:txBody>
      </p:sp>
      <p:sp>
        <p:nvSpPr>
          <p:cNvPr id="3" name="2 Marcador de contenido"/>
          <p:cNvSpPr>
            <a:spLocks noGrp="1"/>
          </p:cNvSpPr>
          <p:nvPr>
            <p:ph idx="1"/>
          </p:nvPr>
        </p:nvSpPr>
        <p:spPr>
          <a:xfrm>
            <a:off x="457200" y="1124744"/>
            <a:ext cx="8229600" cy="5616624"/>
          </a:xfrm>
        </p:spPr>
        <p:txBody>
          <a:bodyPr>
            <a:normAutofit fontScale="25000" lnSpcReduction="20000"/>
          </a:bodyPr>
          <a:lstStyle/>
          <a:p>
            <a:pPr algn="just">
              <a:lnSpc>
                <a:spcPct val="115000"/>
              </a:lnSpc>
              <a:spcAft>
                <a:spcPts val="1000"/>
              </a:spcAft>
            </a:pPr>
            <a:r>
              <a:rPr lang="es-CL" sz="7200" dirty="0">
                <a:ea typeface="Calibri"/>
                <a:cs typeface="Times New Roman"/>
              </a:rPr>
              <a:t>La nueva versión 2015 de la norma (ISO 14001:2015) está vigente, pero la certificación ISO 14001 del año 2004 estuvo vigente hasta septiembre de 2018.</a:t>
            </a:r>
          </a:p>
          <a:p>
            <a:pPr algn="just">
              <a:lnSpc>
                <a:spcPct val="115000"/>
              </a:lnSpc>
              <a:spcAft>
                <a:spcPts val="1000"/>
              </a:spcAft>
            </a:pPr>
            <a:r>
              <a:rPr lang="es-CL" sz="7200" dirty="0">
                <a:ea typeface="Calibri"/>
                <a:cs typeface="Times New Roman"/>
              </a:rPr>
              <a:t>La estructura de la norma ISO 14001:2004 era la siguiente:</a:t>
            </a:r>
          </a:p>
          <a:p>
            <a:pPr lvl="0" algn="just">
              <a:lnSpc>
                <a:spcPct val="115000"/>
              </a:lnSpc>
              <a:buFont typeface="+mj-lt"/>
              <a:buAutoNum type="arabicPeriod"/>
            </a:pPr>
            <a:r>
              <a:rPr lang="es-CL" sz="7200" dirty="0">
                <a:ea typeface="Calibri"/>
                <a:cs typeface="Times New Roman"/>
              </a:rPr>
              <a:t>Objeto y campo de aplicación.</a:t>
            </a:r>
          </a:p>
          <a:p>
            <a:pPr lvl="0" algn="just">
              <a:lnSpc>
                <a:spcPct val="115000"/>
              </a:lnSpc>
              <a:buFont typeface="+mj-lt"/>
              <a:buAutoNum type="arabicPeriod"/>
            </a:pPr>
            <a:r>
              <a:rPr lang="es-CL" sz="7200" dirty="0">
                <a:ea typeface="Calibri"/>
                <a:cs typeface="Times New Roman"/>
              </a:rPr>
              <a:t>Normas para consulta.</a:t>
            </a:r>
          </a:p>
          <a:p>
            <a:pPr lvl="0" algn="just">
              <a:lnSpc>
                <a:spcPct val="115000"/>
              </a:lnSpc>
              <a:buFont typeface="+mj-lt"/>
              <a:buAutoNum type="arabicPeriod"/>
            </a:pPr>
            <a:r>
              <a:rPr lang="es-CL" sz="7200" dirty="0">
                <a:ea typeface="Calibri"/>
                <a:cs typeface="Times New Roman"/>
              </a:rPr>
              <a:t>Términos y definiciones.</a:t>
            </a:r>
          </a:p>
          <a:p>
            <a:pPr lvl="0" algn="just">
              <a:lnSpc>
                <a:spcPct val="115000"/>
              </a:lnSpc>
              <a:buFont typeface="+mj-lt"/>
              <a:buAutoNum type="arabicPeriod"/>
            </a:pPr>
            <a:r>
              <a:rPr lang="es-CL" sz="7200" dirty="0">
                <a:ea typeface="Calibri"/>
                <a:cs typeface="Times New Roman"/>
              </a:rPr>
              <a:t>Requisitos del Sistema de Gestión Ambiental.</a:t>
            </a:r>
          </a:p>
          <a:p>
            <a:pPr marL="457200" lvl="1" indent="0" algn="just">
              <a:lnSpc>
                <a:spcPct val="115000"/>
              </a:lnSpc>
              <a:buNone/>
            </a:pPr>
            <a:r>
              <a:rPr lang="es-CL" sz="7200" dirty="0" smtClean="0">
                <a:ea typeface="Calibri"/>
                <a:cs typeface="Times New Roman"/>
              </a:rPr>
              <a:t>4.1. Requisitos generales.</a:t>
            </a:r>
          </a:p>
          <a:p>
            <a:pPr marL="457200" lvl="1" indent="0" algn="just">
              <a:lnSpc>
                <a:spcPct val="115000"/>
              </a:lnSpc>
              <a:buNone/>
            </a:pPr>
            <a:r>
              <a:rPr lang="es-CL" sz="7200" dirty="0" smtClean="0">
                <a:ea typeface="Calibri"/>
                <a:cs typeface="Times New Roman"/>
              </a:rPr>
              <a:t>4.2. Política ambiental.</a:t>
            </a:r>
          </a:p>
          <a:p>
            <a:pPr marL="457200" lvl="1" indent="0" algn="just">
              <a:lnSpc>
                <a:spcPct val="115000"/>
              </a:lnSpc>
              <a:buNone/>
            </a:pPr>
            <a:r>
              <a:rPr lang="es-CL" sz="7200" dirty="0" smtClean="0">
                <a:ea typeface="Calibri"/>
                <a:cs typeface="Times New Roman"/>
              </a:rPr>
              <a:t>4.3. Planificación</a:t>
            </a:r>
            <a:r>
              <a:rPr lang="es-CL" sz="7200" dirty="0">
                <a:ea typeface="Calibri"/>
                <a:cs typeface="Times New Roman"/>
              </a:rPr>
              <a:t>.</a:t>
            </a:r>
          </a:p>
          <a:p>
            <a:pPr marL="685800" algn="just">
              <a:lnSpc>
                <a:spcPct val="115000"/>
              </a:lnSpc>
              <a:spcAft>
                <a:spcPts val="0"/>
              </a:spcAft>
            </a:pPr>
            <a:r>
              <a:rPr lang="es-CL" sz="7200" dirty="0">
                <a:ea typeface="Calibri"/>
                <a:cs typeface="Times New Roman"/>
              </a:rPr>
              <a:t>Aspectos ambientales.</a:t>
            </a:r>
          </a:p>
          <a:p>
            <a:pPr marL="685800" algn="just">
              <a:lnSpc>
                <a:spcPct val="115000"/>
              </a:lnSpc>
              <a:spcAft>
                <a:spcPts val="0"/>
              </a:spcAft>
            </a:pPr>
            <a:r>
              <a:rPr lang="es-CL" sz="7200" dirty="0">
                <a:ea typeface="Calibri"/>
                <a:cs typeface="Times New Roman"/>
              </a:rPr>
              <a:t>Requisitos legales y otros requisitos.</a:t>
            </a:r>
          </a:p>
          <a:p>
            <a:pPr marL="685800" algn="just">
              <a:lnSpc>
                <a:spcPct val="115000"/>
              </a:lnSpc>
              <a:spcAft>
                <a:spcPts val="0"/>
              </a:spcAft>
            </a:pPr>
            <a:r>
              <a:rPr lang="es-CL" sz="7200" dirty="0">
                <a:ea typeface="Calibri"/>
                <a:cs typeface="Times New Roman"/>
              </a:rPr>
              <a:t>Objetivos, metas y programas.</a:t>
            </a:r>
          </a:p>
          <a:p>
            <a:pPr marL="457200" lvl="1" indent="0" algn="just">
              <a:lnSpc>
                <a:spcPct val="115000"/>
              </a:lnSpc>
              <a:buNone/>
            </a:pPr>
            <a:r>
              <a:rPr lang="es-CL" sz="7200" dirty="0" smtClean="0">
                <a:ea typeface="Calibri"/>
                <a:cs typeface="Times New Roman"/>
              </a:rPr>
              <a:t>4.4. Implementación </a:t>
            </a:r>
            <a:r>
              <a:rPr lang="es-CL" sz="7200" dirty="0">
                <a:ea typeface="Calibri"/>
                <a:cs typeface="Times New Roman"/>
              </a:rPr>
              <a:t>y </a:t>
            </a:r>
            <a:r>
              <a:rPr lang="es-CL" sz="7200" dirty="0" smtClean="0">
                <a:ea typeface="Calibri"/>
                <a:cs typeface="Times New Roman"/>
              </a:rPr>
              <a:t>operaciones.</a:t>
            </a:r>
          </a:p>
          <a:p>
            <a:pPr marL="457200" lvl="1" indent="0" algn="just">
              <a:lnSpc>
                <a:spcPct val="115000"/>
              </a:lnSpc>
              <a:buNone/>
            </a:pPr>
            <a:r>
              <a:rPr lang="es-CL" sz="7200" dirty="0" smtClean="0">
                <a:ea typeface="Calibri"/>
                <a:cs typeface="Times New Roman"/>
              </a:rPr>
              <a:t>4.5. Verificación</a:t>
            </a:r>
            <a:r>
              <a:rPr lang="es-CL" sz="7200" dirty="0">
                <a:ea typeface="Calibri"/>
                <a:cs typeface="Times New Roman"/>
              </a:rPr>
              <a:t>.</a:t>
            </a:r>
          </a:p>
          <a:p>
            <a:pPr marL="457200" lvl="1" indent="0" algn="just">
              <a:lnSpc>
                <a:spcPct val="115000"/>
              </a:lnSpc>
              <a:buNone/>
            </a:pPr>
            <a:r>
              <a:rPr lang="es-CL" sz="7200" dirty="0" smtClean="0">
                <a:ea typeface="Calibri"/>
                <a:cs typeface="Times New Roman"/>
              </a:rPr>
              <a:t>4.6. Revisión </a:t>
            </a:r>
            <a:r>
              <a:rPr lang="es-CL" sz="7200" dirty="0">
                <a:ea typeface="Calibri"/>
                <a:cs typeface="Times New Roman"/>
              </a:rPr>
              <a:t>por la dirección.</a:t>
            </a:r>
          </a:p>
          <a:p>
            <a:pPr indent="0" algn="just">
              <a:lnSpc>
                <a:spcPct val="115000"/>
              </a:lnSpc>
              <a:spcAft>
                <a:spcPts val="1000"/>
              </a:spcAft>
              <a:buNone/>
            </a:pPr>
            <a:r>
              <a:rPr lang="es-CL" sz="7200" dirty="0">
                <a:ea typeface="Calibri"/>
                <a:cs typeface="Times New Roman"/>
              </a:rPr>
              <a:t> </a:t>
            </a:r>
          </a:p>
          <a:p>
            <a:pPr algn="just"/>
            <a:endParaRPr lang="es-CL" dirty="0"/>
          </a:p>
        </p:txBody>
      </p:sp>
    </p:spTree>
    <p:extLst>
      <p:ext uri="{BB962C8B-B14F-4D97-AF65-F5344CB8AC3E}">
        <p14:creationId xmlns:p14="http://schemas.microsoft.com/office/powerpoint/2010/main" val="1791802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476672"/>
            <a:ext cx="8229600" cy="778098"/>
          </a:xfrm>
        </p:spPr>
        <p:txBody>
          <a:bodyPr>
            <a:normAutofit/>
          </a:bodyPr>
          <a:lstStyle/>
          <a:p>
            <a:r>
              <a:rPr lang="es-CL" sz="2800" dirty="0" smtClean="0">
                <a:solidFill>
                  <a:srgbClr val="0000CC"/>
                </a:solidFill>
              </a:rPr>
              <a:t>LA NUEVA ISO 14001:2015</a:t>
            </a:r>
            <a:endParaRPr lang="es-CL" sz="2800" dirty="0">
              <a:solidFill>
                <a:srgbClr val="0000CC"/>
              </a:solidFill>
            </a:endParaRPr>
          </a:p>
        </p:txBody>
      </p:sp>
      <p:sp>
        <p:nvSpPr>
          <p:cNvPr id="3" name="2 Marcador de contenido"/>
          <p:cNvSpPr>
            <a:spLocks noGrp="1"/>
          </p:cNvSpPr>
          <p:nvPr>
            <p:ph idx="1"/>
          </p:nvPr>
        </p:nvSpPr>
        <p:spPr>
          <a:xfrm>
            <a:off x="467544" y="1484784"/>
            <a:ext cx="8229600" cy="5112568"/>
          </a:xfrm>
        </p:spPr>
        <p:txBody>
          <a:bodyPr>
            <a:normAutofit fontScale="70000" lnSpcReduction="20000"/>
          </a:bodyPr>
          <a:lstStyle/>
          <a:p>
            <a:pPr algn="just">
              <a:lnSpc>
                <a:spcPct val="115000"/>
              </a:lnSpc>
              <a:spcAft>
                <a:spcPts val="1000"/>
              </a:spcAft>
            </a:pPr>
            <a:r>
              <a:rPr lang="es-CL" dirty="0">
                <a:ea typeface="Calibri"/>
                <a:cs typeface="Times New Roman"/>
              </a:rPr>
              <a:t>La nueva ISO 14001:2015 presenta las siguientes novedades más importantes:</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Objeto y campo de aplicación.</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Referencias normativas.</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Términos y definiciones.</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Contexto de la organización.</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Liderazgo.</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Planificación.</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Soporte.</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Operación.</a:t>
            </a:r>
            <a:endParaRPr lang="es-CL" sz="1800" dirty="0">
              <a:ea typeface="Calibri"/>
              <a:cs typeface="Times New Roman"/>
            </a:endParaRPr>
          </a:p>
          <a:p>
            <a:pPr lvl="0" algn="just">
              <a:lnSpc>
                <a:spcPct val="115000"/>
              </a:lnSpc>
              <a:buFont typeface="+mj-lt"/>
              <a:buAutoNum type="arabicPeriod"/>
            </a:pPr>
            <a:r>
              <a:rPr lang="es-CL" dirty="0">
                <a:ea typeface="Calibri"/>
                <a:cs typeface="Times New Roman"/>
              </a:rPr>
              <a:t>Evaluación del desempeño.</a:t>
            </a:r>
            <a:endParaRPr lang="es-CL" sz="1800" dirty="0">
              <a:ea typeface="Calibri"/>
              <a:cs typeface="Times New Roman"/>
            </a:endParaRPr>
          </a:p>
          <a:p>
            <a:pPr lvl="0" algn="just">
              <a:lnSpc>
                <a:spcPct val="115000"/>
              </a:lnSpc>
              <a:spcAft>
                <a:spcPts val="1000"/>
              </a:spcAft>
              <a:buFont typeface="+mj-lt"/>
              <a:buAutoNum type="arabicPeriod"/>
            </a:pPr>
            <a:r>
              <a:rPr lang="es-CL" dirty="0" smtClean="0">
                <a:ea typeface="Calibri"/>
                <a:cs typeface="Times New Roman"/>
              </a:rPr>
              <a:t> Mejora</a:t>
            </a:r>
            <a:r>
              <a:rPr lang="es-CL" dirty="0">
                <a:ea typeface="Calibri"/>
                <a:cs typeface="Times New Roman"/>
              </a:rPr>
              <a:t>.</a:t>
            </a:r>
            <a:endParaRPr lang="es-CL" sz="1800" dirty="0">
              <a:ea typeface="Calibri"/>
              <a:cs typeface="Times New Roman"/>
            </a:endParaRPr>
          </a:p>
          <a:p>
            <a:endParaRPr lang="es-CL" dirty="0"/>
          </a:p>
        </p:txBody>
      </p:sp>
    </p:spTree>
    <p:extLst>
      <p:ext uri="{BB962C8B-B14F-4D97-AF65-F5344CB8AC3E}">
        <p14:creationId xmlns:p14="http://schemas.microsoft.com/office/powerpoint/2010/main" val="2569333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ALGUNAS MODIFICACIONES QUE PRESENTA </a:t>
            </a:r>
            <a:br>
              <a:rPr lang="es-CL" sz="2800" dirty="0" smtClean="0">
                <a:solidFill>
                  <a:srgbClr val="0000CC"/>
                </a:solidFill>
              </a:rPr>
            </a:br>
            <a:r>
              <a:rPr lang="es-CL" sz="2800" dirty="0" smtClean="0">
                <a:solidFill>
                  <a:srgbClr val="0000CC"/>
                </a:solidFill>
              </a:rPr>
              <a:t>LA NORMA ISO 14001:2015</a:t>
            </a:r>
            <a:endParaRPr lang="es-CL" sz="2800" dirty="0">
              <a:solidFill>
                <a:srgbClr val="0000CC"/>
              </a:solidFill>
            </a:endParaRPr>
          </a:p>
        </p:txBody>
      </p:sp>
      <p:sp>
        <p:nvSpPr>
          <p:cNvPr id="3" name="2 Marcador de contenido"/>
          <p:cNvSpPr>
            <a:spLocks noGrp="1"/>
          </p:cNvSpPr>
          <p:nvPr>
            <p:ph idx="1"/>
          </p:nvPr>
        </p:nvSpPr>
        <p:spPr>
          <a:xfrm>
            <a:off x="457200" y="1412776"/>
            <a:ext cx="8229600" cy="5112568"/>
          </a:xfrm>
        </p:spPr>
        <p:txBody>
          <a:bodyPr>
            <a:normAutofit lnSpcReduction="10000"/>
          </a:bodyPr>
          <a:lstStyle/>
          <a:p>
            <a:pPr algn="just">
              <a:lnSpc>
                <a:spcPct val="115000"/>
              </a:lnSpc>
              <a:spcAft>
                <a:spcPts val="1000"/>
              </a:spcAft>
            </a:pPr>
            <a:r>
              <a:rPr lang="es-CL" sz="2000" dirty="0">
                <a:ea typeface="Calibri"/>
                <a:cs typeface="Times New Roman"/>
              </a:rPr>
              <a:t>En la nueva ISO 14001:2015 se observan varias modificaciones, entre las que se pueden destacar las siguientes:</a:t>
            </a:r>
          </a:p>
          <a:p>
            <a:pPr lvl="0" algn="just">
              <a:lnSpc>
                <a:spcPct val="115000"/>
              </a:lnSpc>
              <a:buFont typeface="+mj-lt"/>
              <a:buAutoNum type="arabicPeriod"/>
            </a:pPr>
            <a:r>
              <a:rPr lang="es-CL" sz="2000" dirty="0">
                <a:ea typeface="Calibri"/>
                <a:cs typeface="Times New Roman"/>
              </a:rPr>
              <a:t>“Documento” y “registro” pasan a denominarse “información documentada”.</a:t>
            </a:r>
          </a:p>
          <a:p>
            <a:pPr lvl="0" algn="just">
              <a:lnSpc>
                <a:spcPct val="115000"/>
              </a:lnSpc>
              <a:buFont typeface="+mj-lt"/>
              <a:buAutoNum type="arabicPeriod"/>
            </a:pPr>
            <a:r>
              <a:rPr lang="es-CL" sz="2000" dirty="0">
                <a:ea typeface="Calibri"/>
                <a:cs typeface="Times New Roman"/>
              </a:rPr>
              <a:t>Ciclo de vida: se incorpora este concepto en los procesos de identificación y evaluación de impactos de carácter ambiental.</a:t>
            </a:r>
          </a:p>
          <a:p>
            <a:pPr lvl="0" algn="just">
              <a:lnSpc>
                <a:spcPct val="115000"/>
              </a:lnSpc>
              <a:buFont typeface="+mj-lt"/>
              <a:buAutoNum type="arabicPeriod"/>
            </a:pPr>
            <a:r>
              <a:rPr lang="es-CL" sz="2000" dirty="0">
                <a:ea typeface="Calibri"/>
                <a:cs typeface="Times New Roman"/>
              </a:rPr>
              <a:t>Se fomenta la mejora del desempeño ambiental por parte de la organización. </a:t>
            </a:r>
            <a:r>
              <a:rPr lang="es-CL" sz="2000" dirty="0" smtClean="0">
                <a:ea typeface="Calibri"/>
                <a:cs typeface="Times New Roman"/>
              </a:rPr>
              <a:t>La </a:t>
            </a:r>
            <a:r>
              <a:rPr lang="es-CL" sz="2000" dirty="0">
                <a:ea typeface="Calibri"/>
                <a:cs typeface="Times New Roman"/>
              </a:rPr>
              <a:t>organización deberá definir los criterios necesarios para </a:t>
            </a:r>
            <a:r>
              <a:rPr lang="es-CL" sz="2000" dirty="0" smtClean="0">
                <a:ea typeface="Calibri"/>
                <a:cs typeface="Times New Roman"/>
              </a:rPr>
              <a:t>evaluar el desempeño ambiental mediante </a:t>
            </a:r>
            <a:r>
              <a:rPr lang="es-CL" sz="2000" dirty="0">
                <a:ea typeface="Calibri"/>
                <a:cs typeface="Times New Roman"/>
              </a:rPr>
              <a:t>indicadores.</a:t>
            </a:r>
          </a:p>
          <a:p>
            <a:pPr lvl="0" algn="just">
              <a:lnSpc>
                <a:spcPct val="115000"/>
              </a:lnSpc>
              <a:buFont typeface="+mj-lt"/>
              <a:buAutoNum type="arabicPeriod"/>
            </a:pPr>
            <a:r>
              <a:rPr lang="es-CL" sz="2000" dirty="0">
                <a:ea typeface="Calibri"/>
                <a:cs typeface="Times New Roman"/>
              </a:rPr>
              <a:t>El papel de la alta dirección se ve impulsado.</a:t>
            </a:r>
          </a:p>
          <a:p>
            <a:pPr lvl="0" algn="just">
              <a:lnSpc>
                <a:spcPct val="115000"/>
              </a:lnSpc>
              <a:buFont typeface="+mj-lt"/>
              <a:buAutoNum type="arabicPeriod"/>
            </a:pPr>
            <a:r>
              <a:rPr lang="es-CL" sz="2000" dirty="0">
                <a:ea typeface="Calibri"/>
                <a:cs typeface="Times New Roman"/>
              </a:rPr>
              <a:t>La Política </a:t>
            </a:r>
            <a:r>
              <a:rPr lang="es-CL" sz="2000" dirty="0" smtClean="0">
                <a:ea typeface="Calibri"/>
                <a:cs typeface="Times New Roman"/>
              </a:rPr>
              <a:t>Ambiental </a:t>
            </a:r>
            <a:r>
              <a:rPr lang="es-CL" sz="2000" dirty="0">
                <a:ea typeface="Calibri"/>
                <a:cs typeface="Times New Roman"/>
              </a:rPr>
              <a:t>incorpora nuevos aspectos relacionados con la protección ambiental y el cambio climático.</a:t>
            </a:r>
          </a:p>
          <a:p>
            <a:pPr lvl="0" algn="just">
              <a:lnSpc>
                <a:spcPct val="115000"/>
              </a:lnSpc>
              <a:spcAft>
                <a:spcPts val="1000"/>
              </a:spcAft>
              <a:buFont typeface="+mj-lt"/>
              <a:buAutoNum type="arabicPeriod"/>
            </a:pPr>
            <a:r>
              <a:rPr lang="es-CL" sz="2000" dirty="0">
                <a:ea typeface="Calibri"/>
                <a:cs typeface="Times New Roman"/>
              </a:rPr>
              <a:t>Mejora de la comunicación interna y externa.</a:t>
            </a:r>
          </a:p>
          <a:p>
            <a:pPr marL="0" indent="0" algn="just">
              <a:lnSpc>
                <a:spcPct val="115000"/>
              </a:lnSpc>
              <a:spcAft>
                <a:spcPts val="1000"/>
              </a:spcAft>
              <a:buNone/>
            </a:pPr>
            <a:endParaRPr lang="es-CL" sz="1200" b="1" dirty="0">
              <a:ea typeface="Calibri"/>
              <a:cs typeface="Times New Roman"/>
            </a:endParaRPr>
          </a:p>
          <a:p>
            <a:endParaRPr lang="es-CL" sz="2000" dirty="0"/>
          </a:p>
        </p:txBody>
      </p:sp>
    </p:spTree>
    <p:extLst>
      <p:ext uri="{BB962C8B-B14F-4D97-AF65-F5344CB8AC3E}">
        <p14:creationId xmlns:p14="http://schemas.microsoft.com/office/powerpoint/2010/main" val="2425825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634082"/>
          </a:xfrm>
        </p:spPr>
        <p:txBody>
          <a:bodyPr>
            <a:normAutofit/>
          </a:bodyPr>
          <a:lstStyle/>
          <a:p>
            <a:r>
              <a:rPr lang="es-CL" sz="2800" dirty="0" smtClean="0">
                <a:solidFill>
                  <a:srgbClr val="0000CC"/>
                </a:solidFill>
              </a:rPr>
              <a:t>SISTEMA DE GESTIÓN AMBIENTAL (SGA)</a:t>
            </a:r>
            <a:endParaRPr lang="es-CL" sz="2800" dirty="0">
              <a:solidFill>
                <a:srgbClr val="0000CC"/>
              </a:solidFill>
            </a:endParaRPr>
          </a:p>
        </p:txBody>
      </p:sp>
      <p:sp>
        <p:nvSpPr>
          <p:cNvPr id="3" name="Marcador de contenido 2"/>
          <p:cNvSpPr>
            <a:spLocks noGrp="1"/>
          </p:cNvSpPr>
          <p:nvPr>
            <p:ph idx="1"/>
          </p:nvPr>
        </p:nvSpPr>
        <p:spPr>
          <a:xfrm>
            <a:off x="457200" y="908720"/>
            <a:ext cx="8229600" cy="5688632"/>
          </a:xfrm>
        </p:spPr>
        <p:txBody>
          <a:bodyPr>
            <a:normAutofit/>
          </a:bodyPr>
          <a:lstStyle/>
          <a:p>
            <a:pPr lvl="0" algn="just">
              <a:lnSpc>
                <a:spcPct val="115000"/>
              </a:lnSpc>
              <a:spcAft>
                <a:spcPts val="1000"/>
              </a:spcAft>
            </a:pPr>
            <a:r>
              <a:rPr lang="es-CL" sz="2400" dirty="0">
                <a:ea typeface="Calibri"/>
                <a:cs typeface="Times New Roman"/>
              </a:rPr>
              <a:t>El SGA es un </a:t>
            </a:r>
            <a:r>
              <a:rPr lang="es-CL" sz="2400" dirty="0" smtClean="0">
                <a:ea typeface="Calibri"/>
                <a:cs typeface="Times New Roman"/>
              </a:rPr>
              <a:t>sistema de </a:t>
            </a:r>
            <a:r>
              <a:rPr lang="es-CL" sz="2400" dirty="0">
                <a:ea typeface="Calibri"/>
                <a:cs typeface="Times New Roman"/>
              </a:rPr>
              <a:t>gestión </a:t>
            </a:r>
            <a:r>
              <a:rPr lang="es-CL" sz="2400" dirty="0" smtClean="0">
                <a:ea typeface="Calibri"/>
                <a:cs typeface="Times New Roman"/>
              </a:rPr>
              <a:t>estructurado que </a:t>
            </a:r>
            <a:r>
              <a:rPr lang="es-CL" sz="2400" dirty="0">
                <a:ea typeface="Calibri"/>
                <a:cs typeface="Times New Roman"/>
              </a:rPr>
              <a:t>incluye la estructura organizativa, la planificación de las actividades, las responsabilidades, las prácticas, los procesos, los procedimientos y los recursos para desarrollar, implantar, llevar a efecto, revisar y mantener al día los compromisos en materia de protección ambiental que suscribe una empresa.</a:t>
            </a:r>
          </a:p>
          <a:p>
            <a:pPr lvl="0" algn="just">
              <a:lnSpc>
                <a:spcPct val="115000"/>
              </a:lnSpc>
              <a:spcAft>
                <a:spcPts val="1000"/>
              </a:spcAft>
            </a:pPr>
            <a:r>
              <a:rPr lang="es-CL" sz="2400" dirty="0">
                <a:ea typeface="Calibri"/>
                <a:cs typeface="Times New Roman"/>
              </a:rPr>
              <a:t>La finalidad principal de un SGA es determinar qué elementos deben considerar las empresas en materia de protección </a:t>
            </a:r>
            <a:r>
              <a:rPr lang="es-CL" sz="2400" dirty="0" smtClean="0">
                <a:ea typeface="Calibri"/>
                <a:cs typeface="Times New Roman"/>
              </a:rPr>
              <a:t>ambiental, </a:t>
            </a:r>
            <a:r>
              <a:rPr lang="es-CL" sz="2400" dirty="0">
                <a:ea typeface="Calibri"/>
                <a:cs typeface="Times New Roman"/>
              </a:rPr>
              <a:t>para asegurar que en el desarrollo de sus actividades se tiene en cuenta la prevención y la minimización de los efectos sobre el entorno. </a:t>
            </a:r>
            <a:endParaRPr lang="es-CL" sz="2400" dirty="0" smtClean="0">
              <a:ea typeface="Calibri"/>
              <a:cs typeface="Times New Roman"/>
            </a:endParaRPr>
          </a:p>
          <a:p>
            <a:pPr marL="0" indent="0">
              <a:buNone/>
            </a:pPr>
            <a:endParaRPr lang="es-CL" dirty="0"/>
          </a:p>
        </p:txBody>
      </p:sp>
    </p:spTree>
    <p:extLst>
      <p:ext uri="{BB962C8B-B14F-4D97-AF65-F5344CB8AC3E}">
        <p14:creationId xmlns:p14="http://schemas.microsoft.com/office/powerpoint/2010/main" val="2859306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634082"/>
          </a:xfrm>
        </p:spPr>
        <p:txBody>
          <a:bodyPr>
            <a:normAutofit/>
          </a:bodyPr>
          <a:lstStyle/>
          <a:p>
            <a:r>
              <a:rPr lang="es-CL" sz="2800" dirty="0" smtClean="0">
                <a:solidFill>
                  <a:srgbClr val="0000CC"/>
                </a:solidFill>
              </a:rPr>
              <a:t>SISTEMA DE GESTIÓN AMBIENTAL (SGA)</a:t>
            </a:r>
            <a:endParaRPr lang="es-CL" sz="2800" dirty="0">
              <a:solidFill>
                <a:srgbClr val="0000CC"/>
              </a:solidFill>
            </a:endParaRPr>
          </a:p>
        </p:txBody>
      </p:sp>
      <p:sp>
        <p:nvSpPr>
          <p:cNvPr id="3" name="Marcador de contenido 2"/>
          <p:cNvSpPr>
            <a:spLocks noGrp="1"/>
          </p:cNvSpPr>
          <p:nvPr>
            <p:ph idx="1"/>
          </p:nvPr>
        </p:nvSpPr>
        <p:spPr>
          <a:xfrm>
            <a:off x="457200" y="908720"/>
            <a:ext cx="8229600" cy="5688632"/>
          </a:xfrm>
        </p:spPr>
        <p:txBody>
          <a:bodyPr>
            <a:normAutofit/>
          </a:bodyPr>
          <a:lstStyle/>
          <a:p>
            <a:pPr lvl="0" algn="just">
              <a:lnSpc>
                <a:spcPct val="115000"/>
              </a:lnSpc>
              <a:spcAft>
                <a:spcPts val="1000"/>
              </a:spcAft>
            </a:pPr>
            <a:r>
              <a:rPr lang="es-CL" sz="2400" dirty="0" smtClean="0">
                <a:solidFill>
                  <a:prstClr val="black"/>
                </a:solidFill>
                <a:ea typeface="Calibri"/>
                <a:cs typeface="Times New Roman"/>
              </a:rPr>
              <a:t>Existen modelos homologados de SGA formales, auditables por terceros y certificables. Algunos de estos tipos de sistemas toman como referencia la norma ISO 14001. </a:t>
            </a:r>
          </a:p>
          <a:p>
            <a:pPr lvl="0" algn="just">
              <a:lnSpc>
                <a:spcPct val="115000"/>
              </a:lnSpc>
              <a:spcAft>
                <a:spcPts val="1000"/>
              </a:spcAft>
            </a:pPr>
            <a:r>
              <a:rPr lang="es-CL" sz="2400" dirty="0" smtClean="0">
                <a:solidFill>
                  <a:prstClr val="black"/>
                </a:solidFill>
                <a:ea typeface="Calibri"/>
                <a:cs typeface="Times New Roman"/>
              </a:rPr>
              <a:t>Un SGA homologado facilita el establecimiento de un conjunto de pautas sistemáticas de comportamiento ambiental que ya han sido probadas por otras organizaciones y que permiten medir la actuación de la empresa con criterios aceptados internacionalmente; de manera que eventualmente la empresa pueda ser certificada bajo ese sistema como ocurre con la norma ISO 14001.</a:t>
            </a:r>
          </a:p>
          <a:p>
            <a:endParaRPr lang="es-CL" dirty="0"/>
          </a:p>
        </p:txBody>
      </p:sp>
    </p:spTree>
    <p:extLst>
      <p:ext uri="{BB962C8B-B14F-4D97-AF65-F5344CB8AC3E}">
        <p14:creationId xmlns:p14="http://schemas.microsoft.com/office/powerpoint/2010/main" val="15452191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noAutofit/>
          </a:bodyPr>
          <a:lstStyle/>
          <a:p>
            <a:r>
              <a:rPr lang="es-CL" sz="2400" dirty="0" smtClean="0">
                <a:solidFill>
                  <a:srgbClr val="0000CC"/>
                </a:solidFill>
              </a:rPr>
              <a:t>COMPROMISO DE LA ALTA DIRECCIÓN</a:t>
            </a:r>
            <a:endParaRPr lang="es-CL" sz="2400" dirty="0">
              <a:solidFill>
                <a:srgbClr val="0000CC"/>
              </a:solidFill>
            </a:endParaRPr>
          </a:p>
        </p:txBody>
      </p:sp>
      <p:sp>
        <p:nvSpPr>
          <p:cNvPr id="3" name="2 Marcador de contenido"/>
          <p:cNvSpPr>
            <a:spLocks noGrp="1"/>
          </p:cNvSpPr>
          <p:nvPr>
            <p:ph idx="1"/>
          </p:nvPr>
        </p:nvSpPr>
        <p:spPr>
          <a:xfrm>
            <a:off x="457200" y="1268760"/>
            <a:ext cx="8229600" cy="5184576"/>
          </a:xfrm>
        </p:spPr>
        <p:txBody>
          <a:bodyPr>
            <a:normAutofit lnSpcReduction="10000"/>
          </a:bodyPr>
          <a:lstStyle/>
          <a:p>
            <a:pPr algn="just">
              <a:lnSpc>
                <a:spcPct val="115000"/>
              </a:lnSpc>
              <a:spcAft>
                <a:spcPts val="1000"/>
              </a:spcAft>
            </a:pPr>
            <a:r>
              <a:rPr lang="es-CL" sz="2400" dirty="0">
                <a:ea typeface="Calibri"/>
                <a:cs typeface="Times New Roman"/>
              </a:rPr>
              <a:t>La puesta en práctica de un buen </a:t>
            </a:r>
            <a:r>
              <a:rPr lang="es-CL" sz="2400" dirty="0" smtClean="0">
                <a:ea typeface="Calibri"/>
                <a:cs typeface="Times New Roman"/>
              </a:rPr>
              <a:t>Sistema </a:t>
            </a:r>
            <a:r>
              <a:rPr lang="es-CL" sz="2400" dirty="0">
                <a:ea typeface="Calibri"/>
                <a:cs typeface="Times New Roman"/>
              </a:rPr>
              <a:t>de </a:t>
            </a:r>
            <a:r>
              <a:rPr lang="es-CL" sz="2400" dirty="0" smtClean="0">
                <a:ea typeface="Calibri"/>
                <a:cs typeface="Times New Roman"/>
              </a:rPr>
              <a:t>Gestión Ambiental </a:t>
            </a:r>
            <a:r>
              <a:rPr lang="es-CL" sz="2400" dirty="0">
                <a:ea typeface="Calibri"/>
                <a:cs typeface="Times New Roman"/>
              </a:rPr>
              <a:t>depende de un compromiso de todos los niveles de gerencia y los empleados, pero el compromiso de la alta dirección es de importancia máxima. Así, no es de sorprender que la norma ISO 14001 requiera que la alta dirección defina la política ambiental </a:t>
            </a:r>
            <a:r>
              <a:rPr lang="es-CL" sz="2400" dirty="0" smtClean="0">
                <a:ea typeface="Calibri"/>
                <a:cs typeface="Times New Roman"/>
              </a:rPr>
              <a:t>de </a:t>
            </a:r>
            <a:r>
              <a:rPr lang="es-CL" sz="2400" dirty="0">
                <a:ea typeface="Calibri"/>
                <a:cs typeface="Times New Roman"/>
              </a:rPr>
              <a:t>una </a:t>
            </a:r>
            <a:r>
              <a:rPr lang="es-CL" sz="2400" dirty="0" smtClean="0">
                <a:ea typeface="Calibri"/>
                <a:cs typeface="Times New Roman"/>
              </a:rPr>
              <a:t>organización.</a:t>
            </a:r>
            <a:endParaRPr lang="es-CL" sz="2400" dirty="0">
              <a:ea typeface="Calibri"/>
              <a:cs typeface="Times New Roman"/>
            </a:endParaRPr>
          </a:p>
          <a:p>
            <a:pPr algn="just">
              <a:lnSpc>
                <a:spcPct val="115000"/>
              </a:lnSpc>
              <a:spcAft>
                <a:spcPts val="1000"/>
              </a:spcAft>
            </a:pPr>
            <a:r>
              <a:rPr lang="es-CL" sz="2400" dirty="0">
                <a:ea typeface="Calibri"/>
                <a:cs typeface="Times New Roman"/>
              </a:rPr>
              <a:t>Las organizaciones que tengan instalaciones múltiples que sean administradas por separado, pueden considerar a su gerente general como la alta dirección de cada instalación.</a:t>
            </a:r>
          </a:p>
          <a:p>
            <a:pPr algn="just">
              <a:lnSpc>
                <a:spcPct val="115000"/>
              </a:lnSpc>
              <a:spcAft>
                <a:spcPts val="1000"/>
              </a:spcAft>
            </a:pPr>
            <a:r>
              <a:rPr lang="es-CL" sz="2400" dirty="0">
                <a:ea typeface="Calibri"/>
                <a:cs typeface="Times New Roman"/>
              </a:rPr>
              <a:t>La alta dirección debe asegurarse que la política ambiental sea puesta en práctica en toda la organización. </a:t>
            </a:r>
          </a:p>
          <a:p>
            <a:pPr algn="just"/>
            <a:endParaRPr lang="es-CL" sz="2000" dirty="0"/>
          </a:p>
        </p:txBody>
      </p:sp>
    </p:spTree>
    <p:extLst>
      <p:ext uri="{BB962C8B-B14F-4D97-AF65-F5344CB8AC3E}">
        <p14:creationId xmlns:p14="http://schemas.microsoft.com/office/powerpoint/2010/main" val="32836728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normAutofit/>
          </a:bodyPr>
          <a:lstStyle/>
          <a:p>
            <a:r>
              <a:rPr lang="es-CL" sz="2800" dirty="0" smtClean="0">
                <a:solidFill>
                  <a:srgbClr val="0000CC"/>
                </a:solidFill>
              </a:rPr>
              <a:t>POLÍTICA AMBIENTAL</a:t>
            </a:r>
            <a:endParaRPr lang="es-CL" sz="2800" dirty="0">
              <a:solidFill>
                <a:srgbClr val="0000CC"/>
              </a:solidFill>
            </a:endParaRPr>
          </a:p>
        </p:txBody>
      </p:sp>
      <p:sp>
        <p:nvSpPr>
          <p:cNvPr id="3" name="2 Marcador de contenido"/>
          <p:cNvSpPr>
            <a:spLocks noGrp="1"/>
          </p:cNvSpPr>
          <p:nvPr>
            <p:ph idx="1"/>
          </p:nvPr>
        </p:nvSpPr>
        <p:spPr>
          <a:xfrm>
            <a:off x="539552" y="1268760"/>
            <a:ext cx="8229600" cy="4752528"/>
          </a:xfrm>
        </p:spPr>
        <p:txBody>
          <a:bodyPr>
            <a:noAutofit/>
          </a:bodyPr>
          <a:lstStyle/>
          <a:p>
            <a:pPr algn="just">
              <a:lnSpc>
                <a:spcPct val="115000"/>
              </a:lnSpc>
              <a:spcAft>
                <a:spcPts val="1000"/>
              </a:spcAft>
            </a:pPr>
            <a:r>
              <a:rPr lang="es-CL" sz="2000" dirty="0">
                <a:ea typeface="Calibri"/>
                <a:cs typeface="Times New Roman"/>
              </a:rPr>
              <a:t>Es una declaración de las organizaciones de sus intenciones y principios en relación con su desempeño ambiental </a:t>
            </a:r>
            <a:r>
              <a:rPr lang="es-CL" sz="2000" dirty="0" smtClean="0">
                <a:ea typeface="Calibri"/>
                <a:cs typeface="Times New Roman"/>
              </a:rPr>
              <a:t>global, </a:t>
            </a:r>
            <a:r>
              <a:rPr lang="es-CL" sz="2000" dirty="0">
                <a:ea typeface="Calibri"/>
                <a:cs typeface="Times New Roman"/>
              </a:rPr>
              <a:t>que proporciona un marco de acción </a:t>
            </a:r>
            <a:r>
              <a:rPr lang="es-CL" sz="2000" dirty="0" smtClean="0">
                <a:ea typeface="Calibri"/>
                <a:cs typeface="Times New Roman"/>
              </a:rPr>
              <a:t>para </a:t>
            </a:r>
            <a:r>
              <a:rPr lang="es-CL" sz="2000" dirty="0">
                <a:ea typeface="Calibri"/>
                <a:cs typeface="Times New Roman"/>
              </a:rPr>
              <a:t>el establecimiento de sus objetivos y metas ambientales.</a:t>
            </a:r>
          </a:p>
          <a:p>
            <a:pPr algn="just">
              <a:lnSpc>
                <a:spcPct val="115000"/>
              </a:lnSpc>
              <a:spcAft>
                <a:spcPts val="1000"/>
              </a:spcAft>
            </a:pPr>
            <a:r>
              <a:rPr lang="es-CL" sz="2000" dirty="0" smtClean="0">
                <a:ea typeface="Calibri"/>
                <a:cs typeface="Times New Roman"/>
              </a:rPr>
              <a:t>Las </a:t>
            </a:r>
            <a:r>
              <a:rPr lang="es-CL" sz="2000" dirty="0">
                <a:ea typeface="Calibri"/>
                <a:cs typeface="Times New Roman"/>
              </a:rPr>
              <a:t>organizaciones con diversas unidades de operación pueden optar por considerar a cada organización por separado bajo la norma ISO 14001.</a:t>
            </a:r>
          </a:p>
          <a:p>
            <a:pPr algn="just">
              <a:lnSpc>
                <a:spcPct val="115000"/>
              </a:lnSpc>
              <a:spcAft>
                <a:spcPts val="1000"/>
              </a:spcAft>
            </a:pPr>
            <a:r>
              <a:rPr lang="es-CL" sz="2000" dirty="0">
                <a:ea typeface="Calibri"/>
                <a:cs typeface="Times New Roman"/>
              </a:rPr>
              <a:t>La política </a:t>
            </a:r>
            <a:r>
              <a:rPr lang="es-CL" sz="2000" dirty="0" smtClean="0">
                <a:ea typeface="Calibri"/>
                <a:cs typeface="Times New Roman"/>
              </a:rPr>
              <a:t>ambiental debe </a:t>
            </a:r>
            <a:r>
              <a:rPr lang="es-CL" sz="2000" dirty="0">
                <a:ea typeface="Calibri"/>
                <a:cs typeface="Times New Roman"/>
              </a:rPr>
              <a:t>aplicarse a las actividades, productos y servicios de la organización. Debe reflejar la misión de la empresa y sus valores y </a:t>
            </a:r>
            <a:r>
              <a:rPr lang="es-CL" sz="2000" dirty="0" smtClean="0">
                <a:ea typeface="Calibri"/>
                <a:cs typeface="Times New Roman"/>
              </a:rPr>
              <a:t>debe </a:t>
            </a:r>
            <a:r>
              <a:rPr lang="es-CL" sz="2000" dirty="0">
                <a:ea typeface="Calibri"/>
                <a:cs typeface="Times New Roman"/>
              </a:rPr>
              <a:t>mostrar compromiso, liderazgo y dirección para las iniciativas ambientales de la organización</a:t>
            </a:r>
            <a:r>
              <a:rPr lang="es-CL" sz="2000" dirty="0" smtClean="0">
                <a:ea typeface="Calibri"/>
                <a:cs typeface="Times New Roman"/>
              </a:rPr>
              <a:t>.</a:t>
            </a:r>
          </a:p>
          <a:p>
            <a:pPr algn="just">
              <a:lnSpc>
                <a:spcPct val="115000"/>
              </a:lnSpc>
              <a:spcAft>
                <a:spcPts val="1000"/>
              </a:spcAft>
            </a:pPr>
            <a:r>
              <a:rPr lang="es-MX" sz="2000" dirty="0">
                <a:ea typeface="Calibri"/>
                <a:cs typeface="Times New Roman"/>
              </a:rPr>
              <a:t>La política ambiental de la organización es definida por la alta gerencia.</a:t>
            </a:r>
          </a:p>
          <a:p>
            <a:pPr algn="just">
              <a:lnSpc>
                <a:spcPct val="115000"/>
              </a:lnSpc>
              <a:spcAft>
                <a:spcPts val="1000"/>
              </a:spcAft>
            </a:pPr>
            <a:endParaRPr lang="es-CL" sz="2000" dirty="0">
              <a:ea typeface="Calibri"/>
              <a:cs typeface="Times New Roman"/>
            </a:endParaRPr>
          </a:p>
          <a:p>
            <a:pPr marL="0" indent="0" algn="just">
              <a:lnSpc>
                <a:spcPct val="115000"/>
              </a:lnSpc>
              <a:spcAft>
                <a:spcPts val="1000"/>
              </a:spcAft>
              <a:buNone/>
            </a:pPr>
            <a:r>
              <a:rPr lang="es-CL" sz="2000" dirty="0">
                <a:ea typeface="Calibri"/>
                <a:cs typeface="Times New Roman"/>
              </a:rPr>
              <a:t> </a:t>
            </a:r>
          </a:p>
          <a:p>
            <a:pPr algn="just"/>
            <a:endParaRPr lang="es-CL" sz="1600" dirty="0"/>
          </a:p>
        </p:txBody>
      </p:sp>
    </p:spTree>
    <p:extLst>
      <p:ext uri="{BB962C8B-B14F-4D97-AF65-F5344CB8AC3E}">
        <p14:creationId xmlns:p14="http://schemas.microsoft.com/office/powerpoint/2010/main" val="327800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normAutofit/>
          </a:bodyPr>
          <a:lstStyle/>
          <a:p>
            <a:r>
              <a:rPr lang="es-CL" sz="2800" dirty="0" smtClean="0">
                <a:solidFill>
                  <a:srgbClr val="0000CC"/>
                </a:solidFill>
              </a:rPr>
              <a:t>POLÍTICA AMBIENTAL</a:t>
            </a:r>
            <a:endParaRPr lang="es-CL" sz="2800" dirty="0">
              <a:solidFill>
                <a:srgbClr val="0000CC"/>
              </a:solidFill>
            </a:endParaRPr>
          </a:p>
        </p:txBody>
      </p:sp>
      <p:sp>
        <p:nvSpPr>
          <p:cNvPr id="3" name="2 Marcador de contenido"/>
          <p:cNvSpPr>
            <a:spLocks noGrp="1"/>
          </p:cNvSpPr>
          <p:nvPr>
            <p:ph idx="1"/>
          </p:nvPr>
        </p:nvSpPr>
        <p:spPr>
          <a:xfrm>
            <a:off x="539552" y="1052736"/>
            <a:ext cx="8229600" cy="5616624"/>
          </a:xfrm>
        </p:spPr>
        <p:txBody>
          <a:bodyPr>
            <a:noAutofit/>
          </a:bodyPr>
          <a:lstStyle/>
          <a:p>
            <a:pPr algn="just">
              <a:lnSpc>
                <a:spcPct val="115000"/>
              </a:lnSpc>
              <a:spcAft>
                <a:spcPts val="1000"/>
              </a:spcAft>
            </a:pPr>
            <a:r>
              <a:rPr lang="es-MX" sz="2000" dirty="0" smtClean="0">
                <a:ea typeface="Calibri"/>
                <a:cs typeface="Times New Roman"/>
              </a:rPr>
              <a:t>La </a:t>
            </a:r>
            <a:r>
              <a:rPr lang="es-MX" sz="2000" dirty="0">
                <a:ea typeface="Calibri"/>
                <a:cs typeface="Times New Roman"/>
              </a:rPr>
              <a:t>Política </a:t>
            </a:r>
            <a:r>
              <a:rPr lang="es-MX" sz="2000" dirty="0" smtClean="0">
                <a:ea typeface="Calibri"/>
                <a:cs typeface="Times New Roman"/>
              </a:rPr>
              <a:t>Ambiental debe considerar aspectos </a:t>
            </a:r>
            <a:r>
              <a:rPr lang="es-MX" sz="2000" dirty="0">
                <a:ea typeface="Calibri"/>
                <a:cs typeface="Times New Roman"/>
              </a:rPr>
              <a:t>relacionados con la protección ambiental y el cambio climático</a:t>
            </a:r>
            <a:r>
              <a:rPr lang="es-MX" sz="2000" dirty="0" smtClean="0">
                <a:ea typeface="Calibri"/>
                <a:cs typeface="Times New Roman"/>
              </a:rPr>
              <a:t>.</a:t>
            </a:r>
            <a:endParaRPr lang="es-CL" sz="2000" dirty="0">
              <a:ea typeface="Calibri"/>
              <a:cs typeface="Times New Roman"/>
            </a:endParaRPr>
          </a:p>
          <a:p>
            <a:pPr algn="just">
              <a:lnSpc>
                <a:spcPct val="115000"/>
              </a:lnSpc>
              <a:spcAft>
                <a:spcPts val="1000"/>
              </a:spcAft>
            </a:pPr>
            <a:r>
              <a:rPr lang="es-CL" sz="2000" dirty="0" smtClean="0">
                <a:ea typeface="Calibri"/>
                <a:cs typeface="Times New Roman"/>
              </a:rPr>
              <a:t>La </a:t>
            </a:r>
            <a:r>
              <a:rPr lang="es-CL" sz="2000" dirty="0">
                <a:ea typeface="Calibri"/>
                <a:cs typeface="Times New Roman"/>
              </a:rPr>
              <a:t>política ambiental </a:t>
            </a:r>
            <a:r>
              <a:rPr lang="es-CL" sz="2000" dirty="0" smtClean="0">
                <a:ea typeface="Calibri"/>
                <a:cs typeface="Times New Roman"/>
              </a:rPr>
              <a:t>tiene que ser apropiada y debe </a:t>
            </a:r>
            <a:r>
              <a:rPr lang="es-CL" sz="2000" dirty="0">
                <a:ea typeface="Calibri"/>
                <a:cs typeface="Times New Roman"/>
              </a:rPr>
              <a:t>incluir un compromiso: a)  de mejoramiento continuo; b) de prevención de la contaminación; c) de cumplimiento con la legislación y reglamentos ambientales aplicables; y d) de cumplimiento con otros requerimientos suscritos por la organización.</a:t>
            </a:r>
          </a:p>
          <a:p>
            <a:pPr algn="just">
              <a:lnSpc>
                <a:spcPct val="115000"/>
              </a:lnSpc>
              <a:spcAft>
                <a:spcPts val="1000"/>
              </a:spcAft>
            </a:pPr>
            <a:r>
              <a:rPr lang="es-CL" sz="2000" dirty="0">
                <a:ea typeface="Calibri"/>
                <a:cs typeface="Times New Roman"/>
              </a:rPr>
              <a:t>La política ambiental debe proporcionar un marco para establecer y revisar los objetivos y metas ambientales.</a:t>
            </a:r>
          </a:p>
          <a:p>
            <a:pPr algn="just">
              <a:lnSpc>
                <a:spcPct val="115000"/>
              </a:lnSpc>
              <a:spcAft>
                <a:spcPts val="1000"/>
              </a:spcAft>
            </a:pPr>
            <a:r>
              <a:rPr lang="es-CL" sz="2000" dirty="0">
                <a:ea typeface="Calibri"/>
                <a:cs typeface="Times New Roman"/>
              </a:rPr>
              <a:t>La política ambiental debe estar documentada y puesta en práctica.</a:t>
            </a:r>
          </a:p>
          <a:p>
            <a:pPr algn="just">
              <a:lnSpc>
                <a:spcPct val="115000"/>
              </a:lnSpc>
              <a:spcAft>
                <a:spcPts val="1000"/>
              </a:spcAft>
            </a:pPr>
            <a:r>
              <a:rPr lang="es-CL" sz="2000" dirty="0">
                <a:ea typeface="Calibri"/>
                <a:cs typeface="Times New Roman"/>
              </a:rPr>
              <a:t>La política ambiental debe ser comunicada a todos los empleados y estar disponible para el público.</a:t>
            </a:r>
          </a:p>
          <a:p>
            <a:pPr marL="0" indent="0" algn="just">
              <a:lnSpc>
                <a:spcPct val="115000"/>
              </a:lnSpc>
              <a:spcAft>
                <a:spcPts val="1000"/>
              </a:spcAft>
              <a:buNone/>
            </a:pPr>
            <a:r>
              <a:rPr lang="es-CL" sz="1600" dirty="0">
                <a:ea typeface="Calibri"/>
                <a:cs typeface="Times New Roman"/>
              </a:rPr>
              <a:t> </a:t>
            </a:r>
            <a:endParaRPr lang="es-CL" sz="1050" dirty="0">
              <a:ea typeface="Calibri"/>
              <a:cs typeface="Times New Roman"/>
            </a:endParaRPr>
          </a:p>
          <a:p>
            <a:pPr algn="just"/>
            <a:endParaRPr lang="es-CL" sz="1600" dirty="0"/>
          </a:p>
        </p:txBody>
      </p:sp>
    </p:spTree>
    <p:extLst>
      <p:ext uri="{BB962C8B-B14F-4D97-AF65-F5344CB8AC3E}">
        <p14:creationId xmlns:p14="http://schemas.microsoft.com/office/powerpoint/2010/main" val="36462859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562074"/>
          </a:xfrm>
        </p:spPr>
        <p:txBody>
          <a:bodyPr>
            <a:normAutofit/>
          </a:bodyPr>
          <a:lstStyle/>
          <a:p>
            <a:r>
              <a:rPr lang="es-CL" sz="2800" dirty="0" smtClean="0">
                <a:solidFill>
                  <a:srgbClr val="0000CC"/>
                </a:solidFill>
              </a:rPr>
              <a:t>PLANIFICACIÓN</a:t>
            </a:r>
            <a:endParaRPr lang="es-CL" sz="2800" dirty="0">
              <a:solidFill>
                <a:srgbClr val="0000CC"/>
              </a:solidFill>
            </a:endParaRPr>
          </a:p>
        </p:txBody>
      </p:sp>
      <p:sp>
        <p:nvSpPr>
          <p:cNvPr id="3" name="2 Marcador de contenido"/>
          <p:cNvSpPr>
            <a:spLocks noGrp="1"/>
          </p:cNvSpPr>
          <p:nvPr>
            <p:ph idx="1"/>
          </p:nvPr>
        </p:nvSpPr>
        <p:spPr>
          <a:xfrm>
            <a:off x="467544" y="1268760"/>
            <a:ext cx="8229600" cy="4464496"/>
          </a:xfrm>
        </p:spPr>
        <p:txBody>
          <a:bodyPr>
            <a:noAutofit/>
          </a:bodyPr>
          <a:lstStyle/>
          <a:p>
            <a:pPr algn="just">
              <a:lnSpc>
                <a:spcPct val="115000"/>
              </a:lnSpc>
              <a:spcAft>
                <a:spcPts val="1000"/>
              </a:spcAft>
            </a:pPr>
            <a:r>
              <a:rPr lang="es-CL" sz="1800" dirty="0" smtClean="0">
                <a:ea typeface="Calibri"/>
                <a:cs typeface="Times New Roman"/>
              </a:rPr>
              <a:t>Una </a:t>
            </a:r>
            <a:r>
              <a:rPr lang="es-CL" sz="1800" dirty="0">
                <a:ea typeface="Calibri"/>
                <a:cs typeface="Times New Roman"/>
              </a:rPr>
              <a:t>vez que la política ambiental ha sido establecida, la norma ISO 14001 requiere que la organización desarrolle un plan para cumplir esa política. </a:t>
            </a:r>
          </a:p>
          <a:p>
            <a:pPr algn="just">
              <a:lnSpc>
                <a:spcPct val="115000"/>
              </a:lnSpc>
              <a:spcAft>
                <a:spcPts val="1000"/>
              </a:spcAft>
            </a:pPr>
            <a:r>
              <a:rPr lang="es-CL" sz="1800" dirty="0">
                <a:ea typeface="Calibri"/>
                <a:cs typeface="Times New Roman"/>
              </a:rPr>
              <a:t>La sección de planificación de la norma ISO 14001 requiere que la organización:</a:t>
            </a:r>
          </a:p>
          <a:p>
            <a:pPr lvl="0" algn="just">
              <a:lnSpc>
                <a:spcPct val="115000"/>
              </a:lnSpc>
              <a:buFont typeface="+mj-lt"/>
              <a:buAutoNum type="alphaLcParenR"/>
            </a:pPr>
            <a:r>
              <a:rPr lang="es-CL" sz="1800" dirty="0">
                <a:ea typeface="Calibri"/>
                <a:cs typeface="Times New Roman"/>
              </a:rPr>
              <a:t>Establezca un procedimiento para identificar los aspectos ambientales de sus operaciones.</a:t>
            </a:r>
          </a:p>
          <a:p>
            <a:pPr lvl="0" algn="just">
              <a:lnSpc>
                <a:spcPct val="115000"/>
              </a:lnSpc>
              <a:buFont typeface="+mj-lt"/>
              <a:buAutoNum type="alphaLcParenR"/>
            </a:pPr>
            <a:r>
              <a:rPr lang="es-CL" sz="1800" dirty="0">
                <a:ea typeface="Calibri"/>
                <a:cs typeface="Times New Roman"/>
              </a:rPr>
              <a:t>Establezca un procedimiento para identificar los requerimientos legales y otros suscritos por la organización.</a:t>
            </a:r>
          </a:p>
          <a:p>
            <a:pPr lvl="0" algn="just">
              <a:lnSpc>
                <a:spcPct val="115000"/>
              </a:lnSpc>
              <a:buFont typeface="+mj-lt"/>
              <a:buAutoNum type="alphaLcParenR"/>
            </a:pPr>
            <a:r>
              <a:rPr lang="es-CL" sz="1800" dirty="0">
                <a:ea typeface="Calibri"/>
                <a:cs typeface="Times New Roman"/>
              </a:rPr>
              <a:t>Establezca y mantenga objetivos y metas ambientales documentados en cada función y nivel relevante dentro de la organización.</a:t>
            </a:r>
          </a:p>
          <a:p>
            <a:pPr lvl="0" algn="just">
              <a:lnSpc>
                <a:spcPct val="115000"/>
              </a:lnSpc>
              <a:buFont typeface="+mj-lt"/>
              <a:buAutoNum type="alphaLcParenR"/>
            </a:pPr>
            <a:r>
              <a:rPr lang="es-CL" sz="1800" dirty="0">
                <a:ea typeface="Calibri"/>
                <a:cs typeface="Times New Roman"/>
              </a:rPr>
              <a:t>Establezca y mantenga un programa ambiental para alcanzar los objetivos y metas.</a:t>
            </a:r>
          </a:p>
          <a:p>
            <a:pPr marL="114300" indent="0" algn="just">
              <a:lnSpc>
                <a:spcPct val="115000"/>
              </a:lnSpc>
              <a:spcAft>
                <a:spcPts val="1000"/>
              </a:spcAft>
              <a:buNone/>
            </a:pPr>
            <a:r>
              <a:rPr lang="es-CL" sz="1800" dirty="0">
                <a:ea typeface="Calibri"/>
                <a:cs typeface="Times New Roman"/>
              </a:rPr>
              <a:t> </a:t>
            </a:r>
          </a:p>
          <a:p>
            <a:pPr algn="just"/>
            <a:endParaRPr lang="es-CL" sz="1600" dirty="0"/>
          </a:p>
        </p:txBody>
      </p:sp>
    </p:spTree>
    <p:extLst>
      <p:ext uri="{BB962C8B-B14F-4D97-AF65-F5344CB8AC3E}">
        <p14:creationId xmlns:p14="http://schemas.microsoft.com/office/powerpoint/2010/main" val="37081045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ASPECTOS AMBIENTALES E IMPACTOS AMBIENTALES</a:t>
            </a:r>
            <a:endParaRPr lang="es-CL" sz="2800" dirty="0">
              <a:solidFill>
                <a:srgbClr val="0000CC"/>
              </a:solidFill>
            </a:endParaRPr>
          </a:p>
        </p:txBody>
      </p:sp>
      <p:sp>
        <p:nvSpPr>
          <p:cNvPr id="3" name="2 Marcador de contenido"/>
          <p:cNvSpPr>
            <a:spLocks noGrp="1"/>
          </p:cNvSpPr>
          <p:nvPr>
            <p:ph idx="1"/>
          </p:nvPr>
        </p:nvSpPr>
        <p:spPr>
          <a:xfrm>
            <a:off x="467544" y="1268760"/>
            <a:ext cx="8229600" cy="4752528"/>
          </a:xfrm>
        </p:spPr>
        <p:txBody>
          <a:bodyPr>
            <a:normAutofit fontScale="77500" lnSpcReduction="20000"/>
          </a:bodyPr>
          <a:lstStyle/>
          <a:p>
            <a:pPr algn="just">
              <a:lnSpc>
                <a:spcPct val="115000"/>
              </a:lnSpc>
              <a:spcAft>
                <a:spcPts val="1000"/>
              </a:spcAft>
            </a:pPr>
            <a:r>
              <a:rPr lang="es-CL" sz="2600" dirty="0">
                <a:ea typeface="Calibri"/>
                <a:cs typeface="Times New Roman"/>
              </a:rPr>
              <a:t>Una consideración importante al poner en práctica la norma ISO 14001 es la relación entre los aspectos ambientales, los impactos ambientales y el S</a:t>
            </a:r>
            <a:r>
              <a:rPr lang="es-CL" sz="2600" dirty="0" smtClean="0">
                <a:ea typeface="Calibri"/>
                <a:cs typeface="Times New Roman"/>
              </a:rPr>
              <a:t>istema </a:t>
            </a:r>
            <a:r>
              <a:rPr lang="es-CL" sz="2600" dirty="0">
                <a:ea typeface="Calibri"/>
                <a:cs typeface="Times New Roman"/>
              </a:rPr>
              <a:t>de </a:t>
            </a:r>
            <a:r>
              <a:rPr lang="es-CL" sz="2600" dirty="0" smtClean="0">
                <a:ea typeface="Calibri"/>
                <a:cs typeface="Times New Roman"/>
              </a:rPr>
              <a:t>Gestión Ambiental</a:t>
            </a:r>
            <a:r>
              <a:rPr lang="es-CL" sz="2600" dirty="0">
                <a:ea typeface="Calibri"/>
                <a:cs typeface="Times New Roman"/>
              </a:rPr>
              <a:t>.</a:t>
            </a:r>
          </a:p>
          <a:p>
            <a:pPr algn="just">
              <a:lnSpc>
                <a:spcPct val="115000"/>
              </a:lnSpc>
              <a:spcAft>
                <a:spcPts val="1000"/>
              </a:spcAft>
            </a:pPr>
            <a:r>
              <a:rPr lang="es-CL" sz="2600" dirty="0">
                <a:ea typeface="Calibri"/>
                <a:cs typeface="Times New Roman"/>
              </a:rPr>
              <a:t>Un aspecto ambiental es cualquier elemento de las actividades, productos y servicios de una organización que puedan interactuar con el medio ambiente. Un aspecto ambiental significativo es aquel que tiene o puede tener un impacto ambiental significativo.</a:t>
            </a:r>
          </a:p>
          <a:p>
            <a:pPr algn="just">
              <a:lnSpc>
                <a:spcPct val="115000"/>
              </a:lnSpc>
              <a:spcAft>
                <a:spcPts val="1000"/>
              </a:spcAft>
            </a:pPr>
            <a:r>
              <a:rPr lang="es-CL" sz="2600" dirty="0">
                <a:ea typeface="Calibri"/>
                <a:cs typeface="Times New Roman"/>
              </a:rPr>
              <a:t>Un impacto ambiental es cualquier cambio en el medio ambiente, </a:t>
            </a:r>
            <a:r>
              <a:rPr lang="es-CL" sz="2600" dirty="0" smtClean="0">
                <a:ea typeface="Calibri"/>
                <a:cs typeface="Times New Roman"/>
              </a:rPr>
              <a:t>resultante </a:t>
            </a:r>
            <a:r>
              <a:rPr lang="es-CL" sz="2600" dirty="0">
                <a:ea typeface="Calibri"/>
                <a:cs typeface="Times New Roman"/>
              </a:rPr>
              <a:t>de las actividades, productos o servicios de una organización. </a:t>
            </a:r>
            <a:endParaRPr lang="es-CL" sz="2600" dirty="0" smtClean="0">
              <a:ea typeface="Calibri"/>
              <a:cs typeface="Times New Roman"/>
            </a:endParaRPr>
          </a:p>
          <a:p>
            <a:pPr algn="just">
              <a:lnSpc>
                <a:spcPct val="115000"/>
              </a:lnSpc>
              <a:spcAft>
                <a:spcPts val="1000"/>
              </a:spcAft>
            </a:pPr>
            <a:r>
              <a:rPr lang="es-CL" sz="2600" dirty="0">
                <a:ea typeface="Calibri"/>
                <a:cs typeface="Times New Roman"/>
              </a:rPr>
              <a:t>En esencia, los elementos del </a:t>
            </a:r>
            <a:r>
              <a:rPr lang="es-CL" sz="2600" dirty="0" smtClean="0">
                <a:ea typeface="Calibri"/>
                <a:cs typeface="Times New Roman"/>
              </a:rPr>
              <a:t>Sistema </a:t>
            </a:r>
            <a:r>
              <a:rPr lang="es-CL" sz="2600" dirty="0">
                <a:ea typeface="Calibri"/>
                <a:cs typeface="Times New Roman"/>
              </a:rPr>
              <a:t>de </a:t>
            </a:r>
            <a:r>
              <a:rPr lang="es-CL" sz="2600" dirty="0" smtClean="0">
                <a:ea typeface="Calibri"/>
                <a:cs typeface="Times New Roman"/>
              </a:rPr>
              <a:t>Gestión Ambiental </a:t>
            </a:r>
            <a:r>
              <a:rPr lang="es-CL" sz="2600" dirty="0">
                <a:ea typeface="Calibri"/>
                <a:cs typeface="Times New Roman"/>
              </a:rPr>
              <a:t>son conformados y puestos en práctica alrededor de los aspectos ambientales de la organización y sus impactos ambientales.</a:t>
            </a:r>
          </a:p>
          <a:p>
            <a:pPr algn="just">
              <a:lnSpc>
                <a:spcPct val="115000"/>
              </a:lnSpc>
              <a:spcAft>
                <a:spcPts val="1000"/>
              </a:spcAft>
            </a:pPr>
            <a:endParaRPr lang="es-CL" sz="2600" dirty="0">
              <a:ea typeface="Calibri"/>
              <a:cs typeface="Times New Roman"/>
            </a:endParaRPr>
          </a:p>
          <a:p>
            <a:endParaRPr lang="es-CL" sz="2600" dirty="0"/>
          </a:p>
        </p:txBody>
      </p:sp>
    </p:spTree>
    <p:extLst>
      <p:ext uri="{BB962C8B-B14F-4D97-AF65-F5344CB8AC3E}">
        <p14:creationId xmlns:p14="http://schemas.microsoft.com/office/powerpoint/2010/main" val="24455405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ASPECTOS AMBIENTALES E IMPACTOS AMBIENTALES</a:t>
            </a:r>
            <a:endParaRPr lang="es-CL" sz="2800" dirty="0">
              <a:solidFill>
                <a:srgbClr val="0000CC"/>
              </a:solidFill>
            </a:endParaRPr>
          </a:p>
        </p:txBody>
      </p:sp>
      <p:sp>
        <p:nvSpPr>
          <p:cNvPr id="3" name="2 Marcador de contenido"/>
          <p:cNvSpPr>
            <a:spLocks noGrp="1"/>
          </p:cNvSpPr>
          <p:nvPr>
            <p:ph idx="1"/>
          </p:nvPr>
        </p:nvSpPr>
        <p:spPr>
          <a:xfrm>
            <a:off x="467544" y="1268760"/>
            <a:ext cx="8229600" cy="5112568"/>
          </a:xfrm>
        </p:spPr>
        <p:txBody>
          <a:bodyPr>
            <a:normAutofit fontScale="77500" lnSpcReduction="20000"/>
          </a:bodyPr>
          <a:lstStyle/>
          <a:p>
            <a:pPr algn="just">
              <a:lnSpc>
                <a:spcPct val="115000"/>
              </a:lnSpc>
              <a:spcAft>
                <a:spcPts val="1000"/>
              </a:spcAft>
            </a:pPr>
            <a:r>
              <a:rPr lang="es-CL" sz="2800" dirty="0">
                <a:ea typeface="Calibri"/>
                <a:cs typeface="Times New Roman"/>
              </a:rPr>
              <a:t>Debe existir un procedimiento establecido y mantenido para identificar los aspectos ambientales de la organización con el fin de determinar cuáles aspectos tienen impacto significativo en el medio ambiente.</a:t>
            </a:r>
            <a:endParaRPr lang="es-CL" sz="1600" dirty="0">
              <a:ea typeface="Calibri"/>
              <a:cs typeface="Times New Roman"/>
            </a:endParaRPr>
          </a:p>
          <a:p>
            <a:pPr algn="just">
              <a:lnSpc>
                <a:spcPct val="115000"/>
              </a:lnSpc>
              <a:spcAft>
                <a:spcPts val="1000"/>
              </a:spcAft>
            </a:pPr>
            <a:r>
              <a:rPr lang="es-CL" sz="2800" dirty="0">
                <a:ea typeface="Calibri"/>
                <a:cs typeface="Times New Roman"/>
              </a:rPr>
              <a:t>Los aspectos </a:t>
            </a:r>
            <a:r>
              <a:rPr lang="es-CL" sz="2800" dirty="0" smtClean="0">
                <a:ea typeface="Calibri"/>
                <a:cs typeface="Times New Roman"/>
              </a:rPr>
              <a:t>ambientales significativos </a:t>
            </a:r>
            <a:r>
              <a:rPr lang="es-CL" sz="2800" dirty="0">
                <a:ea typeface="Calibri"/>
                <a:cs typeface="Times New Roman"/>
              </a:rPr>
              <a:t>se consideran al establecer objetivos ambientales. Por lo tanto, la información relativa a los aspectos ambientales importantes debe mantenerse al día.</a:t>
            </a:r>
            <a:endParaRPr lang="es-CL" sz="1600" dirty="0">
              <a:ea typeface="Calibri"/>
              <a:cs typeface="Times New Roman"/>
            </a:endParaRPr>
          </a:p>
          <a:p>
            <a:pPr algn="just">
              <a:lnSpc>
                <a:spcPct val="115000"/>
              </a:lnSpc>
              <a:spcAft>
                <a:spcPts val="1000"/>
              </a:spcAft>
            </a:pPr>
            <a:r>
              <a:rPr lang="es-CL" sz="2800" dirty="0">
                <a:ea typeface="Calibri"/>
                <a:cs typeface="Times New Roman"/>
              </a:rPr>
              <a:t>Si una organización no tiene aspectos ambientales, no existe la necesidad de poner el S</a:t>
            </a:r>
            <a:r>
              <a:rPr lang="es-CL" sz="2800" dirty="0" smtClean="0">
                <a:ea typeface="Calibri"/>
                <a:cs typeface="Times New Roman"/>
              </a:rPr>
              <a:t>istema </a:t>
            </a:r>
            <a:r>
              <a:rPr lang="es-CL" sz="2800" dirty="0">
                <a:ea typeface="Calibri"/>
                <a:cs typeface="Times New Roman"/>
              </a:rPr>
              <a:t>de </a:t>
            </a:r>
            <a:r>
              <a:rPr lang="es-CL" sz="2800" dirty="0" smtClean="0">
                <a:ea typeface="Calibri"/>
                <a:cs typeface="Times New Roman"/>
              </a:rPr>
              <a:t>Gestión Ambiental </a:t>
            </a:r>
            <a:r>
              <a:rPr lang="es-CL" sz="2800" dirty="0">
                <a:ea typeface="Calibri"/>
                <a:cs typeface="Times New Roman"/>
              </a:rPr>
              <a:t>en práctica. Sin embargo, si una organización tiene aspectos ambientales numerosos y muchos de ellos son importantes, entonces tendrá que tener un </a:t>
            </a:r>
            <a:r>
              <a:rPr lang="es-CL" sz="2800" dirty="0" smtClean="0">
                <a:ea typeface="Calibri"/>
                <a:cs typeface="Times New Roman"/>
              </a:rPr>
              <a:t>Sistema </a:t>
            </a:r>
            <a:r>
              <a:rPr lang="es-CL" sz="2800" dirty="0">
                <a:ea typeface="Calibri"/>
                <a:cs typeface="Times New Roman"/>
              </a:rPr>
              <a:t>de </a:t>
            </a:r>
            <a:r>
              <a:rPr lang="es-CL" sz="2800" dirty="0" smtClean="0">
                <a:ea typeface="Calibri"/>
                <a:cs typeface="Times New Roman"/>
              </a:rPr>
              <a:t>Gestión Ambiental </a:t>
            </a:r>
            <a:r>
              <a:rPr lang="es-CL" sz="2800" dirty="0">
                <a:ea typeface="Calibri"/>
                <a:cs typeface="Times New Roman"/>
              </a:rPr>
              <a:t>cada vez más sofisticado.</a:t>
            </a:r>
            <a:endParaRPr lang="es-CL" sz="1600" dirty="0">
              <a:ea typeface="Calibri"/>
              <a:cs typeface="Times New Roman"/>
            </a:endParaRPr>
          </a:p>
          <a:p>
            <a:pPr algn="just">
              <a:lnSpc>
                <a:spcPct val="115000"/>
              </a:lnSpc>
              <a:spcAft>
                <a:spcPts val="1000"/>
              </a:spcAft>
            </a:pPr>
            <a:endParaRPr lang="es-CL" sz="2600" dirty="0">
              <a:ea typeface="Calibri"/>
              <a:cs typeface="Times New Roman"/>
            </a:endParaRPr>
          </a:p>
          <a:p>
            <a:endParaRPr lang="es-CL" sz="2600" dirty="0"/>
          </a:p>
        </p:txBody>
      </p:sp>
    </p:spTree>
    <p:extLst>
      <p:ext uri="{BB962C8B-B14F-4D97-AF65-F5344CB8AC3E}">
        <p14:creationId xmlns:p14="http://schemas.microsoft.com/office/powerpoint/2010/main" val="4244588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nSpc>
                <a:spcPct val="115000"/>
              </a:lnSpc>
              <a:spcAft>
                <a:spcPts val="1000"/>
              </a:spcAft>
            </a:pPr>
            <a:r>
              <a:rPr lang="es-CL" sz="2800" dirty="0">
                <a:solidFill>
                  <a:srgbClr val="0000CC"/>
                </a:solidFill>
                <a:ea typeface="Calibri"/>
                <a:cs typeface="Times New Roman"/>
              </a:rPr>
              <a:t>REQUISITOS LEGALES </a:t>
            </a:r>
            <a:r>
              <a:rPr lang="es-CL" sz="2800" dirty="0" smtClean="0">
                <a:solidFill>
                  <a:srgbClr val="0000CC"/>
                </a:solidFill>
                <a:ea typeface="Calibri"/>
                <a:cs typeface="Times New Roman"/>
              </a:rPr>
              <a:t/>
            </a:r>
            <a:br>
              <a:rPr lang="es-CL" sz="2800" dirty="0" smtClean="0">
                <a:solidFill>
                  <a:srgbClr val="0000CC"/>
                </a:solidFill>
                <a:ea typeface="Calibri"/>
                <a:cs typeface="Times New Roman"/>
              </a:rPr>
            </a:br>
            <a:r>
              <a:rPr lang="es-CL" sz="2800" dirty="0" smtClean="0">
                <a:solidFill>
                  <a:srgbClr val="0000CC"/>
                </a:solidFill>
                <a:ea typeface="Calibri"/>
                <a:cs typeface="Times New Roman"/>
              </a:rPr>
              <a:t>Y </a:t>
            </a:r>
            <a:r>
              <a:rPr lang="es-CL" sz="2800" dirty="0">
                <a:solidFill>
                  <a:srgbClr val="0000CC"/>
                </a:solidFill>
                <a:ea typeface="Calibri"/>
                <a:cs typeface="Times New Roman"/>
              </a:rPr>
              <a:t>OTROS SUSCRITOS POR LA ORGANIZACIÓN</a:t>
            </a:r>
            <a:r>
              <a:rPr lang="es-CL" sz="1600" dirty="0">
                <a:solidFill>
                  <a:srgbClr val="0000CC"/>
                </a:solidFill>
                <a:ea typeface="Calibri"/>
                <a:cs typeface="Times New Roman"/>
              </a:rPr>
              <a:t/>
            </a:r>
            <a:br>
              <a:rPr lang="es-CL" sz="1600" dirty="0">
                <a:solidFill>
                  <a:srgbClr val="0000CC"/>
                </a:solidFill>
                <a:ea typeface="Calibri"/>
                <a:cs typeface="Times New Roman"/>
              </a:rPr>
            </a:br>
            <a:endParaRPr lang="es-CL" sz="2800" dirty="0">
              <a:solidFill>
                <a:srgbClr val="0000CC"/>
              </a:solidFill>
            </a:endParaRPr>
          </a:p>
        </p:txBody>
      </p:sp>
      <p:sp>
        <p:nvSpPr>
          <p:cNvPr id="3" name="2 Marcador de contenido"/>
          <p:cNvSpPr>
            <a:spLocks noGrp="1"/>
          </p:cNvSpPr>
          <p:nvPr>
            <p:ph idx="1"/>
          </p:nvPr>
        </p:nvSpPr>
        <p:spPr/>
        <p:txBody>
          <a:bodyPr>
            <a:normAutofit fontScale="70000" lnSpcReduction="20000"/>
          </a:bodyPr>
          <a:lstStyle/>
          <a:p>
            <a:pPr algn="just">
              <a:lnSpc>
                <a:spcPct val="115000"/>
              </a:lnSpc>
              <a:spcAft>
                <a:spcPts val="1000"/>
              </a:spcAft>
            </a:pPr>
            <a:r>
              <a:rPr lang="es-CL" dirty="0">
                <a:ea typeface="Calibri"/>
                <a:cs typeface="Times New Roman"/>
              </a:rPr>
              <a:t>Se debe establecer un procedimiento para identificar y tener un acceso a los requerimientos legales y otros a los cuales la organización suscribe, que son directamente aplicables a los impactos ambientales. El procedimiento debe estar al día y actualizado.</a:t>
            </a:r>
            <a:endParaRPr lang="es-CL" sz="1800" dirty="0">
              <a:ea typeface="Calibri"/>
              <a:cs typeface="Times New Roman"/>
            </a:endParaRPr>
          </a:p>
          <a:p>
            <a:pPr algn="just">
              <a:lnSpc>
                <a:spcPct val="115000"/>
              </a:lnSpc>
              <a:spcAft>
                <a:spcPts val="1000"/>
              </a:spcAft>
            </a:pPr>
            <a:r>
              <a:rPr lang="es-CL" dirty="0">
                <a:ea typeface="Calibri"/>
                <a:cs typeface="Times New Roman"/>
              </a:rPr>
              <a:t>Las organizaciones que hacen negocios en más de un país, deben considerar las leyes ambientales aplicables en todos los países. Eso significaría que organizaciones multinacionales, dado el número y complejidad de reglamentos en existencia en todo el mundo, para establecer este procedimiento podría requerir de un extenso conocimiento técnico.</a:t>
            </a:r>
            <a:endParaRPr lang="es-CL" sz="1800" dirty="0">
              <a:ea typeface="Calibri"/>
              <a:cs typeface="Times New Roman"/>
            </a:endParaRPr>
          </a:p>
          <a:p>
            <a:endParaRPr lang="es-CL" dirty="0"/>
          </a:p>
        </p:txBody>
      </p:sp>
    </p:spTree>
    <p:extLst>
      <p:ext uri="{BB962C8B-B14F-4D97-AF65-F5344CB8AC3E}">
        <p14:creationId xmlns:p14="http://schemas.microsoft.com/office/powerpoint/2010/main" val="30285745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OBJETIVOS Y METAS</a:t>
            </a:r>
            <a:endParaRPr lang="es-CL" sz="2800" dirty="0">
              <a:solidFill>
                <a:srgbClr val="0000CC"/>
              </a:solidFill>
            </a:endParaRPr>
          </a:p>
        </p:txBody>
      </p:sp>
      <p:sp>
        <p:nvSpPr>
          <p:cNvPr id="3" name="2 Marcador de contenido"/>
          <p:cNvSpPr>
            <a:spLocks noGrp="1"/>
          </p:cNvSpPr>
          <p:nvPr>
            <p:ph idx="1"/>
          </p:nvPr>
        </p:nvSpPr>
        <p:spPr>
          <a:xfrm>
            <a:off x="539552" y="1340768"/>
            <a:ext cx="8229600" cy="4525963"/>
          </a:xfrm>
        </p:spPr>
        <p:txBody>
          <a:bodyPr>
            <a:normAutofit fontScale="70000" lnSpcReduction="20000"/>
          </a:bodyPr>
          <a:lstStyle/>
          <a:p>
            <a:pPr algn="just">
              <a:lnSpc>
                <a:spcPct val="115000"/>
              </a:lnSpc>
              <a:spcAft>
                <a:spcPts val="1000"/>
              </a:spcAft>
            </a:pPr>
            <a:r>
              <a:rPr lang="es-CL" dirty="0">
                <a:ea typeface="Calibri"/>
                <a:cs typeface="Times New Roman"/>
              </a:rPr>
              <a:t>Se deben establecer objetivos y metas en cada una de las funciones y niveles de importancia dentro de la organización. Al establecer los objetivos y metas se deben considerar los requerimientos legales y otros de importancia.</a:t>
            </a:r>
          </a:p>
          <a:p>
            <a:pPr algn="just">
              <a:lnSpc>
                <a:spcPct val="115000"/>
              </a:lnSpc>
              <a:spcAft>
                <a:spcPts val="1000"/>
              </a:spcAft>
            </a:pPr>
            <a:r>
              <a:rPr lang="es-CL" dirty="0">
                <a:ea typeface="Calibri"/>
                <a:cs typeface="Times New Roman"/>
              </a:rPr>
              <a:t>Al establecer los objetivos y metas deben considerarse los aspectos ambientales significativos. También se toman en cuenta las opciones tecnológicas y los requerimientos financieros operacionales y de negocios, así como los puntos de vista de las partes interesadas.</a:t>
            </a:r>
          </a:p>
          <a:p>
            <a:pPr algn="just">
              <a:lnSpc>
                <a:spcPct val="115000"/>
              </a:lnSpc>
              <a:spcAft>
                <a:spcPts val="1000"/>
              </a:spcAft>
            </a:pPr>
            <a:r>
              <a:rPr lang="es-CL" dirty="0">
                <a:ea typeface="Calibri"/>
                <a:cs typeface="Times New Roman"/>
              </a:rPr>
              <a:t>Los objetivos y metas deben ser consistentes con la política ambiental y con el compromiso de prevenir la contaminación.</a:t>
            </a:r>
          </a:p>
          <a:p>
            <a:pPr algn="just">
              <a:lnSpc>
                <a:spcPct val="115000"/>
              </a:lnSpc>
              <a:spcAft>
                <a:spcPts val="1000"/>
              </a:spcAft>
            </a:pPr>
            <a:endParaRPr lang="es-CL" sz="1800" dirty="0">
              <a:ea typeface="Calibri"/>
              <a:cs typeface="Times New Roman"/>
            </a:endParaRPr>
          </a:p>
        </p:txBody>
      </p:sp>
    </p:spTree>
    <p:extLst>
      <p:ext uri="{BB962C8B-B14F-4D97-AF65-F5344CB8AC3E}">
        <p14:creationId xmlns:p14="http://schemas.microsoft.com/office/powerpoint/2010/main" val="20211031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PROGRAMA </a:t>
            </a:r>
            <a:r>
              <a:rPr lang="es-CL" sz="2800" dirty="0" smtClean="0">
                <a:solidFill>
                  <a:srgbClr val="0000CC"/>
                </a:solidFill>
              </a:rPr>
              <a:t>DE CONTROL AMBIENTAL</a:t>
            </a:r>
            <a:endParaRPr lang="es-CL" sz="2800" dirty="0">
              <a:solidFill>
                <a:srgbClr val="0000CC"/>
              </a:solidFill>
            </a:endParaRPr>
          </a:p>
        </p:txBody>
      </p:sp>
      <p:sp>
        <p:nvSpPr>
          <p:cNvPr id="3" name="2 Marcador de contenido"/>
          <p:cNvSpPr>
            <a:spLocks noGrp="1"/>
          </p:cNvSpPr>
          <p:nvPr>
            <p:ph idx="1"/>
          </p:nvPr>
        </p:nvSpPr>
        <p:spPr>
          <a:xfrm>
            <a:off x="457200" y="1600200"/>
            <a:ext cx="8229600" cy="4637111"/>
          </a:xfrm>
        </p:spPr>
        <p:txBody>
          <a:bodyPr>
            <a:normAutofit/>
          </a:bodyPr>
          <a:lstStyle/>
          <a:p>
            <a:pPr algn="just"/>
            <a:r>
              <a:rPr lang="es-CL" sz="2400" dirty="0" smtClean="0"/>
              <a:t>Debe existir un programa de control ambiental establecido para alcanzar objetivos y metas ambientales.</a:t>
            </a:r>
          </a:p>
          <a:p>
            <a:pPr algn="just"/>
            <a:endParaRPr lang="es-CL" sz="2400" dirty="0" smtClean="0"/>
          </a:p>
          <a:p>
            <a:pPr algn="just"/>
            <a:r>
              <a:rPr lang="es-CL" sz="2400" dirty="0" smtClean="0"/>
              <a:t>El programa de control ambiental incluye una designación de responsabilidades para alcanzar objetivos y metas en cada función y nivel de importancia de la organización.</a:t>
            </a:r>
          </a:p>
          <a:p>
            <a:pPr algn="just"/>
            <a:endParaRPr lang="es-CL" sz="2400" dirty="0" smtClean="0"/>
          </a:p>
          <a:p>
            <a:pPr algn="just"/>
            <a:r>
              <a:rPr lang="es-CL" sz="2400" dirty="0" smtClean="0"/>
              <a:t>El programa de gestión ambiental incluye los medios y el tiempo en el cual los objetivos y metas deberán alcanzarse.</a:t>
            </a:r>
          </a:p>
        </p:txBody>
      </p:sp>
    </p:spTree>
    <p:extLst>
      <p:ext uri="{BB962C8B-B14F-4D97-AF65-F5344CB8AC3E}">
        <p14:creationId xmlns:p14="http://schemas.microsoft.com/office/powerpoint/2010/main" val="27469044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IMPLEMENTACIÓN Y OPERACIONES</a:t>
            </a:r>
            <a:endParaRPr lang="es-CL" sz="2800" dirty="0">
              <a:solidFill>
                <a:srgbClr val="0000CC"/>
              </a:solidFill>
            </a:endParaRPr>
          </a:p>
        </p:txBody>
      </p:sp>
      <p:sp>
        <p:nvSpPr>
          <p:cNvPr id="3" name="2 Marcador de contenido"/>
          <p:cNvSpPr>
            <a:spLocks noGrp="1"/>
          </p:cNvSpPr>
          <p:nvPr>
            <p:ph idx="1"/>
          </p:nvPr>
        </p:nvSpPr>
        <p:spPr/>
        <p:txBody>
          <a:bodyPr>
            <a:normAutofit/>
          </a:bodyPr>
          <a:lstStyle/>
          <a:p>
            <a:pPr algn="just"/>
            <a:r>
              <a:rPr lang="es-CL" sz="2000" dirty="0" smtClean="0"/>
              <a:t>Las funciones, responsabilidad y autoridades están definidas, documentadas y comunicadas.</a:t>
            </a:r>
          </a:p>
          <a:p>
            <a:pPr algn="just"/>
            <a:r>
              <a:rPr lang="es-CL" sz="2000" dirty="0" smtClean="0"/>
              <a:t>Los recursos esenciales para la puesta en práctica y el control del SGA han sido proporcionados, incluyendo recursos humanos y habilidades especializadas, tecnología y recursos financieros.</a:t>
            </a:r>
          </a:p>
          <a:p>
            <a:pPr algn="just"/>
            <a:r>
              <a:rPr lang="es-CL" sz="2000" dirty="0" smtClean="0"/>
              <a:t>La alta gerencia ha designado un representante(s) de la gerencia con funciones, responsabilidades y autoridad definidas para establecer, poner en práctica y mantener el SGA.</a:t>
            </a:r>
          </a:p>
          <a:p>
            <a:pPr algn="just"/>
            <a:r>
              <a:rPr lang="es-CL" sz="2000" dirty="0" smtClean="0"/>
              <a:t>Las necesidades de capacitación han sido identificadas y el personal apropiado ha recibido la capacitación necesaria.</a:t>
            </a:r>
          </a:p>
          <a:p>
            <a:pPr algn="just"/>
            <a:r>
              <a:rPr lang="es-CL" sz="2000" dirty="0" smtClean="0"/>
              <a:t>Se ha establecido y se da mantenimiento a procedimientos para la comunicación interna acerca de aspectos ambientales importantes y el SGA.</a:t>
            </a:r>
          </a:p>
          <a:p>
            <a:pPr algn="just"/>
            <a:endParaRPr lang="es-CL" sz="2000" dirty="0"/>
          </a:p>
        </p:txBody>
      </p:sp>
    </p:spTree>
    <p:extLst>
      <p:ext uri="{BB962C8B-B14F-4D97-AF65-F5344CB8AC3E}">
        <p14:creationId xmlns:p14="http://schemas.microsoft.com/office/powerpoint/2010/main" val="27382133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IMPLEMENTACIÓN Y OPERACIONES</a:t>
            </a:r>
            <a:endParaRPr lang="es-CL" sz="2800" dirty="0">
              <a:solidFill>
                <a:srgbClr val="0000CC"/>
              </a:solidFill>
            </a:endParaRPr>
          </a:p>
        </p:txBody>
      </p:sp>
      <p:sp>
        <p:nvSpPr>
          <p:cNvPr id="3" name="2 Marcador de contenido"/>
          <p:cNvSpPr>
            <a:spLocks noGrp="1"/>
          </p:cNvSpPr>
          <p:nvPr>
            <p:ph idx="1"/>
          </p:nvPr>
        </p:nvSpPr>
        <p:spPr>
          <a:xfrm>
            <a:off x="457200" y="1600200"/>
            <a:ext cx="8229600" cy="4781128"/>
          </a:xfrm>
        </p:spPr>
        <p:txBody>
          <a:bodyPr>
            <a:noAutofit/>
          </a:bodyPr>
          <a:lstStyle/>
          <a:p>
            <a:pPr algn="just"/>
            <a:r>
              <a:rPr lang="es-CL" sz="2400" dirty="0" smtClean="0"/>
              <a:t>Los procedimientos para controlar todos los documentos se han establecido, se les da mantenimiento y están fácilmente disponibles.</a:t>
            </a:r>
          </a:p>
          <a:p>
            <a:pPr algn="just"/>
            <a:r>
              <a:rPr lang="es-CL" sz="2400" dirty="0" smtClean="0"/>
              <a:t>Los procedimientos son estudiados </a:t>
            </a:r>
            <a:r>
              <a:rPr lang="es-CL" sz="2400" dirty="0" err="1" smtClean="0"/>
              <a:t>periodicamente</a:t>
            </a:r>
            <a:r>
              <a:rPr lang="es-CL" sz="2400" dirty="0" smtClean="0"/>
              <a:t>, revisados si es necesario y aprobados por el personal autorizado.</a:t>
            </a:r>
          </a:p>
          <a:p>
            <a:pPr algn="just"/>
            <a:r>
              <a:rPr lang="es-CL" sz="2400" dirty="0" smtClean="0"/>
              <a:t>Las operaciones que están asociadas con impactos ambientales importantes y que caen dentro del ámbito de la política ambiental y sus objetivos y metas, han sido identificados.</a:t>
            </a:r>
          </a:p>
          <a:p>
            <a:pPr algn="just"/>
            <a:r>
              <a:rPr lang="es-CL" sz="2400" dirty="0" smtClean="0"/>
              <a:t>Los procedimientos que identifican la respuesta a accidentes y situaciones de emergencia se han establecido y se les da mantenimiento.</a:t>
            </a:r>
          </a:p>
        </p:txBody>
      </p:sp>
    </p:spTree>
    <p:extLst>
      <p:ext uri="{BB962C8B-B14F-4D97-AF65-F5344CB8AC3E}">
        <p14:creationId xmlns:p14="http://schemas.microsoft.com/office/powerpoint/2010/main" val="10094056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smtClean="0">
                <a:solidFill>
                  <a:srgbClr val="0000CC"/>
                </a:solidFill>
              </a:rPr>
              <a:t>VERIFICACIÓN Y ACCIÓN CORRECTIVA</a:t>
            </a:r>
            <a:endParaRPr lang="es-CL" sz="2800" dirty="0">
              <a:solidFill>
                <a:srgbClr val="0000CC"/>
              </a:solidFill>
            </a:endParaRPr>
          </a:p>
        </p:txBody>
      </p:sp>
      <p:sp>
        <p:nvSpPr>
          <p:cNvPr id="3" name="2 Marcador de contenido"/>
          <p:cNvSpPr>
            <a:spLocks noGrp="1"/>
          </p:cNvSpPr>
          <p:nvPr>
            <p:ph idx="1"/>
          </p:nvPr>
        </p:nvSpPr>
        <p:spPr>
          <a:xfrm>
            <a:off x="457200" y="1417638"/>
            <a:ext cx="8229600" cy="5069160"/>
          </a:xfrm>
        </p:spPr>
        <p:txBody>
          <a:bodyPr>
            <a:noAutofit/>
          </a:bodyPr>
          <a:lstStyle/>
          <a:p>
            <a:pPr algn="just"/>
            <a:r>
              <a:rPr lang="es-CL" sz="2400" dirty="0" smtClean="0"/>
              <a:t>Existen procedimientos establecidos y se les da mantención para monitorear y medir las características claves de las operaciones y las actividades que pueden tener impacto significativo en el medio ambiente.</a:t>
            </a:r>
          </a:p>
          <a:p>
            <a:pPr algn="just"/>
            <a:r>
              <a:rPr lang="es-CL" sz="2400" dirty="0" smtClean="0"/>
              <a:t>El equipo de monitoreo es calibrado y mantenido y se lleva un registro del proceso de calibración.</a:t>
            </a:r>
          </a:p>
          <a:p>
            <a:pPr algn="just"/>
            <a:r>
              <a:rPr lang="es-CL" sz="2400" dirty="0" smtClean="0"/>
              <a:t>Se han establecido y se da mantenimiento a procedimientos para el manejo y la investigación de inconformidades.</a:t>
            </a:r>
          </a:p>
          <a:p>
            <a:pPr algn="just"/>
            <a:r>
              <a:rPr lang="es-CL" sz="2400" dirty="0" smtClean="0"/>
              <a:t> Cualquiera acción correctiva o preventiva es apropiada para la magnitud de impacto ambiental actual o potencial que existe, o podría ocurrir de la inconformidad.</a:t>
            </a:r>
          </a:p>
          <a:p>
            <a:pPr algn="just"/>
            <a:endParaRPr lang="es-CL" sz="2000" dirty="0"/>
          </a:p>
        </p:txBody>
      </p:sp>
    </p:spTree>
    <p:extLst>
      <p:ext uri="{BB962C8B-B14F-4D97-AF65-F5344CB8AC3E}">
        <p14:creationId xmlns:p14="http://schemas.microsoft.com/office/powerpoint/2010/main" val="32585509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smtClean="0">
                <a:solidFill>
                  <a:srgbClr val="0000CC"/>
                </a:solidFill>
              </a:rPr>
              <a:t>VERIFICACIÓN Y ACCIÓN CORRECTIVA</a:t>
            </a:r>
            <a:endParaRPr lang="es-CL" sz="2800" dirty="0">
              <a:solidFill>
                <a:srgbClr val="0000CC"/>
              </a:solidFill>
            </a:endParaRPr>
          </a:p>
        </p:txBody>
      </p:sp>
      <p:sp>
        <p:nvSpPr>
          <p:cNvPr id="3" name="2 Marcador de contenido"/>
          <p:cNvSpPr>
            <a:spLocks noGrp="1"/>
          </p:cNvSpPr>
          <p:nvPr>
            <p:ph idx="1"/>
          </p:nvPr>
        </p:nvSpPr>
        <p:spPr>
          <a:xfrm>
            <a:off x="461764" y="1268760"/>
            <a:ext cx="8229600" cy="4525963"/>
          </a:xfrm>
        </p:spPr>
        <p:txBody>
          <a:bodyPr>
            <a:normAutofit/>
          </a:bodyPr>
          <a:lstStyle/>
          <a:p>
            <a:pPr algn="just"/>
            <a:r>
              <a:rPr lang="es-CL" sz="2400" dirty="0" smtClean="0"/>
              <a:t>Se han establecido y se da mantenimiento a procedimientos para la identificación, mantenimiento y disposición de registros ambientales.</a:t>
            </a:r>
          </a:p>
          <a:p>
            <a:pPr algn="just"/>
            <a:r>
              <a:rPr lang="es-CL" sz="2400" dirty="0" smtClean="0"/>
              <a:t>Se ha establecido y se mantiene un programa y procedimientos para auditorías periódicas del SGA.</a:t>
            </a:r>
          </a:p>
          <a:p>
            <a:pPr algn="just"/>
            <a:r>
              <a:rPr lang="es-CL" sz="2400" dirty="0" smtClean="0"/>
              <a:t>Las auditorías determinan si el SGA se adecua o no a los requerimientos internos para la administración ambiental, incluyendo conformidad con los requerimientos de la norma.</a:t>
            </a:r>
          </a:p>
          <a:p>
            <a:pPr algn="just"/>
            <a:r>
              <a:rPr lang="es-CL" sz="2400" dirty="0" smtClean="0"/>
              <a:t>Las auditorías determinan si el SGA ha sido puesto en práctica y se mantiene debidamente o no.  Los resultados de la auditoría son presentados a la dirección para su revisión.</a:t>
            </a:r>
            <a:endParaRPr lang="es-CL" sz="2400" dirty="0"/>
          </a:p>
        </p:txBody>
      </p:sp>
    </p:spTree>
    <p:extLst>
      <p:ext uri="{BB962C8B-B14F-4D97-AF65-F5344CB8AC3E}">
        <p14:creationId xmlns:p14="http://schemas.microsoft.com/office/powerpoint/2010/main" val="32906993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2800" dirty="0" smtClean="0">
                <a:solidFill>
                  <a:srgbClr val="0000CC"/>
                </a:solidFill>
              </a:rPr>
              <a:t>REVISIÓN POR LA DIRECCIÓN</a:t>
            </a:r>
            <a:endParaRPr lang="es-CL" sz="2800" dirty="0">
              <a:solidFill>
                <a:srgbClr val="0000CC"/>
              </a:solidFill>
            </a:endParaRPr>
          </a:p>
        </p:txBody>
      </p:sp>
      <p:sp>
        <p:nvSpPr>
          <p:cNvPr id="3" name="2 Marcador de contenido"/>
          <p:cNvSpPr>
            <a:spLocks noGrp="1"/>
          </p:cNvSpPr>
          <p:nvPr>
            <p:ph idx="1"/>
          </p:nvPr>
        </p:nvSpPr>
        <p:spPr>
          <a:xfrm>
            <a:off x="457200" y="1268760"/>
            <a:ext cx="8229600" cy="4525963"/>
          </a:xfrm>
        </p:spPr>
        <p:txBody>
          <a:bodyPr>
            <a:normAutofit/>
          </a:bodyPr>
          <a:lstStyle/>
          <a:p>
            <a:pPr algn="just"/>
            <a:r>
              <a:rPr lang="es-CL" sz="2400" dirty="0" smtClean="0"/>
              <a:t>La alta dirección revisa periódicamente el SGA para asegurar su carácter apropiado y efectividad.</a:t>
            </a:r>
          </a:p>
          <a:p>
            <a:pPr algn="just"/>
            <a:endParaRPr lang="es-CL" sz="2400" dirty="0" smtClean="0"/>
          </a:p>
          <a:p>
            <a:pPr algn="just"/>
            <a:r>
              <a:rPr lang="es-CL" sz="2400" dirty="0" smtClean="0"/>
              <a:t>La información necesaria se recolecta y es adecuada para permitir que la dirección desarrolle la evaluación.</a:t>
            </a:r>
          </a:p>
          <a:p>
            <a:pPr algn="just"/>
            <a:endParaRPr lang="es-CL" sz="2400" dirty="0" smtClean="0"/>
          </a:p>
          <a:p>
            <a:pPr algn="just"/>
            <a:r>
              <a:rPr lang="es-CL" sz="2400" dirty="0" smtClean="0"/>
              <a:t>La dirección evalúa la necesidad de cambios en la política ambiental, sus objetivos y en el SGA, como se indica en los resultados de la auditoría del SGA, cambiando las circunstancias y el compromiso hacia una mejora constante.</a:t>
            </a:r>
            <a:endParaRPr lang="es-CL" sz="2400" dirty="0"/>
          </a:p>
        </p:txBody>
      </p:sp>
    </p:spTree>
    <p:extLst>
      <p:ext uri="{BB962C8B-B14F-4D97-AF65-F5344CB8AC3E}">
        <p14:creationId xmlns:p14="http://schemas.microsoft.com/office/powerpoint/2010/main" val="151495338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TotalTime>
  <Words>2516</Words>
  <Application>Microsoft Office PowerPoint</Application>
  <PresentationFormat>Presentación en pantalla (4:3)</PresentationFormat>
  <Paragraphs>147</Paragraphs>
  <Slides>25</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Arial</vt:lpstr>
      <vt:lpstr>Calibri</vt:lpstr>
      <vt:lpstr>Times New Roman</vt:lpstr>
      <vt:lpstr>Tema de Office</vt:lpstr>
      <vt:lpstr>  LA GESTIÓN AMBIENTAL EN LA EMPRESA</vt:lpstr>
      <vt:lpstr>GESTIÓN AMBIENTAL</vt:lpstr>
      <vt:lpstr>NORMAS ISO 14000</vt:lpstr>
      <vt:lpstr>NORMAS ISO 14000</vt:lpstr>
      <vt:lpstr>NORMA ISO 14001</vt:lpstr>
      <vt:lpstr>LA NCH ISO 14001</vt:lpstr>
      <vt:lpstr> ESTRUCTURA DE LA NORMA NCH ISO 14001 </vt:lpstr>
      <vt:lpstr>LA NUEVA ISO 14001:2015</vt:lpstr>
      <vt:lpstr>ALGUNAS MODIFICACIONES QUE PRESENTA  LA NORMA ISO 14001:2015</vt:lpstr>
      <vt:lpstr>SISTEMA DE GESTIÓN AMBIENTAL (SGA)</vt:lpstr>
      <vt:lpstr>SISTEMA DE GESTIÓN AMBIENTAL (SGA)</vt:lpstr>
      <vt:lpstr>COMPROMISO DE LA ALTA DIRECCIÓN</vt:lpstr>
      <vt:lpstr>POLÍTICA AMBIENTAL</vt:lpstr>
      <vt:lpstr>POLÍTICA AMBIENTAL</vt:lpstr>
      <vt:lpstr>PLANIFICACIÓN</vt:lpstr>
      <vt:lpstr>ASPECTOS AMBIENTALES E IMPACTOS AMBIENTALES</vt:lpstr>
      <vt:lpstr>ASPECTOS AMBIENTALES E IMPACTOS AMBIENTALES</vt:lpstr>
      <vt:lpstr>REQUISITOS LEGALES  Y OTROS SUSCRITOS POR LA ORGANIZACIÓN </vt:lpstr>
      <vt:lpstr>OBJETIVOS Y METAS</vt:lpstr>
      <vt:lpstr>PROGRAMA DE CONTROL AMBIENTAL</vt:lpstr>
      <vt:lpstr>IMPLEMENTACIÓN Y OPERACIONES</vt:lpstr>
      <vt:lpstr>IMPLEMENTACIÓN Y OPERACIONES</vt:lpstr>
      <vt:lpstr>VERIFICACIÓN Y ACCIÓN CORRECTIVA</vt:lpstr>
      <vt:lpstr>VERIFICACIÓN Y ACCIÓN CORRECTIVA</vt:lpstr>
      <vt:lpstr>REVISIÓN POR LA DIRECCIÓN</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2   LEGISLACIÓN EN CHILE EN TORNO AL TEMA MEDIOAMBIENTAL</dc:title>
  <dc:creator>Osvaldo</dc:creator>
  <cp:lastModifiedBy>OSVALDO</cp:lastModifiedBy>
  <cp:revision>60</cp:revision>
  <dcterms:created xsi:type="dcterms:W3CDTF">2019-01-09T15:51:07Z</dcterms:created>
  <dcterms:modified xsi:type="dcterms:W3CDTF">2022-10-22T20:25:38Z</dcterms:modified>
</cp:coreProperties>
</file>