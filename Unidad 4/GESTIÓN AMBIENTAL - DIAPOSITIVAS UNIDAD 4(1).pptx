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6" r:id="rId4"/>
    <p:sldId id="266" r:id="rId5"/>
    <p:sldId id="264" r:id="rId6"/>
    <p:sldId id="287" r:id="rId7"/>
    <p:sldId id="277" r:id="rId8"/>
    <p:sldId id="292" r:id="rId9"/>
    <p:sldId id="278" r:id="rId10"/>
    <p:sldId id="295" r:id="rId11"/>
    <p:sldId id="286" r:id="rId12"/>
    <p:sldId id="279" r:id="rId13"/>
    <p:sldId id="280" r:id="rId14"/>
    <p:sldId id="285" r:id="rId15"/>
    <p:sldId id="288" r:id="rId16"/>
    <p:sldId id="281" r:id="rId17"/>
    <p:sldId id="282" r:id="rId18"/>
    <p:sldId id="289" r:id="rId19"/>
    <p:sldId id="283" r:id="rId20"/>
    <p:sldId id="290" r:id="rId21"/>
    <p:sldId id="284" r:id="rId22"/>
    <p:sldId id="293" r:id="rId23"/>
    <p:sldId id="297" r:id="rId24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1392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A1F55-71EA-4D45-93B6-471C90C77D51}" type="datetimeFigureOut">
              <a:rPr lang="es-CL" smtClean="0"/>
              <a:t>05-07-2022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417F-FE26-4856-A9D8-D4309F5CE26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36726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A1F55-71EA-4D45-93B6-471C90C77D51}" type="datetimeFigureOut">
              <a:rPr lang="es-CL" smtClean="0"/>
              <a:t>05-07-2022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417F-FE26-4856-A9D8-D4309F5CE26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4197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A1F55-71EA-4D45-93B6-471C90C77D51}" type="datetimeFigureOut">
              <a:rPr lang="es-CL" smtClean="0"/>
              <a:t>05-07-2022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417F-FE26-4856-A9D8-D4309F5CE26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718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A1F55-71EA-4D45-93B6-471C90C77D51}" type="datetimeFigureOut">
              <a:rPr lang="es-CL" smtClean="0"/>
              <a:t>05-07-2022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417F-FE26-4856-A9D8-D4309F5CE26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20270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A1F55-71EA-4D45-93B6-471C90C77D51}" type="datetimeFigureOut">
              <a:rPr lang="es-CL" smtClean="0"/>
              <a:t>05-07-2022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417F-FE26-4856-A9D8-D4309F5CE26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0018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A1F55-71EA-4D45-93B6-471C90C77D51}" type="datetimeFigureOut">
              <a:rPr lang="es-CL" smtClean="0"/>
              <a:t>05-07-2022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417F-FE26-4856-A9D8-D4309F5CE26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53874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A1F55-71EA-4D45-93B6-471C90C77D51}" type="datetimeFigureOut">
              <a:rPr lang="es-CL" smtClean="0"/>
              <a:t>05-07-2022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417F-FE26-4856-A9D8-D4309F5CE26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1310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A1F55-71EA-4D45-93B6-471C90C77D51}" type="datetimeFigureOut">
              <a:rPr lang="es-CL" smtClean="0"/>
              <a:t>05-07-2022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417F-FE26-4856-A9D8-D4309F5CE26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65570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A1F55-71EA-4D45-93B6-471C90C77D51}" type="datetimeFigureOut">
              <a:rPr lang="es-CL" smtClean="0"/>
              <a:t>05-07-2022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417F-FE26-4856-A9D8-D4309F5CE26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10564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A1F55-71EA-4D45-93B6-471C90C77D51}" type="datetimeFigureOut">
              <a:rPr lang="es-CL" smtClean="0"/>
              <a:t>05-07-2022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417F-FE26-4856-A9D8-D4309F5CE26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4262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A1F55-71EA-4D45-93B6-471C90C77D51}" type="datetimeFigureOut">
              <a:rPr lang="es-CL" smtClean="0"/>
              <a:t>05-07-2022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417F-FE26-4856-A9D8-D4309F5CE26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49855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A1F55-71EA-4D45-93B6-471C90C77D51}" type="datetimeFigureOut">
              <a:rPr lang="es-CL" smtClean="0"/>
              <a:t>05-07-2022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4C417F-FE26-4856-A9D8-D4309F5CE26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39676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1196753"/>
            <a:ext cx="7772400" cy="3384376"/>
          </a:xfrm>
        </p:spPr>
        <p:txBody>
          <a:bodyPr>
            <a:normAutofit/>
          </a:bodyPr>
          <a:lstStyle/>
          <a:p>
            <a:r>
              <a:rPr lang="es-CL" sz="3600" b="1" dirty="0" smtClean="0">
                <a:solidFill>
                  <a:srgbClr val="006600"/>
                </a:solidFill>
              </a:rPr>
              <a:t>UNIDAD 4</a:t>
            </a:r>
            <a:br>
              <a:rPr lang="es-CL" sz="3600" b="1" dirty="0" smtClean="0">
                <a:solidFill>
                  <a:srgbClr val="006600"/>
                </a:solidFill>
              </a:rPr>
            </a:br>
            <a:r>
              <a:rPr lang="es-CL" sz="3600" b="1" dirty="0" smtClean="0">
                <a:solidFill>
                  <a:srgbClr val="006600"/>
                </a:solidFill>
              </a:rPr>
              <a:t/>
            </a:r>
            <a:br>
              <a:rPr lang="es-CL" sz="3600" b="1" dirty="0" smtClean="0">
                <a:solidFill>
                  <a:srgbClr val="006600"/>
                </a:solidFill>
              </a:rPr>
            </a:br>
            <a:r>
              <a:rPr lang="es-CL" sz="3600" b="1" dirty="0" smtClean="0">
                <a:solidFill>
                  <a:srgbClr val="006600"/>
                </a:solidFill>
              </a:rPr>
              <a:t/>
            </a:r>
            <a:br>
              <a:rPr lang="es-CL" sz="3600" b="1" dirty="0" smtClean="0">
                <a:solidFill>
                  <a:srgbClr val="006600"/>
                </a:solidFill>
              </a:rPr>
            </a:br>
            <a:r>
              <a:rPr lang="es-CL" sz="3600" b="1" dirty="0" smtClean="0">
                <a:solidFill>
                  <a:srgbClr val="006600"/>
                </a:solidFill>
              </a:rPr>
              <a:t>AUDITORÍA AMBIENTAL</a:t>
            </a:r>
            <a:endParaRPr lang="es-CL" sz="3600" b="1" dirty="0">
              <a:solidFill>
                <a:srgbClr val="006600"/>
              </a:solidFill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5301208"/>
            <a:ext cx="6400800" cy="337592"/>
          </a:xfrm>
        </p:spPr>
        <p:txBody>
          <a:bodyPr>
            <a:normAutofit fontScale="62500" lnSpcReduction="20000"/>
          </a:bodyPr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306750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s-CL" sz="2800" dirty="0" smtClean="0">
                <a:solidFill>
                  <a:srgbClr val="0000CC"/>
                </a:solidFill>
              </a:rPr>
              <a:t>INTRODUCCIÓN</a:t>
            </a:r>
            <a:endParaRPr lang="es-CL" sz="2800" dirty="0">
              <a:solidFill>
                <a:srgbClr val="0000CC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90389" y="1313384"/>
            <a:ext cx="8229600" cy="4347864"/>
          </a:xfrm>
        </p:spPr>
        <p:txBody>
          <a:bodyPr>
            <a:noAutofit/>
          </a:bodyPr>
          <a:lstStyle/>
          <a:p>
            <a:pPr algn="just"/>
            <a:r>
              <a:rPr lang="es-CL" sz="2000" dirty="0"/>
              <a:t>Uno de los principales obstáculos con que se encuentran los directivos de una institución para </a:t>
            </a:r>
            <a:r>
              <a:rPr lang="es-CL" sz="2000" dirty="0" smtClean="0"/>
              <a:t>implementar </a:t>
            </a:r>
            <a:r>
              <a:rPr lang="es-CL" sz="2000" dirty="0"/>
              <a:t>una política ambiental apropiada en sus empresas, es la identificación de sus deficiencias y necesidades </a:t>
            </a:r>
            <a:r>
              <a:rPr lang="es-CL" sz="2000" dirty="0" smtClean="0"/>
              <a:t>ambientales. El </a:t>
            </a:r>
            <a:r>
              <a:rPr lang="es-CL" sz="2000" dirty="0"/>
              <a:t>instrumento más adecuado para resolver dicha falencia es la auditoría </a:t>
            </a:r>
            <a:r>
              <a:rPr lang="es-CL" sz="2000" dirty="0" smtClean="0"/>
              <a:t>ambiental.</a:t>
            </a:r>
          </a:p>
          <a:p>
            <a:pPr algn="just"/>
            <a:endParaRPr lang="es-CL" sz="2000" dirty="0" smtClean="0"/>
          </a:p>
          <a:p>
            <a:pPr algn="just">
              <a:spcAft>
                <a:spcPts val="1000"/>
              </a:spcAft>
            </a:pPr>
            <a:r>
              <a:rPr lang="es-CL" sz="2000" dirty="0">
                <a:ea typeface="Calibri"/>
                <a:cs typeface="Times New Roman"/>
              </a:rPr>
              <a:t>La Auditoría Ambiental es una herramienta que comprende una evaluación sistemática, documentada, periódica y objetiva sobre cómo la organización cumple con el objetivo general de contribuir a proteger el medio ambiente.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CL" sz="2000" dirty="0">
                <a:ea typeface="Calibri"/>
                <a:cs typeface="Times New Roman"/>
              </a:rPr>
              <a:t>La Auditoría Ambiental es un instrumento metodológico, que permite obtener y ordenar la información necesaria para realizar un análisis sistemático y completo del impacto que causa en el medio ambiente la operación de una empresa.</a:t>
            </a:r>
          </a:p>
          <a:p>
            <a:pPr algn="just"/>
            <a:endParaRPr lang="es-CL" sz="2000" dirty="0" smtClean="0"/>
          </a:p>
          <a:p>
            <a:pPr marL="0" indent="0" algn="just">
              <a:buNone/>
            </a:pPr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1459068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2800" dirty="0" smtClean="0">
                <a:solidFill>
                  <a:srgbClr val="0000CC"/>
                </a:solidFill>
              </a:rPr>
              <a:t>AUDITORÍA AMBIENTAL</a:t>
            </a:r>
            <a:endParaRPr lang="es-CL" sz="2800" dirty="0">
              <a:solidFill>
                <a:srgbClr val="0000CC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CL" sz="2400" dirty="0">
                <a:ea typeface="Calibri"/>
                <a:cs typeface="Times New Roman"/>
              </a:rPr>
              <a:t>La Auditoría Ambiental cumple la función de retroalimentar con nueva información </a:t>
            </a:r>
            <a:r>
              <a:rPr lang="es-CL" sz="2400" dirty="0" smtClean="0">
                <a:ea typeface="Calibri"/>
                <a:cs typeface="Times New Roman"/>
              </a:rPr>
              <a:t>a los </a:t>
            </a:r>
            <a:r>
              <a:rPr lang="es-CL" sz="2400" dirty="0">
                <a:ea typeface="Calibri"/>
                <a:cs typeface="Times New Roman"/>
              </a:rPr>
              <a:t>procesos </a:t>
            </a:r>
            <a:r>
              <a:rPr lang="es-CL" sz="2400" dirty="0" smtClean="0">
                <a:ea typeface="Calibri"/>
                <a:cs typeface="Times New Roman"/>
              </a:rPr>
              <a:t>productivos, </a:t>
            </a:r>
            <a:r>
              <a:rPr lang="es-CL" sz="2400" dirty="0">
                <a:ea typeface="Calibri"/>
                <a:cs typeface="Times New Roman"/>
              </a:rPr>
              <a:t>y </a:t>
            </a:r>
            <a:r>
              <a:rPr lang="es-CL" sz="2400" dirty="0" smtClean="0">
                <a:ea typeface="Calibri"/>
                <a:cs typeface="Times New Roman"/>
              </a:rPr>
              <a:t>a los </a:t>
            </a:r>
            <a:r>
              <a:rPr lang="es-CL" sz="2400" dirty="0">
                <a:ea typeface="Calibri"/>
                <a:cs typeface="Times New Roman"/>
              </a:rPr>
              <a:t>encargados de tomar las </a:t>
            </a:r>
            <a:r>
              <a:rPr lang="es-CL" sz="2400" dirty="0" smtClean="0">
                <a:ea typeface="Calibri"/>
                <a:cs typeface="Times New Roman"/>
              </a:rPr>
              <a:t>decisiones, para mejorar el </a:t>
            </a:r>
            <a:r>
              <a:rPr lang="es-CL" sz="2400" dirty="0">
                <a:ea typeface="Calibri"/>
                <a:cs typeface="Times New Roman"/>
              </a:rPr>
              <a:t>nivel de eficiencia. </a:t>
            </a:r>
            <a:endParaRPr lang="es-CL" sz="2400" dirty="0" smtClean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CL" sz="2400" dirty="0" smtClean="0">
                <a:ea typeface="Calibri"/>
                <a:cs typeface="Times New Roman"/>
              </a:rPr>
              <a:t>El </a:t>
            </a:r>
            <a:r>
              <a:rPr lang="es-CL" sz="2400" dirty="0">
                <a:ea typeface="Calibri"/>
                <a:cs typeface="Times New Roman"/>
              </a:rPr>
              <a:t>tipo de información resultante de </a:t>
            </a:r>
            <a:r>
              <a:rPr lang="es-CL" sz="2400" dirty="0" smtClean="0">
                <a:ea typeface="Calibri"/>
                <a:cs typeface="Times New Roman"/>
              </a:rPr>
              <a:t>las </a:t>
            </a:r>
            <a:r>
              <a:rPr lang="es-CL" sz="2400" dirty="0">
                <a:ea typeface="Calibri"/>
                <a:cs typeface="Times New Roman"/>
              </a:rPr>
              <a:t>Auditorías Ambientales facilita la adopción de medidas técnicas de </a:t>
            </a:r>
            <a:r>
              <a:rPr lang="es-CL" sz="2400" dirty="0" smtClean="0">
                <a:ea typeface="Calibri"/>
                <a:cs typeface="Times New Roman"/>
              </a:rPr>
              <a:t>gestión.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CL" sz="2400" dirty="0" smtClean="0">
                <a:ea typeface="Calibri"/>
                <a:cs typeface="Times New Roman"/>
              </a:rPr>
              <a:t>¿</a:t>
            </a:r>
            <a:r>
              <a:rPr lang="es-CL" sz="2400" dirty="0">
                <a:ea typeface="Calibri"/>
                <a:cs typeface="Times New Roman"/>
              </a:rPr>
              <a:t>P</a:t>
            </a:r>
            <a:r>
              <a:rPr lang="es-CL" sz="2400" dirty="0" smtClean="0">
                <a:ea typeface="Calibri"/>
                <a:cs typeface="Times New Roman"/>
              </a:rPr>
              <a:t>or qué?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CL" sz="2400" dirty="0">
                <a:ea typeface="Calibri"/>
                <a:cs typeface="Times New Roman"/>
              </a:rPr>
              <a:t>P</a:t>
            </a:r>
            <a:r>
              <a:rPr lang="es-CL" sz="2400" dirty="0" smtClean="0">
                <a:ea typeface="Calibri"/>
                <a:cs typeface="Times New Roman"/>
              </a:rPr>
              <a:t>or el </a:t>
            </a:r>
            <a:r>
              <a:rPr lang="es-CL" sz="2400" dirty="0">
                <a:ea typeface="Calibri"/>
                <a:cs typeface="Times New Roman"/>
              </a:rPr>
              <a:t>mejor uso de los recursos técnicos y </a:t>
            </a:r>
            <a:r>
              <a:rPr lang="es-CL" sz="2400" dirty="0" smtClean="0">
                <a:ea typeface="Calibri"/>
                <a:cs typeface="Times New Roman"/>
              </a:rPr>
              <a:t>recursos humanos </a:t>
            </a:r>
            <a:r>
              <a:rPr lang="es-CL" sz="2400" dirty="0">
                <a:ea typeface="Calibri"/>
                <a:cs typeface="Times New Roman"/>
              </a:rPr>
              <a:t>disponibles en la empresa, y no necesariamente implican altos costos de implementación. </a:t>
            </a:r>
            <a:endParaRPr lang="es-CL" sz="2400" dirty="0" smtClean="0">
              <a:ea typeface="Calibri"/>
              <a:cs typeface="Times New Roman"/>
            </a:endParaRPr>
          </a:p>
          <a:p>
            <a:pPr algn="just"/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3275959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CL" sz="2800" dirty="0" smtClean="0">
                <a:solidFill>
                  <a:srgbClr val="0000CC"/>
                </a:solidFill>
                <a:ea typeface="Calibri"/>
                <a:cs typeface="Times New Roman"/>
              </a:rPr>
              <a:t/>
            </a:r>
            <a:br>
              <a:rPr lang="es-CL" sz="2800" dirty="0" smtClean="0">
                <a:solidFill>
                  <a:srgbClr val="0000CC"/>
                </a:solidFill>
                <a:ea typeface="Calibri"/>
                <a:cs typeface="Times New Roman"/>
              </a:rPr>
            </a:br>
            <a:r>
              <a:rPr lang="es-CL" sz="2800" dirty="0" smtClean="0">
                <a:solidFill>
                  <a:srgbClr val="0000CC"/>
                </a:solidFill>
                <a:ea typeface="Calibri"/>
                <a:cs typeface="Times New Roman"/>
              </a:rPr>
              <a:t>ASPECTOS </a:t>
            </a:r>
            <a:r>
              <a:rPr lang="es-CL" sz="2800" dirty="0">
                <a:solidFill>
                  <a:srgbClr val="0000CC"/>
                </a:solidFill>
                <a:ea typeface="Calibri"/>
                <a:cs typeface="Times New Roman"/>
              </a:rPr>
              <a:t>QUE CONTEMPLA LA ELABORACIÓN DE LA AUDITORÍA AMBIENTAL</a:t>
            </a:r>
            <a:r>
              <a:rPr lang="es-CL" sz="2000" dirty="0">
                <a:solidFill>
                  <a:srgbClr val="0000CC"/>
                </a:solidFill>
                <a:ea typeface="Calibri"/>
                <a:cs typeface="Times New Roman"/>
              </a:rPr>
              <a:t/>
            </a:r>
            <a:br>
              <a:rPr lang="es-CL" sz="2000" dirty="0">
                <a:solidFill>
                  <a:srgbClr val="0000CC"/>
                </a:solidFill>
                <a:ea typeface="Calibri"/>
                <a:cs typeface="Times New Roman"/>
              </a:rPr>
            </a:br>
            <a:endParaRPr lang="es-CL" sz="2800" dirty="0">
              <a:solidFill>
                <a:srgbClr val="0000CC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lnSpcReduction="10000"/>
          </a:bodyPr>
          <a:lstStyle/>
          <a:p>
            <a:pPr lvl="0" algn="just">
              <a:lnSpc>
                <a:spcPct val="115000"/>
              </a:lnSpc>
              <a:buFont typeface="+mj-lt"/>
              <a:buAutoNum type="arabicPeriod"/>
            </a:pPr>
            <a:r>
              <a:rPr lang="es-CL" sz="2000" dirty="0">
                <a:ea typeface="Calibri"/>
                <a:cs typeface="Times New Roman"/>
              </a:rPr>
              <a:t>Objetivos.</a:t>
            </a:r>
          </a:p>
          <a:p>
            <a:pPr lvl="0" algn="just">
              <a:lnSpc>
                <a:spcPct val="115000"/>
              </a:lnSpc>
              <a:buFont typeface="+mj-lt"/>
              <a:buAutoNum type="arabicPeriod"/>
            </a:pPr>
            <a:r>
              <a:rPr lang="es-CL" sz="2000" dirty="0">
                <a:ea typeface="Calibri"/>
                <a:cs typeface="Times New Roman"/>
              </a:rPr>
              <a:t>Alcances (procesos </a:t>
            </a:r>
            <a:r>
              <a:rPr lang="es-CL" sz="2000" dirty="0" smtClean="0">
                <a:ea typeface="Calibri"/>
                <a:cs typeface="Times New Roman"/>
              </a:rPr>
              <a:t>a </a:t>
            </a:r>
            <a:r>
              <a:rPr lang="es-CL" sz="2000" dirty="0">
                <a:ea typeface="Calibri"/>
                <a:cs typeface="Times New Roman"/>
              </a:rPr>
              <a:t>considerar, temas que se </a:t>
            </a:r>
            <a:r>
              <a:rPr lang="es-CL" sz="2000" dirty="0" smtClean="0">
                <a:ea typeface="Calibri"/>
                <a:cs typeface="Times New Roman"/>
              </a:rPr>
              <a:t>deben excluir).</a:t>
            </a:r>
            <a:endParaRPr lang="es-CL" sz="2000" dirty="0">
              <a:ea typeface="Calibri"/>
              <a:cs typeface="Times New Roman"/>
            </a:endParaRPr>
          </a:p>
          <a:p>
            <a:pPr lvl="0" algn="just">
              <a:lnSpc>
                <a:spcPct val="115000"/>
              </a:lnSpc>
              <a:buFont typeface="+mj-lt"/>
              <a:buAutoNum type="arabicPeriod"/>
            </a:pPr>
            <a:r>
              <a:rPr lang="es-CL" sz="2000" dirty="0">
                <a:ea typeface="Calibri"/>
                <a:cs typeface="Times New Roman"/>
              </a:rPr>
              <a:t>Cuestiones </a:t>
            </a:r>
            <a:r>
              <a:rPr lang="es-CL" sz="2000" dirty="0" smtClean="0">
                <a:ea typeface="Calibri"/>
                <a:cs typeface="Times New Roman"/>
              </a:rPr>
              <a:t>que son claves</a:t>
            </a:r>
            <a:r>
              <a:rPr lang="es-CL" sz="2000" dirty="0">
                <a:ea typeface="Calibri"/>
                <a:cs typeface="Times New Roman"/>
              </a:rPr>
              <a:t>.</a:t>
            </a:r>
          </a:p>
          <a:p>
            <a:pPr lvl="0" algn="just">
              <a:lnSpc>
                <a:spcPct val="115000"/>
              </a:lnSpc>
              <a:buFont typeface="+mj-lt"/>
              <a:buAutoNum type="arabicPeriod"/>
            </a:pPr>
            <a:r>
              <a:rPr lang="es-CL" sz="2000" dirty="0">
                <a:ea typeface="Calibri"/>
                <a:cs typeface="Times New Roman"/>
              </a:rPr>
              <a:t>Asignación de tareas entre los miembros del equipo auditor.</a:t>
            </a:r>
          </a:p>
          <a:p>
            <a:pPr lvl="0" algn="just">
              <a:lnSpc>
                <a:spcPct val="115000"/>
              </a:lnSpc>
              <a:buFont typeface="+mj-lt"/>
              <a:buAutoNum type="arabicPeriod"/>
            </a:pPr>
            <a:r>
              <a:rPr lang="es-CL" sz="2000" dirty="0">
                <a:ea typeface="Calibri"/>
                <a:cs typeface="Times New Roman"/>
              </a:rPr>
              <a:t>Definición de los métodos de recolección de información interna y externa.</a:t>
            </a:r>
          </a:p>
          <a:p>
            <a:pPr lvl="0" algn="just">
              <a:lnSpc>
                <a:spcPct val="115000"/>
              </a:lnSpc>
              <a:buFont typeface="+mj-lt"/>
              <a:buAutoNum type="arabicPeriod"/>
            </a:pPr>
            <a:r>
              <a:rPr lang="es-CL" sz="2000" dirty="0">
                <a:ea typeface="Calibri"/>
                <a:cs typeface="Times New Roman"/>
              </a:rPr>
              <a:t>Lista de personas que se han de entrevistar, al interior y </a:t>
            </a:r>
            <a:r>
              <a:rPr lang="es-CL" sz="2000" dirty="0" smtClean="0">
                <a:ea typeface="Calibri"/>
                <a:cs typeface="Times New Roman"/>
              </a:rPr>
              <a:t>al exterior </a:t>
            </a:r>
            <a:r>
              <a:rPr lang="es-CL" sz="2000" dirty="0">
                <a:ea typeface="Calibri"/>
                <a:cs typeface="Times New Roman"/>
              </a:rPr>
              <a:t>de la empresa.</a:t>
            </a:r>
          </a:p>
          <a:p>
            <a:pPr lvl="0" algn="just">
              <a:lnSpc>
                <a:spcPct val="115000"/>
              </a:lnSpc>
              <a:buFont typeface="+mj-lt"/>
              <a:buAutoNum type="arabicPeriod"/>
            </a:pPr>
            <a:r>
              <a:rPr lang="es-CL" sz="2000" dirty="0">
                <a:ea typeface="Calibri"/>
                <a:cs typeface="Times New Roman"/>
              </a:rPr>
              <a:t>Sincronización de tiempos.</a:t>
            </a:r>
          </a:p>
          <a:p>
            <a:pPr lvl="0" algn="just">
              <a:lnSpc>
                <a:spcPct val="115000"/>
              </a:lnSpc>
              <a:buFont typeface="+mj-lt"/>
              <a:buAutoNum type="arabicPeriod"/>
            </a:pPr>
            <a:r>
              <a:rPr lang="es-CL" sz="2000" dirty="0">
                <a:ea typeface="Calibri"/>
                <a:cs typeface="Times New Roman"/>
              </a:rPr>
              <a:t>Definición de los formularios de presentación de los resultados.</a:t>
            </a:r>
          </a:p>
          <a:p>
            <a:pPr lvl="0" algn="just">
              <a:lnSpc>
                <a:spcPct val="115000"/>
              </a:lnSpc>
              <a:buFont typeface="+mj-lt"/>
              <a:buAutoNum type="arabicPeriod"/>
            </a:pPr>
            <a:r>
              <a:rPr lang="es-CL" sz="2000" dirty="0">
                <a:ea typeface="Calibri"/>
                <a:cs typeface="Times New Roman"/>
              </a:rPr>
              <a:t>Definición de los lineamientos básicos de una </a:t>
            </a:r>
            <a:r>
              <a:rPr lang="es-CL" sz="2000" dirty="0" smtClean="0">
                <a:ea typeface="Calibri"/>
                <a:cs typeface="Times New Roman"/>
              </a:rPr>
              <a:t>política ambiental </a:t>
            </a:r>
            <a:r>
              <a:rPr lang="es-CL" sz="2000" dirty="0">
                <a:ea typeface="Calibri"/>
                <a:cs typeface="Times New Roman"/>
              </a:rPr>
              <a:t>interna.</a:t>
            </a:r>
          </a:p>
          <a:p>
            <a:pPr lvl="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s-CL" sz="2000" dirty="0">
                <a:ea typeface="Calibri"/>
                <a:cs typeface="Times New Roman"/>
              </a:rPr>
              <a:t> Definición de los sistemas de seguimiento y control de resultados.</a:t>
            </a: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s-CL" sz="1800" dirty="0">
                <a:solidFill>
                  <a:srgbClr val="FF0000"/>
                </a:solidFill>
                <a:ea typeface="Calibri"/>
                <a:cs typeface="Times New Roman"/>
              </a:rPr>
              <a:t> </a:t>
            </a:r>
            <a:endParaRPr lang="es-CL" sz="1400" dirty="0">
              <a:solidFill>
                <a:srgbClr val="FF0000"/>
              </a:solidFill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175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008112"/>
          </a:xfrm>
        </p:spPr>
        <p:txBody>
          <a:bodyPr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CL" sz="2800" dirty="0" smtClean="0">
                <a:solidFill>
                  <a:srgbClr val="0000CC"/>
                </a:solidFill>
                <a:ea typeface="Calibri"/>
                <a:cs typeface="Times New Roman"/>
              </a:rPr>
              <a:t>MÉTODOS PARA LA OBTENCIÓN DE LA INFORMACIÓN EN LA AUDITORÍA AMBIENTAL: </a:t>
            </a:r>
            <a:r>
              <a:rPr lang="es-CL" sz="2800" u="sng" dirty="0" smtClean="0">
                <a:solidFill>
                  <a:srgbClr val="0000CC"/>
                </a:solidFill>
                <a:ea typeface="Calibri"/>
                <a:cs typeface="Times New Roman"/>
              </a:rPr>
              <a:t>INSPECCIONES</a:t>
            </a:r>
            <a:endParaRPr lang="es-CL" sz="2800" u="sng" dirty="0">
              <a:solidFill>
                <a:srgbClr val="0000CC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340768"/>
            <a:ext cx="8229600" cy="5112568"/>
          </a:xfrm>
        </p:spPr>
        <p:txBody>
          <a:bodyPr>
            <a:normAutofit fontScale="32500" lnSpcReduction="20000"/>
          </a:bodyPr>
          <a:lstStyle/>
          <a:p>
            <a:pPr marL="0" lv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s-CL" sz="7400" b="1" u="sng" dirty="0" smtClean="0">
                <a:ea typeface="Calibri"/>
                <a:cs typeface="Times New Roman"/>
              </a:rPr>
              <a:t>Inspecciones</a:t>
            </a:r>
            <a:endParaRPr lang="es-CL" sz="7400" b="1" dirty="0">
              <a:ea typeface="Calibri"/>
              <a:cs typeface="Times New Roman"/>
            </a:endParaRP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s-CL" sz="7400" dirty="0">
                <a:ea typeface="Calibri"/>
                <a:cs typeface="Times New Roman"/>
              </a:rPr>
              <a:t>Comprende un recorrido a la zona donde se lleva a cabo el proceso productivo y otros departamentos de interés. </a:t>
            </a:r>
            <a:endParaRPr lang="es-CL" sz="7400" dirty="0" smtClean="0">
              <a:ea typeface="Calibri"/>
              <a:cs typeface="Times New Roman"/>
            </a:endParaRP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s-CL" sz="7400" dirty="0" smtClean="0">
                <a:ea typeface="Calibri"/>
                <a:cs typeface="Times New Roman"/>
              </a:rPr>
              <a:t>Durante </a:t>
            </a:r>
            <a:r>
              <a:rPr lang="es-CL" sz="7400" dirty="0">
                <a:ea typeface="Calibri"/>
                <a:cs typeface="Times New Roman"/>
              </a:rPr>
              <a:t>las inspecciones los encargados buscarán señales de emisiones gaseosas o material </a:t>
            </a:r>
            <a:r>
              <a:rPr lang="es-CL" sz="7400" dirty="0" err="1">
                <a:ea typeface="Calibri"/>
                <a:cs typeface="Times New Roman"/>
              </a:rPr>
              <a:t>particulado</a:t>
            </a:r>
            <a:r>
              <a:rPr lang="es-CL" sz="7400" dirty="0">
                <a:ea typeface="Calibri"/>
                <a:cs typeface="Times New Roman"/>
              </a:rPr>
              <a:t>, de prácticas inseguras y puntos de generación de residuos, tanto líquidos como sólidos. </a:t>
            </a:r>
            <a:endParaRPr lang="es-CL" sz="7400" dirty="0" smtClean="0">
              <a:ea typeface="Calibri"/>
              <a:cs typeface="Times New Roman"/>
            </a:endParaRP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s-CL" sz="7400" dirty="0" smtClean="0">
                <a:ea typeface="Calibri"/>
                <a:cs typeface="Times New Roman"/>
              </a:rPr>
              <a:t>Es </a:t>
            </a:r>
            <a:r>
              <a:rPr lang="es-CL" sz="7400" dirty="0">
                <a:ea typeface="Calibri"/>
                <a:cs typeface="Times New Roman"/>
              </a:rPr>
              <a:t>importante la preparación de una descripción de cada uno de los procesos, materias primas e insumos. Tal descripción podrá ser escrita o bien en forma de diagramas de operación.</a:t>
            </a:r>
          </a:p>
          <a:p>
            <a:pPr marL="0" lvl="0" indent="0" algn="just">
              <a:lnSpc>
                <a:spcPct val="115000"/>
              </a:lnSpc>
              <a:buNone/>
            </a:pPr>
            <a:endParaRPr lang="es-CL" sz="7200" dirty="0">
              <a:ea typeface="Calibri"/>
              <a:cs typeface="Times New Roman"/>
            </a:endParaRPr>
          </a:p>
          <a:p>
            <a:pPr algn="just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91802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008112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CL" sz="2400" dirty="0" smtClean="0">
                <a:solidFill>
                  <a:srgbClr val="0000CC"/>
                </a:solidFill>
                <a:ea typeface="Calibri"/>
                <a:cs typeface="Times New Roman"/>
              </a:rPr>
              <a:t>MÉTODOS PARA LA OBTENCIÓN DE LA INFORMACIÓN EN LA AUDITORÍA AMBIENTAL: </a:t>
            </a:r>
            <a:r>
              <a:rPr lang="es-CL" sz="2400" u="sng" dirty="0" smtClean="0">
                <a:solidFill>
                  <a:srgbClr val="0000CC"/>
                </a:solidFill>
                <a:ea typeface="Calibri"/>
                <a:cs typeface="Times New Roman"/>
              </a:rPr>
              <a:t>ENTREVISTAS </a:t>
            </a:r>
            <a:endParaRPr lang="es-CL" sz="2400" u="sng" dirty="0">
              <a:solidFill>
                <a:srgbClr val="0000CC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340768"/>
            <a:ext cx="8229600" cy="5112568"/>
          </a:xfrm>
        </p:spPr>
        <p:txBody>
          <a:bodyPr>
            <a:normAutofit fontScale="32500" lnSpcReduction="20000"/>
          </a:bodyPr>
          <a:lstStyle/>
          <a:p>
            <a:pPr marL="0" lv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s-CL" sz="7400" b="1" u="sng" dirty="0">
                <a:ea typeface="Calibri"/>
                <a:cs typeface="Times New Roman"/>
              </a:rPr>
              <a:t>Entrevistas</a:t>
            </a:r>
            <a:endParaRPr lang="es-CL" sz="7400" b="1" dirty="0">
              <a:ea typeface="Calibri"/>
              <a:cs typeface="Times New Roman"/>
            </a:endParaRP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s-CL" sz="7400" dirty="0">
                <a:ea typeface="Calibri"/>
                <a:cs typeface="Times New Roman"/>
              </a:rPr>
              <a:t>Los auditores sostendrán entrevistas con el personal responsable en todos los niveles de la empresa, muy especialmente con los trabajadores a partir de cuya experiencia es posible obtener un diagnóstico más acabado de los problemas ambientales generados en el proceso productivo. </a:t>
            </a:r>
            <a:endParaRPr lang="es-CL" sz="7400" dirty="0" smtClean="0">
              <a:ea typeface="Calibri"/>
              <a:cs typeface="Times New Roman"/>
            </a:endParaRP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s-CL" sz="7400" dirty="0" smtClean="0">
                <a:ea typeface="Calibri"/>
                <a:cs typeface="Times New Roman"/>
              </a:rPr>
              <a:t>Para </a:t>
            </a:r>
            <a:r>
              <a:rPr lang="es-CL" sz="7400" dirty="0">
                <a:ea typeface="Calibri"/>
                <a:cs typeface="Times New Roman"/>
              </a:rPr>
              <a:t>la implementación de esta medida, será necesario comunicar a todos los empleados que deben dedicar tiempo a atender a los encargados de la </a:t>
            </a:r>
            <a:r>
              <a:rPr lang="es-CL" sz="7400" dirty="0" smtClean="0">
                <a:ea typeface="Calibri"/>
                <a:cs typeface="Times New Roman"/>
              </a:rPr>
              <a:t>Auditoría Ambiental </a:t>
            </a:r>
            <a:r>
              <a:rPr lang="es-CL" sz="7400" dirty="0">
                <a:ea typeface="Calibri"/>
                <a:cs typeface="Times New Roman"/>
              </a:rPr>
              <a:t>y que han de darle acceso a toda la información solicitada</a:t>
            </a:r>
            <a:r>
              <a:rPr lang="es-CL" sz="7400" dirty="0" smtClean="0">
                <a:ea typeface="Calibri"/>
                <a:cs typeface="Times New Roman"/>
              </a:rPr>
              <a:t>.</a:t>
            </a:r>
            <a:r>
              <a:rPr lang="es-CL" sz="7400" dirty="0">
                <a:ea typeface="Calibri"/>
                <a:cs typeface="Times New Roman"/>
              </a:rPr>
              <a:t> </a:t>
            </a:r>
          </a:p>
          <a:p>
            <a:pPr marL="0" lvl="0" indent="0" algn="just">
              <a:lnSpc>
                <a:spcPct val="115000"/>
              </a:lnSpc>
              <a:buNone/>
            </a:pPr>
            <a:endParaRPr lang="es-CL" sz="7200" dirty="0">
              <a:ea typeface="Calibri"/>
              <a:cs typeface="Times New Roman"/>
            </a:endParaRPr>
          </a:p>
          <a:p>
            <a:pPr algn="just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468260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008112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CL" sz="2400" dirty="0" smtClean="0">
                <a:solidFill>
                  <a:srgbClr val="0000CC"/>
                </a:solidFill>
                <a:ea typeface="Calibri"/>
                <a:cs typeface="Times New Roman"/>
              </a:rPr>
              <a:t>MÉTODOS PARA LA OBTENCIÓN DE LA INFORMACIÓN EN LA AUDITORÍA AMBIENTAL: </a:t>
            </a:r>
            <a:r>
              <a:rPr lang="es-CL" sz="2400" u="sng" dirty="0" smtClean="0">
                <a:solidFill>
                  <a:srgbClr val="0000CC"/>
                </a:solidFill>
                <a:ea typeface="Calibri"/>
                <a:cs typeface="Times New Roman"/>
              </a:rPr>
              <a:t>INFORMACIÓN EXTERNA</a:t>
            </a:r>
            <a:endParaRPr lang="es-CL" sz="2400" u="sng" dirty="0">
              <a:solidFill>
                <a:srgbClr val="0000CC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340768"/>
            <a:ext cx="8229600" cy="5112568"/>
          </a:xfrm>
        </p:spPr>
        <p:txBody>
          <a:bodyPr>
            <a:normAutofit fontScale="25000" lnSpcReduction="20000"/>
          </a:bodyPr>
          <a:lstStyle/>
          <a:p>
            <a:pPr marL="0" lv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s-CL" sz="8000" b="1" u="sng" dirty="0" smtClean="0">
                <a:ea typeface="Calibri"/>
                <a:cs typeface="Times New Roman"/>
              </a:rPr>
              <a:t>Información </a:t>
            </a:r>
            <a:r>
              <a:rPr lang="es-CL" sz="8000" b="1" u="sng" dirty="0">
                <a:ea typeface="Calibri"/>
                <a:cs typeface="Times New Roman"/>
              </a:rPr>
              <a:t>externa</a:t>
            </a:r>
            <a:endParaRPr lang="es-CL" sz="8000" b="1" dirty="0">
              <a:ea typeface="Calibri"/>
              <a:cs typeface="Times New Roman"/>
            </a:endParaRP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s-CL" sz="8000" dirty="0">
                <a:ea typeface="Calibri"/>
                <a:cs typeface="Times New Roman"/>
              </a:rPr>
              <a:t>La información externa es aquella proporcionada por organismos especializados, y que la empresa no es capaz de generar por necesitar infraestructura adecuada para realizarla (equipos de medición y profesionales especializados). </a:t>
            </a:r>
            <a:endParaRPr lang="es-CL" sz="8000" dirty="0" smtClean="0">
              <a:ea typeface="Calibri"/>
              <a:cs typeface="Times New Roman"/>
            </a:endParaRP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s-CL" sz="8000" dirty="0" smtClean="0">
                <a:ea typeface="Calibri"/>
                <a:cs typeface="Times New Roman"/>
              </a:rPr>
              <a:t>Esto </a:t>
            </a:r>
            <a:r>
              <a:rPr lang="es-CL" sz="8000" dirty="0">
                <a:ea typeface="Calibri"/>
                <a:cs typeface="Times New Roman"/>
              </a:rPr>
              <a:t>significa, específicamente</a:t>
            </a:r>
            <a:r>
              <a:rPr lang="es-CL" sz="8000" dirty="0" smtClean="0">
                <a:ea typeface="Calibri"/>
                <a:cs typeface="Times New Roman"/>
              </a:rPr>
              <a:t>, </a:t>
            </a:r>
            <a:r>
              <a:rPr lang="es-CL" sz="8000" dirty="0">
                <a:ea typeface="Calibri"/>
                <a:cs typeface="Times New Roman"/>
              </a:rPr>
              <a:t>la medición cuantitativa de parámetros contaminantes en las distintas descargas generadas en el proceso productivo (mediciones de emisiones gaseosas, caracterizaciones físico-químicas de RILES, etc.). Existe una variada oferta de consultoras a nivel nacional que ofrecen este tipo de servicios. </a:t>
            </a:r>
            <a:endParaRPr lang="es-CL" sz="8000" dirty="0" smtClean="0">
              <a:ea typeface="Calibri"/>
              <a:cs typeface="Times New Roman"/>
            </a:endParaRP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s-CL" sz="8000" dirty="0" smtClean="0">
                <a:ea typeface="Calibri"/>
                <a:cs typeface="Times New Roman"/>
              </a:rPr>
              <a:t>Este </a:t>
            </a:r>
            <a:r>
              <a:rPr lang="es-CL" sz="8000" dirty="0">
                <a:ea typeface="Calibri"/>
                <a:cs typeface="Times New Roman"/>
              </a:rPr>
              <a:t>tipo de información es clave para obtener resultados satisfactorios de la Auditoría Ambiental. </a:t>
            </a:r>
            <a:r>
              <a:rPr lang="es-CL" sz="8000" dirty="0" smtClean="0">
                <a:ea typeface="Calibri"/>
                <a:cs typeface="Times New Roman"/>
              </a:rPr>
              <a:t>La Política </a:t>
            </a:r>
            <a:r>
              <a:rPr lang="es-CL" sz="8000" dirty="0">
                <a:ea typeface="Calibri"/>
                <a:cs typeface="Times New Roman"/>
              </a:rPr>
              <a:t>Ambiental </a:t>
            </a:r>
            <a:r>
              <a:rPr lang="es-CL" sz="8000" dirty="0" smtClean="0">
                <a:ea typeface="Calibri"/>
                <a:cs typeface="Times New Roman"/>
              </a:rPr>
              <a:t>o </a:t>
            </a:r>
            <a:r>
              <a:rPr lang="es-CL" sz="8000" dirty="0">
                <a:ea typeface="Calibri"/>
                <a:cs typeface="Times New Roman"/>
              </a:rPr>
              <a:t>Plan de Gestión a seguir se sustentará, en gran parte, en los resultados que indiquen las mediciones de los parámetros contaminantes.</a:t>
            </a: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s-CL" sz="7200" dirty="0">
                <a:solidFill>
                  <a:srgbClr val="FF0000"/>
                </a:solidFill>
                <a:ea typeface="Calibri"/>
                <a:cs typeface="Times New Roman"/>
              </a:rPr>
              <a:t> </a:t>
            </a:r>
            <a:endParaRPr lang="es-CL" sz="6000" dirty="0">
              <a:solidFill>
                <a:srgbClr val="FF0000"/>
              </a:solidFill>
              <a:ea typeface="Calibri"/>
              <a:cs typeface="Times New Roman"/>
            </a:endParaRPr>
          </a:p>
          <a:p>
            <a:pPr marL="0" lvl="0" indent="0" algn="just">
              <a:lnSpc>
                <a:spcPct val="115000"/>
              </a:lnSpc>
              <a:buNone/>
            </a:pPr>
            <a:endParaRPr lang="es-CL" sz="7200" dirty="0">
              <a:ea typeface="Calibri"/>
              <a:cs typeface="Times New Roman"/>
            </a:endParaRPr>
          </a:p>
          <a:p>
            <a:pPr algn="just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670038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86390" y="332656"/>
            <a:ext cx="8229600" cy="648072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CL" sz="2400" dirty="0" smtClean="0">
                <a:solidFill>
                  <a:srgbClr val="0000CC"/>
                </a:solidFill>
              </a:rPr>
              <a:t>CARACTERIZACIÓN DE EFLUENTES LÍQUIDOS</a:t>
            </a:r>
            <a:endParaRPr lang="es-CL" sz="2400" dirty="0">
              <a:solidFill>
                <a:srgbClr val="0000CC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86390" y="795287"/>
            <a:ext cx="8229600" cy="5976664"/>
          </a:xfrm>
        </p:spPr>
        <p:txBody>
          <a:bodyPr>
            <a:normAutofit fontScale="47500" lnSpcReduction="20000"/>
          </a:bodyPr>
          <a:lstStyle/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endParaRPr lang="es-CL" sz="4200" dirty="0" smtClean="0"/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s-CL" sz="4200" dirty="0" smtClean="0"/>
              <a:t>Un </a:t>
            </a:r>
            <a:r>
              <a:rPr lang="es-CL" sz="4200" dirty="0"/>
              <a:t>efluente </a:t>
            </a:r>
            <a:r>
              <a:rPr lang="es-CL" sz="4200" dirty="0" smtClean="0"/>
              <a:t>líquido es </a:t>
            </a:r>
            <a:r>
              <a:rPr lang="es-CL" sz="4200" dirty="0"/>
              <a:t>cualquier líquido que procede de una planta </a:t>
            </a:r>
            <a:r>
              <a:rPr lang="es-CL" sz="4200" dirty="0" smtClean="0"/>
              <a:t>industrial.</a:t>
            </a: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s-CL" sz="4200" dirty="0" smtClean="0"/>
              <a:t>Los efluentes líquidos </a:t>
            </a:r>
            <a:r>
              <a:rPr lang="es-CL" sz="4200" dirty="0"/>
              <a:t>deben ser caracterizados de acuerdo a sus principales parámetros, entre los cuales se </a:t>
            </a:r>
            <a:r>
              <a:rPr lang="es-CL" sz="4200" dirty="0" smtClean="0"/>
              <a:t>distinguen los siguientes: </a:t>
            </a:r>
            <a:r>
              <a:rPr lang="es-CL" sz="4200" dirty="0"/>
              <a:t>DBO, DQO, s</a:t>
            </a:r>
            <a:r>
              <a:rPr lang="es-CL" sz="4200" dirty="0" smtClean="0"/>
              <a:t>ólidos </a:t>
            </a:r>
            <a:r>
              <a:rPr lang="es-CL" sz="4200" dirty="0"/>
              <a:t>suspendidos, </a:t>
            </a:r>
            <a:r>
              <a:rPr lang="es-CL" sz="4200" dirty="0" smtClean="0"/>
              <a:t>grasas </a:t>
            </a:r>
            <a:r>
              <a:rPr lang="es-CL" sz="4200" dirty="0"/>
              <a:t>y aceites, </a:t>
            </a:r>
            <a:r>
              <a:rPr lang="es-CL" sz="4200" dirty="0" smtClean="0"/>
              <a:t>metales </a:t>
            </a:r>
            <a:r>
              <a:rPr lang="es-CL" sz="4200" dirty="0"/>
              <a:t>pesados, </a:t>
            </a:r>
            <a:r>
              <a:rPr lang="es-CL" sz="4200" dirty="0" smtClean="0"/>
              <a:t>temperatura</a:t>
            </a:r>
            <a:r>
              <a:rPr lang="es-CL" sz="4200" dirty="0"/>
              <a:t>, pH. </a:t>
            </a:r>
            <a:endParaRPr lang="es-CL" sz="4200" dirty="0" smtClean="0"/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s-CL" sz="4200" dirty="0" smtClean="0"/>
              <a:t>Es </a:t>
            </a:r>
            <a:r>
              <a:rPr lang="es-CL" sz="4200" dirty="0"/>
              <a:t>aconsejable que los análisis </a:t>
            </a:r>
            <a:r>
              <a:rPr lang="es-CL" sz="4200" dirty="0" smtClean="0"/>
              <a:t>de los efluentes líquidos sean </a:t>
            </a:r>
            <a:r>
              <a:rPr lang="es-CL" sz="4200" dirty="0"/>
              <a:t>generalmente realizados por un laboratorio </a:t>
            </a:r>
            <a:r>
              <a:rPr lang="es-CL" sz="4200" dirty="0" smtClean="0"/>
              <a:t>especializado.</a:t>
            </a: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s-CL" sz="4200" dirty="0" smtClean="0"/>
              <a:t>La </a:t>
            </a:r>
            <a:r>
              <a:rPr lang="es-CL" sz="4200" dirty="0"/>
              <a:t>toma de muestras </a:t>
            </a:r>
            <a:r>
              <a:rPr lang="es-CL" sz="4200" dirty="0" smtClean="0"/>
              <a:t>del efluente debe </a:t>
            </a:r>
            <a:r>
              <a:rPr lang="es-CL" sz="4200" dirty="0"/>
              <a:t>seguir un procedimiento </a:t>
            </a:r>
            <a:r>
              <a:rPr lang="es-CL" sz="4200" dirty="0" smtClean="0"/>
              <a:t>correcto </a:t>
            </a:r>
            <a:r>
              <a:rPr lang="es-CL" sz="4200" dirty="0"/>
              <a:t>y </a:t>
            </a:r>
            <a:r>
              <a:rPr lang="es-CL" sz="4200" dirty="0" smtClean="0"/>
              <a:t>éstas </a:t>
            </a:r>
            <a:r>
              <a:rPr lang="es-CL" sz="4200" dirty="0"/>
              <a:t>deben ser representativas de la ocurrencia, duración y características del proceso. </a:t>
            </a:r>
            <a:endParaRPr lang="es-CL" sz="4200" dirty="0" smtClean="0"/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s-CL" sz="4200" dirty="0" smtClean="0"/>
              <a:t>Una </a:t>
            </a:r>
            <a:r>
              <a:rPr lang="es-CL" sz="4200" dirty="0"/>
              <a:t>vez realizadas las caracterizaciones y obtenidos los resultados estos deben tabularse.</a:t>
            </a:r>
          </a:p>
          <a:p>
            <a:pPr marL="0" lvl="0" indent="0" algn="just">
              <a:lnSpc>
                <a:spcPct val="115000"/>
              </a:lnSpc>
              <a:spcAft>
                <a:spcPts val="1000"/>
              </a:spcAft>
              <a:buNone/>
            </a:pPr>
            <a:endParaRPr lang="es-CL" sz="1200" dirty="0">
              <a:solidFill>
                <a:srgbClr val="FF0000"/>
              </a:solidFill>
              <a:ea typeface="Calibri"/>
              <a:cs typeface="Times New Roman"/>
            </a:endParaRP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s-CL" sz="7200" dirty="0">
                <a:solidFill>
                  <a:srgbClr val="FF0000"/>
                </a:solidFill>
                <a:ea typeface="Calibri"/>
                <a:cs typeface="Times New Roman"/>
              </a:rPr>
              <a:t> </a:t>
            </a:r>
            <a:endParaRPr lang="es-CL" sz="6000" dirty="0">
              <a:solidFill>
                <a:srgbClr val="FF0000"/>
              </a:solidFill>
              <a:ea typeface="Calibri"/>
              <a:cs typeface="Times New Roman"/>
            </a:endParaRPr>
          </a:p>
          <a:p>
            <a:pPr marL="0" lvl="0" indent="0" algn="just">
              <a:lnSpc>
                <a:spcPct val="115000"/>
              </a:lnSpc>
              <a:buNone/>
            </a:pPr>
            <a:endParaRPr lang="es-CL" sz="7200" dirty="0">
              <a:ea typeface="Calibri"/>
              <a:cs typeface="Times New Roman"/>
            </a:endParaRPr>
          </a:p>
          <a:p>
            <a:pPr algn="just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181967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432048"/>
          </a:xfrm>
        </p:spPr>
        <p:txBody>
          <a:bodyPr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CL" sz="2400" dirty="0" smtClean="0">
                <a:solidFill>
                  <a:srgbClr val="0000CC"/>
                </a:solidFill>
                <a:ea typeface="Calibri"/>
                <a:cs typeface="Times New Roman"/>
              </a:rPr>
              <a:t>MÉTODOS Y PROCEDIMIENTOS DE LA AUDITORÍA AMBIENTAL:</a:t>
            </a:r>
            <a:endParaRPr lang="es-CL" sz="2400" u="sng" dirty="0">
              <a:solidFill>
                <a:srgbClr val="0000CC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45447" y="764704"/>
            <a:ext cx="8229600" cy="583264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L" sz="1800" dirty="0" smtClean="0"/>
              <a:t>Una </a:t>
            </a:r>
            <a:r>
              <a:rPr lang="es-CL" sz="1800" dirty="0"/>
              <a:t>auditoría ambiental es normalmente organizada en tres pasos, que comprenden actividades de pre-auditoría, </a:t>
            </a:r>
            <a:r>
              <a:rPr lang="es-CL" sz="1800" dirty="0" smtClean="0"/>
              <a:t>auditoría </a:t>
            </a:r>
            <a:r>
              <a:rPr lang="es-CL" sz="1800" dirty="0"/>
              <a:t>propiamente </a:t>
            </a:r>
            <a:r>
              <a:rPr lang="es-CL" sz="1800" dirty="0" smtClean="0"/>
              <a:t>tal </a:t>
            </a:r>
            <a:r>
              <a:rPr lang="es-CL" sz="1800" dirty="0"/>
              <a:t>y actividades de pos-auditoría. </a:t>
            </a:r>
            <a:endParaRPr lang="es-CL" sz="1800" dirty="0" smtClean="0"/>
          </a:p>
          <a:p>
            <a:pPr marL="0" indent="0" algn="just">
              <a:buNone/>
            </a:pPr>
            <a:endParaRPr lang="es-CL" sz="1800" dirty="0"/>
          </a:p>
          <a:p>
            <a:pPr algn="just">
              <a:buAutoNum type="alphaUcParenR"/>
            </a:pPr>
            <a:r>
              <a:rPr lang="es-CL" sz="1800" b="1" dirty="0" smtClean="0">
                <a:solidFill>
                  <a:srgbClr val="006600"/>
                </a:solidFill>
              </a:rPr>
              <a:t>DEFINICIÓN DE LOS OBJETIVOS </a:t>
            </a:r>
          </a:p>
          <a:p>
            <a:pPr marL="0" indent="0" algn="just">
              <a:buNone/>
            </a:pPr>
            <a:endParaRPr lang="es-CL" sz="1800" dirty="0" smtClean="0">
              <a:solidFill>
                <a:srgbClr val="006600"/>
              </a:solidFill>
            </a:endParaRPr>
          </a:p>
          <a:p>
            <a:pPr marL="0" indent="0" algn="just">
              <a:buNone/>
            </a:pPr>
            <a:r>
              <a:rPr lang="es-CL" sz="1800" dirty="0" smtClean="0"/>
              <a:t>El </a:t>
            </a:r>
            <a:r>
              <a:rPr lang="es-CL" sz="1800" dirty="0"/>
              <a:t>cliente entra en contacto con el auditor y le encomienda la auditoría. </a:t>
            </a:r>
            <a:r>
              <a:rPr lang="es-CL" sz="1800" dirty="0" smtClean="0"/>
              <a:t>Posteriormente, se realiza lo siguiente:</a:t>
            </a:r>
          </a:p>
          <a:p>
            <a:pPr marL="0" indent="0" algn="just">
              <a:buNone/>
            </a:pPr>
            <a:endParaRPr lang="es-CL" sz="1800" dirty="0"/>
          </a:p>
          <a:p>
            <a:pPr algn="just"/>
            <a:r>
              <a:rPr lang="es-CL" sz="1800" dirty="0" smtClean="0"/>
              <a:t>Establecer </a:t>
            </a:r>
            <a:r>
              <a:rPr lang="es-CL" sz="1800" dirty="0"/>
              <a:t>los objetivos de la auditoría;  </a:t>
            </a:r>
          </a:p>
          <a:p>
            <a:pPr algn="just"/>
            <a:r>
              <a:rPr lang="es-CL" sz="1800" dirty="0"/>
              <a:t>Desarrollar un plan de </a:t>
            </a:r>
            <a:r>
              <a:rPr lang="es-CL" sz="1800" dirty="0" smtClean="0"/>
              <a:t>auditoría (según </a:t>
            </a:r>
            <a:r>
              <a:rPr lang="es-CL" sz="1800" dirty="0"/>
              <a:t>los objetivos </a:t>
            </a:r>
            <a:r>
              <a:rPr lang="es-CL" sz="1800" dirty="0" smtClean="0"/>
              <a:t>fijados); </a:t>
            </a:r>
            <a:endParaRPr lang="es-CL" sz="1800" dirty="0"/>
          </a:p>
          <a:p>
            <a:pPr algn="just"/>
            <a:r>
              <a:rPr lang="es-CL" sz="1800" dirty="0"/>
              <a:t>Obtener información inicial sobre la instalación (</a:t>
            </a:r>
            <a:r>
              <a:rPr lang="es-CL" sz="1800" dirty="0" smtClean="0"/>
              <a:t>organigrama, </a:t>
            </a:r>
            <a:r>
              <a:rPr lang="es-CL" sz="1800" dirty="0"/>
              <a:t>flujogramas </a:t>
            </a:r>
            <a:r>
              <a:rPr lang="es-CL" sz="1800" dirty="0" smtClean="0"/>
              <a:t>del proceso, entre otros) </a:t>
            </a:r>
            <a:r>
              <a:rPr lang="es-CL" sz="1800" dirty="0"/>
              <a:t>y sus prácticas de gestión ambiental;  </a:t>
            </a:r>
          </a:p>
          <a:p>
            <a:pPr algn="just"/>
            <a:r>
              <a:rPr lang="es-CL" sz="1800" dirty="0"/>
              <a:t>Obtener informaciones sobre las reglamentaciones aplicables (</a:t>
            </a:r>
            <a:r>
              <a:rPr lang="es-CL" sz="1800" dirty="0" smtClean="0"/>
              <a:t>leyes, autorizaciones, normas </a:t>
            </a:r>
            <a:r>
              <a:rPr lang="es-CL" sz="1800" dirty="0"/>
              <a:t>técnicas). </a:t>
            </a:r>
          </a:p>
          <a:p>
            <a:pPr algn="just"/>
            <a:r>
              <a:rPr lang="es-CL" sz="1800" dirty="0"/>
              <a:t>Algunas organizaciones y empresas de consultoría </a:t>
            </a:r>
            <a:r>
              <a:rPr lang="es-CL" sz="1800" dirty="0" smtClean="0"/>
              <a:t>acostumbran enviar </a:t>
            </a:r>
            <a:r>
              <a:rPr lang="es-CL" sz="1800" dirty="0"/>
              <a:t>cuestionarios a los responsables de la instalación a ser auditada, conteniendo preguntas sobre: actividades </a:t>
            </a:r>
            <a:r>
              <a:rPr lang="es-CL" sz="1800" dirty="0" smtClean="0"/>
              <a:t>realizadas, emisiones </a:t>
            </a:r>
            <a:r>
              <a:rPr lang="es-CL" sz="1800" dirty="0"/>
              <a:t>de contaminantes y residuos</a:t>
            </a:r>
            <a:r>
              <a:rPr lang="es-CL" sz="1800" dirty="0" smtClean="0"/>
              <a:t>, </a:t>
            </a:r>
            <a:r>
              <a:rPr lang="es-CL" sz="1800" dirty="0"/>
              <a:t>existencia de programas de monitoreo ambiental</a:t>
            </a:r>
            <a:r>
              <a:rPr lang="es-CL" sz="1800" dirty="0" smtClean="0"/>
              <a:t>, entre otros.</a:t>
            </a:r>
            <a:endParaRPr lang="es-CL" sz="1800" dirty="0">
              <a:ea typeface="Calibri"/>
              <a:cs typeface="Times New Roman"/>
            </a:endParaRPr>
          </a:p>
          <a:p>
            <a:pPr marL="0" lvl="0" indent="0" algn="just">
              <a:lnSpc>
                <a:spcPct val="115000"/>
              </a:lnSpc>
              <a:buNone/>
            </a:pPr>
            <a:endParaRPr lang="es-CL" sz="7200" dirty="0">
              <a:ea typeface="Calibri"/>
              <a:cs typeface="Times New Roman"/>
            </a:endParaRPr>
          </a:p>
          <a:p>
            <a:pPr algn="just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611455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432048"/>
          </a:xfrm>
        </p:spPr>
        <p:txBody>
          <a:bodyPr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CL" sz="2400" dirty="0" smtClean="0">
                <a:solidFill>
                  <a:srgbClr val="0000CC"/>
                </a:solidFill>
                <a:cs typeface="Times New Roman"/>
              </a:rPr>
              <a:t>CUESTIONARIO DE PRE-VISITA DE AUDITORÍA </a:t>
            </a:r>
            <a:endParaRPr lang="es-CL" sz="2400" u="sng" dirty="0">
              <a:solidFill>
                <a:srgbClr val="0000CC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45447" y="764704"/>
            <a:ext cx="8229600" cy="6093296"/>
          </a:xfrm>
        </p:spPr>
        <p:txBody>
          <a:bodyPr>
            <a:normAutofit/>
          </a:bodyPr>
          <a:lstStyle/>
          <a:p>
            <a:pPr algn="just"/>
            <a:r>
              <a:rPr lang="es-CL" sz="1800" dirty="0" smtClean="0"/>
              <a:t>Si el </a:t>
            </a:r>
            <a:r>
              <a:rPr lang="es-CL" sz="1800" dirty="0"/>
              <a:t>equipo </a:t>
            </a:r>
            <a:r>
              <a:rPr lang="es-CL" sz="1800" dirty="0" smtClean="0"/>
              <a:t>auditor quiere conocer </a:t>
            </a:r>
            <a:r>
              <a:rPr lang="es-CL" sz="1800" dirty="0"/>
              <a:t>con mayor precisión algunos aspectos </a:t>
            </a:r>
            <a:r>
              <a:rPr lang="es-CL" sz="1800" dirty="0" smtClean="0"/>
              <a:t>relacionados con</a:t>
            </a:r>
            <a:r>
              <a:rPr lang="es-CL" sz="1800" dirty="0"/>
              <a:t> </a:t>
            </a:r>
            <a:r>
              <a:rPr lang="es-CL" sz="1800" dirty="0" smtClean="0"/>
              <a:t>la auditoría, podrá formular un </a:t>
            </a:r>
            <a:r>
              <a:rPr lang="es-CL" sz="1800" dirty="0"/>
              <a:t>cuestionario de pre-visita de auditoría (CPV</a:t>
            </a:r>
            <a:r>
              <a:rPr lang="es-CL" sz="1800" dirty="0" smtClean="0"/>
              <a:t>), que consiste </a:t>
            </a:r>
            <a:r>
              <a:rPr lang="es-CL" sz="1800" dirty="0"/>
              <a:t>en una serie de preguntas </a:t>
            </a:r>
            <a:r>
              <a:rPr lang="es-CL" sz="1800" dirty="0" smtClean="0"/>
              <a:t>escritas </a:t>
            </a:r>
            <a:r>
              <a:rPr lang="es-CL" sz="1800" dirty="0"/>
              <a:t>dirigidas a la persona de contacto del </a:t>
            </a:r>
            <a:r>
              <a:rPr lang="es-CL" sz="1800" dirty="0" smtClean="0"/>
              <a:t>auditado.</a:t>
            </a:r>
          </a:p>
          <a:p>
            <a:pPr marL="0" indent="0" algn="just">
              <a:buNone/>
            </a:pPr>
            <a:endParaRPr lang="es-CL" sz="1800" dirty="0"/>
          </a:p>
          <a:p>
            <a:pPr algn="just"/>
            <a:r>
              <a:rPr lang="es-CL" sz="1800" dirty="0"/>
              <a:t>El CPV es normalmente enviado unas semanas antes de realizar la visita al sitio y debe ser devuelto por el auditado con tiempo suficiente para permitirle al equipo auditor revisar las respuestas y considerarlas en la preparación de la visita de auditoría.</a:t>
            </a:r>
          </a:p>
          <a:p>
            <a:pPr marL="0" indent="0" algn="just">
              <a:buNone/>
            </a:pPr>
            <a:endParaRPr lang="es-CL" sz="1800" dirty="0"/>
          </a:p>
          <a:p>
            <a:pPr algn="just"/>
            <a:r>
              <a:rPr lang="es-CL" sz="1800" dirty="0"/>
              <a:t>El auditado debe tratar de responder este cuestionario en su totalidad y cualquier duda que surja al respecto debe ser consultada oportunamente con el auditor.</a:t>
            </a:r>
          </a:p>
          <a:p>
            <a:pPr algn="just"/>
            <a:endParaRPr lang="es-CL" sz="1800" dirty="0"/>
          </a:p>
          <a:p>
            <a:pPr algn="just"/>
            <a:r>
              <a:rPr lang="es-CL" sz="1800" dirty="0" smtClean="0"/>
              <a:t>Un </a:t>
            </a:r>
            <a:r>
              <a:rPr lang="es-CL" sz="1800" dirty="0"/>
              <a:t>CPV bien definido puede reducir significativamente el tiempo requerido para conducir la auditoría en terreno, reduciendo costos y ahorrando tiempo y recursos.</a:t>
            </a:r>
          </a:p>
          <a:p>
            <a:pPr marL="0" indent="0">
              <a:buNone/>
            </a:pP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584187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432048"/>
          </a:xfrm>
        </p:spPr>
        <p:txBody>
          <a:bodyPr>
            <a:normAutofit fontScale="90000"/>
          </a:bodyPr>
          <a:lstStyle/>
          <a:p>
            <a:r>
              <a:rPr lang="es-CL" sz="2400" dirty="0">
                <a:solidFill>
                  <a:srgbClr val="0000CC"/>
                </a:solidFill>
              </a:rPr>
              <a:t>CUESTIONARIO DE </a:t>
            </a:r>
            <a:r>
              <a:rPr lang="es-CL" sz="2400" dirty="0" smtClean="0">
                <a:solidFill>
                  <a:srgbClr val="0000CC"/>
                </a:solidFill>
              </a:rPr>
              <a:t>PRE-VISITA DE </a:t>
            </a:r>
            <a:r>
              <a:rPr lang="es-CL" sz="2400" dirty="0">
                <a:solidFill>
                  <a:srgbClr val="0000CC"/>
                </a:solidFill>
              </a:rPr>
              <a:t>AUDITORÍA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45447" y="764704"/>
            <a:ext cx="8229600" cy="609329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CL" sz="2000" dirty="0" smtClean="0"/>
              <a:t>Un CPV podría </a:t>
            </a:r>
            <a:r>
              <a:rPr lang="es-CL" sz="2000" dirty="0"/>
              <a:t>incluir los siguientes tipos de preguntas: </a:t>
            </a:r>
            <a:endParaRPr lang="es-CL" sz="2000" dirty="0" smtClean="0"/>
          </a:p>
          <a:p>
            <a:pPr marL="0" indent="0" algn="just">
              <a:buNone/>
            </a:pPr>
            <a:endParaRPr lang="es-CL" sz="2000" dirty="0"/>
          </a:p>
          <a:p>
            <a:pPr algn="just"/>
            <a:r>
              <a:rPr lang="es-CL" sz="2000" dirty="0"/>
              <a:t>a) ¿Cuáles son los principales procesos o actividades que se desarrollan en </a:t>
            </a:r>
            <a:r>
              <a:rPr lang="es-CL" sz="2000" dirty="0" smtClean="0"/>
              <a:t>la </a:t>
            </a:r>
            <a:r>
              <a:rPr lang="es-CL" sz="2000" dirty="0"/>
              <a:t>organización </a:t>
            </a:r>
            <a:r>
              <a:rPr lang="es-CL" sz="2000" dirty="0" smtClean="0"/>
              <a:t>que se audita? </a:t>
            </a:r>
            <a:endParaRPr lang="es-CL" sz="2000" dirty="0"/>
          </a:p>
          <a:p>
            <a:pPr algn="just"/>
            <a:r>
              <a:rPr lang="es-CL" sz="2000" dirty="0"/>
              <a:t>b) ¿La instalación genera emisiones a la atmósfera? </a:t>
            </a:r>
          </a:p>
          <a:p>
            <a:pPr algn="just"/>
            <a:r>
              <a:rPr lang="es-CL" sz="2000" dirty="0"/>
              <a:t>c) ¿La instalación genera descargas de líquidos? </a:t>
            </a:r>
          </a:p>
          <a:p>
            <a:pPr algn="just"/>
            <a:r>
              <a:rPr lang="es-CL" sz="2000" dirty="0"/>
              <a:t>d) ¿La instalación </a:t>
            </a:r>
            <a:r>
              <a:rPr lang="es-CL" sz="2000" dirty="0" smtClean="0"/>
              <a:t>genera, trata, </a:t>
            </a:r>
            <a:r>
              <a:rPr lang="es-CL" sz="2000" dirty="0"/>
              <a:t>almacena o dispone residuos sólidos? </a:t>
            </a:r>
          </a:p>
          <a:p>
            <a:pPr algn="just"/>
            <a:r>
              <a:rPr lang="es-CL" sz="2000" dirty="0"/>
              <a:t>e) ¿A qué distancia de poblaciones se encuentran las instalaciones? </a:t>
            </a:r>
          </a:p>
          <a:p>
            <a:pPr algn="just"/>
            <a:r>
              <a:rPr lang="es-CL" sz="2000" dirty="0"/>
              <a:t>f) ¿Existen áreas silvestres protegidas en el entorno donde se desarrollan las actividades de la organización? </a:t>
            </a:r>
          </a:p>
          <a:p>
            <a:pPr algn="just"/>
            <a:r>
              <a:rPr lang="es-CL" sz="2000" dirty="0"/>
              <a:t>g) </a:t>
            </a:r>
            <a:r>
              <a:rPr lang="es-CL" sz="2000" dirty="0" smtClean="0"/>
              <a:t>¿Se conocen </a:t>
            </a:r>
            <a:r>
              <a:rPr lang="es-CL" sz="2000" dirty="0"/>
              <a:t>las principales normas ambientales que regulan los procesos de la organización? </a:t>
            </a:r>
          </a:p>
          <a:p>
            <a:pPr algn="just"/>
            <a:r>
              <a:rPr lang="es-CL" sz="2000" dirty="0"/>
              <a:t>h) </a:t>
            </a:r>
            <a:r>
              <a:rPr lang="es-CL" sz="2000" dirty="0" smtClean="0"/>
              <a:t>¿Se conocen </a:t>
            </a:r>
            <a:r>
              <a:rPr lang="es-CL" sz="2000" dirty="0"/>
              <a:t>los permisos de carácter ambiental </a:t>
            </a:r>
            <a:r>
              <a:rPr lang="es-CL" sz="2000" dirty="0" smtClean="0"/>
              <a:t>que </a:t>
            </a:r>
            <a:r>
              <a:rPr lang="es-CL" sz="2000" dirty="0"/>
              <a:t>son </a:t>
            </a:r>
            <a:r>
              <a:rPr lang="es-CL" sz="2000" dirty="0" smtClean="0"/>
              <a:t>aplicables </a:t>
            </a:r>
            <a:r>
              <a:rPr lang="es-CL" sz="2000" dirty="0"/>
              <a:t>a las instalaciones y actividades? </a:t>
            </a:r>
          </a:p>
          <a:p>
            <a:pPr algn="just"/>
            <a:r>
              <a:rPr lang="es-CL" sz="2000" dirty="0"/>
              <a:t>i) ¿Se encuentra enfrentada la organización a problemas por incumplimiento de requerimientos legales?</a:t>
            </a:r>
          </a:p>
          <a:p>
            <a:pPr marL="0" indent="0">
              <a:buNone/>
            </a:pPr>
            <a:r>
              <a:rPr lang="es-CL" sz="20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372591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432048"/>
          </a:xfrm>
        </p:spPr>
        <p:txBody>
          <a:bodyPr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CL" sz="2400" dirty="0" smtClean="0">
                <a:solidFill>
                  <a:srgbClr val="0000CC"/>
                </a:solidFill>
                <a:ea typeface="Calibri"/>
                <a:cs typeface="Times New Roman"/>
              </a:rPr>
              <a:t>MÉTODOS Y PROCEDIMIENTOS DE LA AUDITORÍA AMBIENTAL</a:t>
            </a:r>
            <a:endParaRPr lang="es-CL" sz="2400" u="sng" dirty="0">
              <a:solidFill>
                <a:srgbClr val="0000CC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45447" y="764704"/>
            <a:ext cx="8229600" cy="60932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1800" b="1" dirty="0">
                <a:solidFill>
                  <a:srgbClr val="006600"/>
                </a:solidFill>
              </a:rPr>
              <a:t>(B) </a:t>
            </a:r>
            <a:r>
              <a:rPr lang="es-CL" sz="1800" b="1" dirty="0" smtClean="0">
                <a:solidFill>
                  <a:srgbClr val="006600"/>
                </a:solidFill>
              </a:rPr>
              <a:t>SELECCIÓN DEL EQUIPO DE AUDITORES Y DISTRIBUCIÓN DE LAS TAREAS</a:t>
            </a:r>
            <a:endParaRPr lang="es-CL" sz="1800" dirty="0">
              <a:solidFill>
                <a:srgbClr val="006600"/>
              </a:solidFill>
            </a:endParaRPr>
          </a:p>
          <a:p>
            <a:pPr algn="just"/>
            <a:r>
              <a:rPr lang="es-CL" sz="1800" dirty="0"/>
              <a:t>Dependiendo del tipo de instalación a ser auditado, el auditor-líder seleccionará los integrantes de su equipo. </a:t>
            </a:r>
            <a:endParaRPr lang="es-CL" sz="1800" dirty="0" smtClean="0"/>
          </a:p>
          <a:p>
            <a:pPr algn="just"/>
            <a:endParaRPr lang="es-CL" sz="1800" dirty="0"/>
          </a:p>
          <a:p>
            <a:pPr algn="just"/>
            <a:r>
              <a:rPr lang="es-CL" sz="1800" dirty="0" smtClean="0"/>
              <a:t>Normalmente</a:t>
            </a:r>
            <a:r>
              <a:rPr lang="es-CL" sz="1800" dirty="0"/>
              <a:t>, además de las personas entrenadas y con experiencia en auditoría ambiental es necesario contar, por lo menos, con una persona que conozca bien el tipo de actividad desarrollada en el </a:t>
            </a:r>
            <a:r>
              <a:rPr lang="es-CL" sz="1800" dirty="0" smtClean="0"/>
              <a:t>área. </a:t>
            </a:r>
            <a:r>
              <a:rPr lang="es-CL" sz="1800" dirty="0"/>
              <a:t>P</a:t>
            </a:r>
            <a:r>
              <a:rPr lang="es-CL" sz="1800" dirty="0" smtClean="0"/>
              <a:t>or </a:t>
            </a:r>
            <a:r>
              <a:rPr lang="es-CL" sz="1800" dirty="0"/>
              <a:t>ejemplo, en </a:t>
            </a:r>
            <a:r>
              <a:rPr lang="es-CL" sz="1800" dirty="0" smtClean="0"/>
              <a:t>el caso </a:t>
            </a:r>
            <a:r>
              <a:rPr lang="es-CL" sz="1800" dirty="0"/>
              <a:t>de tratarse de un proceso industrial, podrá ser necesaria la participación de alguien que conozca bien este </a:t>
            </a:r>
            <a:r>
              <a:rPr lang="es-CL" sz="1800" dirty="0" smtClean="0"/>
              <a:t>tipo de proceso</a:t>
            </a:r>
            <a:r>
              <a:rPr lang="es-CL" sz="1800" dirty="0"/>
              <a:t>. </a:t>
            </a:r>
            <a:endParaRPr lang="es-CL" sz="1800" dirty="0" smtClean="0"/>
          </a:p>
          <a:p>
            <a:pPr algn="just"/>
            <a:endParaRPr lang="es-CL" sz="1800" dirty="0" smtClean="0"/>
          </a:p>
          <a:p>
            <a:pPr algn="just"/>
            <a:r>
              <a:rPr lang="es-CL" sz="1800" dirty="0" smtClean="0"/>
              <a:t>Escogido </a:t>
            </a:r>
            <a:r>
              <a:rPr lang="es-CL" sz="1800" dirty="0"/>
              <a:t>el equipo, </a:t>
            </a:r>
            <a:r>
              <a:rPr lang="es-CL" sz="1800" dirty="0" smtClean="0"/>
              <a:t>debe realizarse</a:t>
            </a:r>
            <a:r>
              <a:rPr lang="es-CL" sz="1800" dirty="0"/>
              <a:t> </a:t>
            </a:r>
            <a:r>
              <a:rPr lang="es-CL" sz="1800" dirty="0" smtClean="0"/>
              <a:t>una </a:t>
            </a:r>
            <a:r>
              <a:rPr lang="es-CL" sz="1800" dirty="0"/>
              <a:t>reunión preparatoria para distribución de tareas y para asegurarse que todos tengan el conocimiento necesario de los objetivos de la auditoría. Los materiales informativos son distribuidos </a:t>
            </a:r>
            <a:r>
              <a:rPr lang="es-CL" sz="1800" dirty="0" smtClean="0"/>
              <a:t>en el equipo y </a:t>
            </a:r>
            <a:r>
              <a:rPr lang="es-CL" sz="1800" dirty="0"/>
              <a:t>si fuese necesario, </a:t>
            </a:r>
            <a:r>
              <a:rPr lang="es-CL" sz="1800" dirty="0" smtClean="0"/>
              <a:t>son discutidos</a:t>
            </a:r>
            <a:r>
              <a:rPr lang="es-CL" sz="1800" dirty="0"/>
              <a:t>. </a:t>
            </a:r>
            <a:endParaRPr lang="es-CL" sz="1800" dirty="0" smtClean="0"/>
          </a:p>
          <a:p>
            <a:pPr algn="just"/>
            <a:endParaRPr lang="es-CL" sz="1800" dirty="0" smtClean="0"/>
          </a:p>
          <a:p>
            <a:pPr algn="just"/>
            <a:r>
              <a:rPr lang="es-CL" sz="1800" dirty="0" smtClean="0"/>
              <a:t>Los </a:t>
            </a:r>
            <a:r>
              <a:rPr lang="es-CL" sz="1800" dirty="0"/>
              <a:t>auditores deben ir al terreno con un buen conocimiento de la organización y de la instalación que será auditada, así como de la legislación y de la reglamentación aplicable. </a:t>
            </a:r>
          </a:p>
        </p:txBody>
      </p:sp>
    </p:spTree>
    <p:extLst>
      <p:ext uri="{BB962C8B-B14F-4D97-AF65-F5344CB8AC3E}">
        <p14:creationId xmlns:p14="http://schemas.microsoft.com/office/powerpoint/2010/main" val="3977159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432048"/>
          </a:xfrm>
        </p:spPr>
        <p:txBody>
          <a:bodyPr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CL" sz="2400" dirty="0" smtClean="0">
                <a:solidFill>
                  <a:srgbClr val="0000CC"/>
                </a:solidFill>
                <a:ea typeface="Calibri"/>
                <a:cs typeface="Times New Roman"/>
              </a:rPr>
              <a:t>MÉTODOS Y PROCEDIMIENTOS DE LA AUDITORÍA AMBIENTAL</a:t>
            </a:r>
            <a:endParaRPr lang="es-CL" sz="2400" u="sng" dirty="0">
              <a:solidFill>
                <a:srgbClr val="0000CC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45447" y="764704"/>
            <a:ext cx="8229600" cy="60932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2000" b="1" dirty="0">
                <a:solidFill>
                  <a:srgbClr val="006600"/>
                </a:solidFill>
              </a:rPr>
              <a:t>(C) </a:t>
            </a:r>
            <a:r>
              <a:rPr lang="es-CL" sz="2000" b="1" dirty="0" smtClean="0">
                <a:solidFill>
                  <a:srgbClr val="006600"/>
                </a:solidFill>
              </a:rPr>
              <a:t>SELECCIÓN DEL PROTOCOLO DE LA AUDITORÍA</a:t>
            </a:r>
          </a:p>
          <a:p>
            <a:endParaRPr lang="es-CL" sz="2000" dirty="0" smtClean="0"/>
          </a:p>
          <a:p>
            <a:pPr algn="just"/>
            <a:r>
              <a:rPr lang="es-CL" sz="2000" dirty="0" smtClean="0"/>
              <a:t>Los </a:t>
            </a:r>
            <a:r>
              <a:rPr lang="es-CL" sz="2000" dirty="0"/>
              <a:t>protocolos son un conjunto de instrucciones con la función de guiar al equipo de auditores. </a:t>
            </a:r>
            <a:endParaRPr lang="es-CL" sz="2000" dirty="0" smtClean="0"/>
          </a:p>
          <a:p>
            <a:pPr algn="just"/>
            <a:endParaRPr lang="es-CL" sz="2000" dirty="0" smtClean="0"/>
          </a:p>
          <a:p>
            <a:pPr algn="just"/>
            <a:r>
              <a:rPr lang="es-CL" sz="2000" dirty="0"/>
              <a:t>L</a:t>
            </a:r>
            <a:r>
              <a:rPr lang="es-CL" sz="2000" dirty="0" smtClean="0"/>
              <a:t>os </a:t>
            </a:r>
            <a:r>
              <a:rPr lang="es-CL" sz="2000" dirty="0"/>
              <a:t>objetivos de la auditoría </a:t>
            </a:r>
            <a:r>
              <a:rPr lang="es-CL" sz="2000" dirty="0" smtClean="0"/>
              <a:t>determinarán </a:t>
            </a:r>
            <a:r>
              <a:rPr lang="es-CL" sz="2000" dirty="0"/>
              <a:t>el tipo de protocolo a ser empleado. Por ejemplo, una auditoría interna de una instalación que ya posee un sistema de gestión ambiental, puede ser bastante detallada y abarcar los más variados aspectos o puede concentrarse en algunas pocas cuestiones significativas, como gestión de residuos o recuperación de áreas degradadas. </a:t>
            </a:r>
            <a:endParaRPr lang="es-CL" sz="2000" dirty="0" smtClean="0"/>
          </a:p>
          <a:p>
            <a:pPr algn="just"/>
            <a:endParaRPr lang="es-CL" sz="2000" dirty="0" smtClean="0"/>
          </a:p>
          <a:p>
            <a:pPr algn="just"/>
            <a:r>
              <a:rPr lang="es-CL" sz="2000" dirty="0" smtClean="0"/>
              <a:t>Muchas </a:t>
            </a:r>
            <a:r>
              <a:rPr lang="es-CL" sz="2000" dirty="0"/>
              <a:t>empresas de consultoría ya tienen itinerarios predeterminados, mientras que, </a:t>
            </a:r>
            <a:r>
              <a:rPr lang="es-CL" sz="2000" dirty="0" smtClean="0"/>
              <a:t>muchas </a:t>
            </a:r>
            <a:r>
              <a:rPr lang="es-CL" sz="2000" dirty="0"/>
              <a:t>empresas de gran </a:t>
            </a:r>
            <a:r>
              <a:rPr lang="es-CL" sz="2000" dirty="0" smtClean="0"/>
              <a:t>tamaño </a:t>
            </a:r>
            <a:r>
              <a:rPr lang="es-CL" sz="2000" dirty="0"/>
              <a:t>que realizan regularmente auditorías internas, también acostumbran tener los </a:t>
            </a:r>
            <a:r>
              <a:rPr lang="es-CL" sz="2000" dirty="0" smtClean="0"/>
              <a:t>itinerarios propios. </a:t>
            </a:r>
          </a:p>
          <a:p>
            <a:pPr marL="0" lvl="0" indent="0" algn="just">
              <a:lnSpc>
                <a:spcPct val="115000"/>
              </a:lnSpc>
              <a:buNone/>
            </a:pPr>
            <a:endParaRPr lang="es-CL" sz="1800" dirty="0">
              <a:ea typeface="Calibri"/>
              <a:cs typeface="Times New Roman"/>
            </a:endParaRPr>
          </a:p>
          <a:p>
            <a:pPr algn="just"/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1868145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576064"/>
          </a:xfrm>
        </p:spPr>
        <p:txBody>
          <a:bodyPr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CL" sz="2400" dirty="0" smtClean="0">
                <a:solidFill>
                  <a:srgbClr val="0000CC"/>
                </a:solidFill>
              </a:rPr>
              <a:t>EJEMPLO DE PROTOCOLO DE AUDITORÍA PARA RESIDUOS SÓLIDOS</a:t>
            </a:r>
            <a:endParaRPr lang="es-CL" sz="2400" dirty="0">
              <a:solidFill>
                <a:srgbClr val="0000CC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85085" y="832373"/>
            <a:ext cx="8229600" cy="5836987"/>
          </a:xfrm>
        </p:spPr>
        <p:txBody>
          <a:bodyPr>
            <a:noAutofit/>
          </a:bodyPr>
          <a:lstStyle/>
          <a:p>
            <a:pPr algn="just"/>
            <a:r>
              <a:rPr lang="es-CL" sz="1800" dirty="0" smtClean="0">
                <a:solidFill>
                  <a:srgbClr val="006600"/>
                </a:solidFill>
              </a:rPr>
              <a:t>1</a:t>
            </a:r>
            <a:r>
              <a:rPr lang="es-CL" sz="1800" dirty="0">
                <a:solidFill>
                  <a:srgbClr val="006600"/>
                </a:solidFill>
              </a:rPr>
              <a:t>. </a:t>
            </a:r>
            <a:r>
              <a:rPr lang="es-CL" sz="1800" b="1" u="sng" dirty="0">
                <a:solidFill>
                  <a:srgbClr val="006600"/>
                </a:solidFill>
              </a:rPr>
              <a:t>Clasificación</a:t>
            </a:r>
            <a:r>
              <a:rPr lang="es-CL" sz="1800" dirty="0">
                <a:solidFill>
                  <a:srgbClr val="006600"/>
                </a:solidFill>
              </a:rPr>
              <a:t>. </a:t>
            </a:r>
            <a:endParaRPr lang="es-CL" sz="1800" dirty="0" smtClean="0">
              <a:solidFill>
                <a:srgbClr val="006600"/>
              </a:solidFill>
            </a:endParaRPr>
          </a:p>
          <a:p>
            <a:pPr algn="just"/>
            <a:r>
              <a:rPr lang="es-CL" sz="1800" dirty="0" smtClean="0"/>
              <a:t>¿</a:t>
            </a:r>
            <a:r>
              <a:rPr lang="es-CL" sz="1800" dirty="0"/>
              <a:t>Existen procedimientos para identificar y clasificar los residuos generados en la unidad? ¿La clasificación está documentada? ¿Los documentos están </a:t>
            </a:r>
            <a:r>
              <a:rPr lang="es-CL" sz="1800" dirty="0" smtClean="0"/>
              <a:t>disponibles? </a:t>
            </a:r>
            <a:r>
              <a:rPr lang="es-CL" sz="1800" dirty="0"/>
              <a:t>¿Los residuos son clasificados </a:t>
            </a:r>
            <a:r>
              <a:rPr lang="es-CL" sz="1800" dirty="0" smtClean="0"/>
              <a:t>correctamente? ¿</a:t>
            </a:r>
            <a:r>
              <a:rPr lang="es-CL" sz="1800" dirty="0"/>
              <a:t>La clasificación fue </a:t>
            </a:r>
            <a:r>
              <a:rPr lang="es-CL" sz="1800" dirty="0" smtClean="0"/>
              <a:t>actualizada?  </a:t>
            </a:r>
            <a:r>
              <a:rPr lang="es-CL" sz="1800" dirty="0"/>
              <a:t>¿Existe documentación que </a:t>
            </a:r>
            <a:r>
              <a:rPr lang="es-CL" sz="1800" dirty="0" smtClean="0"/>
              <a:t>compruebe </a:t>
            </a:r>
            <a:r>
              <a:rPr lang="es-CL" sz="1800" dirty="0"/>
              <a:t>la clasificación? </a:t>
            </a:r>
            <a:r>
              <a:rPr lang="es-CL" sz="1800" dirty="0" smtClean="0"/>
              <a:t> </a:t>
            </a:r>
            <a:r>
              <a:rPr lang="es-CL" sz="1800" dirty="0"/>
              <a:t>¿Los trabajadores que manipulan los residuos conocen los peligros? </a:t>
            </a:r>
            <a:r>
              <a:rPr lang="es-CL" sz="1800" dirty="0" smtClean="0"/>
              <a:t>¿Residuos </a:t>
            </a:r>
            <a:r>
              <a:rPr lang="es-CL" sz="1800" dirty="0"/>
              <a:t>provenientes de actividades no rutinarias también fueron clasificados</a:t>
            </a:r>
            <a:r>
              <a:rPr lang="es-CL" sz="1800" dirty="0" smtClean="0"/>
              <a:t>? ¿Fue </a:t>
            </a:r>
            <a:r>
              <a:rPr lang="es-CL" sz="1800" dirty="0"/>
              <a:t>realizado un inventario de los equipamientos que contienen o pueden contener </a:t>
            </a:r>
            <a:r>
              <a:rPr lang="es-CL" sz="1800" dirty="0" err="1"/>
              <a:t>PCBs</a:t>
            </a:r>
            <a:r>
              <a:rPr lang="es-CL" sz="1800" dirty="0"/>
              <a:t>? </a:t>
            </a:r>
            <a:endParaRPr lang="es-CL" sz="1800" dirty="0" smtClean="0"/>
          </a:p>
          <a:p>
            <a:pPr algn="just"/>
            <a:endParaRPr lang="es-CL" sz="1800" dirty="0" smtClean="0"/>
          </a:p>
          <a:p>
            <a:pPr algn="just"/>
            <a:r>
              <a:rPr lang="es-CL" sz="1800" dirty="0" smtClean="0">
                <a:solidFill>
                  <a:srgbClr val="006600"/>
                </a:solidFill>
              </a:rPr>
              <a:t>2</a:t>
            </a:r>
            <a:r>
              <a:rPr lang="es-CL" sz="1800" dirty="0">
                <a:solidFill>
                  <a:srgbClr val="006600"/>
                </a:solidFill>
              </a:rPr>
              <a:t>. </a:t>
            </a:r>
            <a:r>
              <a:rPr lang="es-CL" sz="1800" b="1" u="sng" dirty="0">
                <a:solidFill>
                  <a:srgbClr val="006600"/>
                </a:solidFill>
              </a:rPr>
              <a:t>Almacenamiento</a:t>
            </a:r>
            <a:r>
              <a:rPr lang="es-CL" sz="1800" dirty="0">
                <a:solidFill>
                  <a:srgbClr val="006600"/>
                </a:solidFill>
              </a:rPr>
              <a:t>: </a:t>
            </a:r>
            <a:endParaRPr lang="es-CL" sz="1800" dirty="0" smtClean="0">
              <a:solidFill>
                <a:srgbClr val="006600"/>
              </a:solidFill>
            </a:endParaRPr>
          </a:p>
          <a:p>
            <a:pPr algn="just"/>
            <a:r>
              <a:rPr lang="es-CL" sz="1800" dirty="0" smtClean="0"/>
              <a:t>¿</a:t>
            </a:r>
            <a:r>
              <a:rPr lang="es-CL" sz="1800" dirty="0"/>
              <a:t>El almacenamiento </a:t>
            </a:r>
            <a:r>
              <a:rPr lang="es-CL" sz="1800" dirty="0" smtClean="0"/>
              <a:t>de los residuos sólidos se realiza </a:t>
            </a:r>
            <a:r>
              <a:rPr lang="es-CL" sz="1800" dirty="0"/>
              <a:t>de modo adecuado? </a:t>
            </a:r>
            <a:r>
              <a:rPr lang="es-CL" sz="1800" dirty="0" smtClean="0"/>
              <a:t>  2.1 </a:t>
            </a:r>
            <a:r>
              <a:rPr lang="es-CL" sz="1800" dirty="0"/>
              <a:t>(...) </a:t>
            </a:r>
            <a:r>
              <a:rPr lang="es-CL" sz="1800" dirty="0" smtClean="0"/>
              <a:t> 2.2 </a:t>
            </a:r>
            <a:r>
              <a:rPr lang="es-CL" sz="1800" dirty="0"/>
              <a:t>(...)  </a:t>
            </a:r>
            <a:endParaRPr lang="es-CL" sz="1800" dirty="0" smtClean="0"/>
          </a:p>
          <a:p>
            <a:pPr marL="0" indent="0" algn="just">
              <a:buNone/>
            </a:pPr>
            <a:endParaRPr lang="es-CL" sz="1800" dirty="0"/>
          </a:p>
          <a:p>
            <a:pPr algn="just"/>
            <a:r>
              <a:rPr lang="es-CL" sz="1800" dirty="0">
                <a:solidFill>
                  <a:srgbClr val="006600"/>
                </a:solidFill>
              </a:rPr>
              <a:t>3</a:t>
            </a:r>
            <a:r>
              <a:rPr lang="es-CL" sz="1800" b="1" dirty="0">
                <a:solidFill>
                  <a:srgbClr val="006600"/>
                </a:solidFill>
              </a:rPr>
              <a:t>. </a:t>
            </a:r>
            <a:r>
              <a:rPr lang="es-CL" sz="1800" b="1" u="sng" dirty="0">
                <a:solidFill>
                  <a:srgbClr val="006600"/>
                </a:solidFill>
              </a:rPr>
              <a:t>Destino de los residuos</a:t>
            </a:r>
            <a:r>
              <a:rPr lang="es-CL" sz="1800" dirty="0">
                <a:solidFill>
                  <a:srgbClr val="006600"/>
                </a:solidFill>
              </a:rPr>
              <a:t>. </a:t>
            </a:r>
            <a:endParaRPr lang="es-CL" sz="1800" dirty="0" smtClean="0">
              <a:solidFill>
                <a:srgbClr val="006600"/>
              </a:solidFill>
            </a:endParaRPr>
          </a:p>
          <a:p>
            <a:pPr algn="just"/>
            <a:r>
              <a:rPr lang="es-CL" sz="1800" dirty="0" smtClean="0"/>
              <a:t>¿</a:t>
            </a:r>
            <a:r>
              <a:rPr lang="es-CL" sz="1800" dirty="0"/>
              <a:t>Los residuos tienen un destino adecuado y autorizado por los órganos reguladores? ¿El transportista es idóneo y capacitado? ¿Tiene permiso para el transporte de cargas </a:t>
            </a:r>
            <a:r>
              <a:rPr lang="es-CL" sz="1800" dirty="0" smtClean="0"/>
              <a:t>peligrosas?    3.1 </a:t>
            </a:r>
            <a:r>
              <a:rPr lang="es-CL" sz="1800" dirty="0"/>
              <a:t>(...) </a:t>
            </a:r>
            <a:r>
              <a:rPr lang="es-CL" sz="1800" dirty="0" smtClean="0"/>
              <a:t>  3.2 </a:t>
            </a:r>
            <a:r>
              <a:rPr lang="es-CL" sz="1800" dirty="0"/>
              <a:t>(...) </a:t>
            </a:r>
          </a:p>
          <a:p>
            <a:pPr marL="0" indent="0" algn="just">
              <a:buNone/>
            </a:pPr>
            <a:r>
              <a:rPr lang="es-CL" sz="18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56903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576064"/>
          </a:xfrm>
        </p:spPr>
        <p:txBody>
          <a:bodyPr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CL" sz="2400" dirty="0" smtClean="0">
                <a:solidFill>
                  <a:srgbClr val="0000CC"/>
                </a:solidFill>
              </a:rPr>
              <a:t>EJEMPLO DE PROTOCOLO DE AUDITORÍA PARA RESIDUOS SÓLIDOS</a:t>
            </a:r>
            <a:endParaRPr lang="es-CL" sz="2400" dirty="0">
              <a:solidFill>
                <a:srgbClr val="0000CC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85085" y="832373"/>
            <a:ext cx="8229600" cy="5836987"/>
          </a:xfrm>
        </p:spPr>
        <p:txBody>
          <a:bodyPr>
            <a:noAutofit/>
          </a:bodyPr>
          <a:lstStyle/>
          <a:p>
            <a:pPr algn="just"/>
            <a:endParaRPr lang="es-CL" sz="1800" dirty="0" smtClean="0">
              <a:solidFill>
                <a:srgbClr val="006600"/>
              </a:solidFill>
            </a:endParaRPr>
          </a:p>
          <a:p>
            <a:pPr algn="just"/>
            <a:r>
              <a:rPr lang="es-CL" sz="1800" dirty="0" smtClean="0">
                <a:solidFill>
                  <a:srgbClr val="006600"/>
                </a:solidFill>
              </a:rPr>
              <a:t>4</a:t>
            </a:r>
            <a:r>
              <a:rPr lang="es-CL" sz="1800" dirty="0">
                <a:solidFill>
                  <a:srgbClr val="006600"/>
                </a:solidFill>
              </a:rPr>
              <a:t>. </a:t>
            </a:r>
            <a:r>
              <a:rPr lang="es-CL" sz="1800" b="1" u="sng" dirty="0">
                <a:solidFill>
                  <a:srgbClr val="006600"/>
                </a:solidFill>
              </a:rPr>
              <a:t>Entrenamiento de los trabajadores</a:t>
            </a:r>
            <a:r>
              <a:rPr lang="es-CL" sz="1800" dirty="0">
                <a:solidFill>
                  <a:srgbClr val="006600"/>
                </a:solidFill>
              </a:rPr>
              <a:t>. </a:t>
            </a:r>
            <a:endParaRPr lang="es-CL" sz="1800" dirty="0" smtClean="0">
              <a:solidFill>
                <a:srgbClr val="006600"/>
              </a:solidFill>
            </a:endParaRPr>
          </a:p>
          <a:p>
            <a:pPr algn="just"/>
            <a:r>
              <a:rPr lang="es-CL" sz="1800" dirty="0" smtClean="0"/>
              <a:t>¿</a:t>
            </a:r>
            <a:r>
              <a:rPr lang="es-CL" sz="1800" dirty="0"/>
              <a:t>Los trabajadores cuyas funciones </a:t>
            </a:r>
            <a:r>
              <a:rPr lang="es-CL" sz="1800" dirty="0" smtClean="0"/>
              <a:t>incluyen </a:t>
            </a:r>
            <a:r>
              <a:rPr lang="es-CL" sz="1800" dirty="0"/>
              <a:t>la manipulación de residuos </a:t>
            </a:r>
            <a:r>
              <a:rPr lang="es-CL" sz="1800" dirty="0" smtClean="0"/>
              <a:t>peligrosos,</a:t>
            </a:r>
            <a:endParaRPr lang="es-CL" sz="1800" dirty="0"/>
          </a:p>
          <a:p>
            <a:pPr marL="0" indent="0" algn="just">
              <a:buNone/>
            </a:pPr>
            <a:r>
              <a:rPr lang="es-CL" sz="1800" dirty="0" smtClean="0"/>
              <a:t>       </a:t>
            </a:r>
            <a:r>
              <a:rPr lang="es-CL" sz="1800" dirty="0"/>
              <a:t>fueron entrenados de acuerdo con un programa apropiado? </a:t>
            </a:r>
            <a:endParaRPr lang="es-CL" sz="1800" dirty="0" smtClean="0"/>
          </a:p>
          <a:p>
            <a:pPr algn="just"/>
            <a:endParaRPr lang="es-CL" sz="1800" dirty="0"/>
          </a:p>
          <a:p>
            <a:pPr algn="just"/>
            <a:r>
              <a:rPr lang="es-CL" sz="1800" dirty="0">
                <a:solidFill>
                  <a:srgbClr val="006600"/>
                </a:solidFill>
              </a:rPr>
              <a:t>5. </a:t>
            </a:r>
            <a:r>
              <a:rPr lang="es-CL" sz="1800" b="1" u="sng" dirty="0">
                <a:solidFill>
                  <a:srgbClr val="006600"/>
                </a:solidFill>
              </a:rPr>
              <a:t>Situaciones de emergencia</a:t>
            </a:r>
            <a:r>
              <a:rPr lang="es-CL" sz="1800" dirty="0">
                <a:solidFill>
                  <a:srgbClr val="006600"/>
                </a:solidFill>
              </a:rPr>
              <a:t>. </a:t>
            </a:r>
            <a:endParaRPr lang="es-CL" sz="1800" dirty="0" smtClean="0">
              <a:solidFill>
                <a:srgbClr val="006600"/>
              </a:solidFill>
            </a:endParaRPr>
          </a:p>
          <a:p>
            <a:pPr algn="just"/>
            <a:r>
              <a:rPr lang="es-CL" sz="1800" dirty="0" smtClean="0"/>
              <a:t>¿</a:t>
            </a:r>
            <a:r>
              <a:rPr lang="es-CL" sz="1800" dirty="0"/>
              <a:t>Existe un plan de actuación en caso de incidente o accidente con residuos peligrosos en el interior de la instalación auditada? </a:t>
            </a:r>
            <a:endParaRPr lang="es-CL" sz="1800" dirty="0" smtClean="0"/>
          </a:p>
          <a:p>
            <a:pPr algn="just"/>
            <a:endParaRPr lang="es-CL" sz="1800" dirty="0"/>
          </a:p>
          <a:p>
            <a:pPr algn="just"/>
            <a:r>
              <a:rPr lang="es-CL" sz="1800" dirty="0">
                <a:solidFill>
                  <a:srgbClr val="006600"/>
                </a:solidFill>
              </a:rPr>
              <a:t>6. </a:t>
            </a:r>
            <a:r>
              <a:rPr lang="es-CL" sz="1800" b="1" u="sng" dirty="0">
                <a:solidFill>
                  <a:srgbClr val="006600"/>
                </a:solidFill>
              </a:rPr>
              <a:t>Residuos no peligrosos</a:t>
            </a:r>
            <a:r>
              <a:rPr lang="es-CL" sz="1800" dirty="0">
                <a:solidFill>
                  <a:srgbClr val="006600"/>
                </a:solidFill>
              </a:rPr>
              <a:t>. </a:t>
            </a:r>
            <a:endParaRPr lang="es-CL" sz="1800" dirty="0" smtClean="0">
              <a:solidFill>
                <a:srgbClr val="006600"/>
              </a:solidFill>
            </a:endParaRPr>
          </a:p>
          <a:p>
            <a:pPr algn="just"/>
            <a:r>
              <a:rPr lang="es-CL" sz="1800" dirty="0" smtClean="0"/>
              <a:t>¿</a:t>
            </a:r>
            <a:r>
              <a:rPr lang="es-CL" sz="1800" dirty="0"/>
              <a:t>Los residuos no peligrosos (inertes y no inertes, incluyendo residuos “domésticos</a:t>
            </a:r>
            <a:r>
              <a:rPr lang="es-CL" sz="1800" dirty="0" smtClean="0"/>
              <a:t>”) </a:t>
            </a:r>
            <a:r>
              <a:rPr lang="es-CL" sz="1800" dirty="0"/>
              <a:t>son </a:t>
            </a:r>
            <a:r>
              <a:rPr lang="es-CL" sz="1800" dirty="0" err="1"/>
              <a:t>gerenciados</a:t>
            </a:r>
            <a:r>
              <a:rPr lang="es-CL" sz="1800" dirty="0"/>
              <a:t> de manera adecuada? </a:t>
            </a:r>
            <a:endParaRPr lang="es-CL" sz="1800" dirty="0" smtClean="0"/>
          </a:p>
          <a:p>
            <a:pPr algn="just"/>
            <a:endParaRPr lang="es-CL" sz="1800" dirty="0"/>
          </a:p>
          <a:p>
            <a:pPr algn="just"/>
            <a:r>
              <a:rPr lang="es-CL" sz="1800" dirty="0">
                <a:solidFill>
                  <a:srgbClr val="006600"/>
                </a:solidFill>
              </a:rPr>
              <a:t>7. </a:t>
            </a:r>
            <a:r>
              <a:rPr lang="es-CL" sz="1800" b="1" u="sng" dirty="0">
                <a:solidFill>
                  <a:srgbClr val="006600"/>
                </a:solidFill>
              </a:rPr>
              <a:t>Registros</a:t>
            </a:r>
            <a:r>
              <a:rPr lang="es-CL" sz="1800" dirty="0">
                <a:solidFill>
                  <a:srgbClr val="006600"/>
                </a:solidFill>
              </a:rPr>
              <a:t>. </a:t>
            </a:r>
            <a:r>
              <a:rPr lang="es-CL" sz="1800" dirty="0"/>
              <a:t>¿Existe registro de todos los residuos generados, almacenados y removidos?</a:t>
            </a:r>
          </a:p>
          <a:p>
            <a:pPr marL="0" indent="0" algn="just">
              <a:buNone/>
            </a:pPr>
            <a:r>
              <a:rPr lang="es-CL" sz="18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102476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432048"/>
          </a:xfrm>
        </p:spPr>
        <p:txBody>
          <a:bodyPr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CL" sz="2400" dirty="0" smtClean="0">
                <a:solidFill>
                  <a:srgbClr val="0000CC"/>
                </a:solidFill>
                <a:ea typeface="Calibri"/>
                <a:cs typeface="Times New Roman"/>
              </a:rPr>
              <a:t>MÉTODOS Y PROCEDIMIENTOS DE LA AUDITORÍA AMBIENTAL</a:t>
            </a:r>
            <a:endParaRPr lang="es-CL" sz="2400" u="sng" dirty="0">
              <a:solidFill>
                <a:srgbClr val="0000CC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45447" y="764704"/>
            <a:ext cx="8229600" cy="609329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CL" sz="1800" b="1" dirty="0">
                <a:solidFill>
                  <a:srgbClr val="006600"/>
                </a:solidFill>
              </a:rPr>
              <a:t>(D) </a:t>
            </a:r>
            <a:r>
              <a:rPr lang="es-CL" sz="1800" b="1" dirty="0" smtClean="0">
                <a:solidFill>
                  <a:srgbClr val="006600"/>
                </a:solidFill>
              </a:rPr>
              <a:t>COMUNICACIÓN CON EL RESPONSABLE DE LA INSTALACIÓN A SER AUDITADA</a:t>
            </a:r>
          </a:p>
          <a:p>
            <a:endParaRPr lang="es-CL" sz="1800" dirty="0" smtClean="0"/>
          </a:p>
          <a:p>
            <a:pPr algn="just"/>
            <a:r>
              <a:rPr lang="es-CL" sz="1800" dirty="0" smtClean="0"/>
              <a:t>El </a:t>
            </a:r>
            <a:r>
              <a:rPr lang="es-CL" sz="1800" dirty="0"/>
              <a:t>gerente, o responsable de la instalación que será objeto de auditoría, debe ser, previamente avisado sobre la fecha y objetivos de la </a:t>
            </a:r>
            <a:r>
              <a:rPr lang="es-CL" sz="1800" dirty="0" smtClean="0"/>
              <a:t>auditoría. La auditoría </a:t>
            </a:r>
            <a:r>
              <a:rPr lang="es-CL" sz="1800" dirty="0"/>
              <a:t>puede comenzar después de concluida toda la planificación. </a:t>
            </a:r>
            <a:endParaRPr lang="es-CL" sz="1800" dirty="0" smtClean="0"/>
          </a:p>
          <a:p>
            <a:pPr algn="just"/>
            <a:endParaRPr lang="es-CL" sz="1800" dirty="0"/>
          </a:p>
          <a:p>
            <a:pPr marL="0" indent="0" algn="just">
              <a:buNone/>
            </a:pPr>
            <a:r>
              <a:rPr lang="es-CL" sz="1800" b="1" dirty="0">
                <a:solidFill>
                  <a:srgbClr val="006600"/>
                </a:solidFill>
              </a:rPr>
              <a:t>(E) </a:t>
            </a:r>
            <a:r>
              <a:rPr lang="es-CL" sz="1800" b="1" dirty="0" smtClean="0">
                <a:solidFill>
                  <a:srgbClr val="006600"/>
                </a:solidFill>
              </a:rPr>
              <a:t>APERTURA Y RECONOCIMIENTO</a:t>
            </a:r>
            <a:r>
              <a:rPr lang="es-CL" sz="1800" dirty="0" smtClean="0">
                <a:solidFill>
                  <a:srgbClr val="006600"/>
                </a:solidFill>
              </a:rPr>
              <a:t> </a:t>
            </a:r>
          </a:p>
          <a:p>
            <a:pPr algn="just"/>
            <a:endParaRPr lang="es-CL" sz="1800" dirty="0"/>
          </a:p>
          <a:p>
            <a:pPr algn="just"/>
            <a:r>
              <a:rPr lang="es-CL" sz="1800" dirty="0"/>
              <a:t>La primera actividad es una reunión de apertura con el responsable de la instalación que será auditada. </a:t>
            </a:r>
            <a:r>
              <a:rPr lang="es-CL" sz="1800" dirty="0" smtClean="0"/>
              <a:t>Los </a:t>
            </a:r>
            <a:r>
              <a:rPr lang="es-CL" sz="1800" dirty="0"/>
              <a:t>objetivos de la auditoría </a:t>
            </a:r>
            <a:r>
              <a:rPr lang="es-CL" sz="1800" dirty="0" smtClean="0"/>
              <a:t>son </a:t>
            </a:r>
            <a:r>
              <a:rPr lang="es-CL" sz="1800" dirty="0"/>
              <a:t>revisados para confirmar el reconocimiento común. </a:t>
            </a:r>
            <a:endParaRPr lang="es-CL" sz="1800" dirty="0" smtClean="0"/>
          </a:p>
          <a:p>
            <a:pPr algn="just"/>
            <a:endParaRPr lang="es-CL" sz="1800" dirty="0" smtClean="0"/>
          </a:p>
          <a:p>
            <a:pPr algn="just"/>
            <a:r>
              <a:rPr lang="es-CL" sz="1800" dirty="0" smtClean="0"/>
              <a:t>Se </a:t>
            </a:r>
            <a:r>
              <a:rPr lang="es-CL" sz="1800" dirty="0"/>
              <a:t>puede proceder a una visita general de las instalaciones que serán auditadas, buscando familiarizar a los auditores con el lugar y actividades allí realizadas. </a:t>
            </a:r>
            <a:endParaRPr lang="es-CL" sz="1800" dirty="0" smtClean="0"/>
          </a:p>
          <a:p>
            <a:pPr algn="just"/>
            <a:endParaRPr lang="es-CL" sz="1800" dirty="0"/>
          </a:p>
          <a:p>
            <a:pPr algn="just"/>
            <a:r>
              <a:rPr lang="es-CL" sz="1800" dirty="0" smtClean="0"/>
              <a:t>En </a:t>
            </a:r>
            <a:r>
              <a:rPr lang="es-CL" sz="1800" dirty="0"/>
              <a:t>general, los auditores dirigen la vista a los puntos de mayor interés ambiental, como locales de almacenamiento de insumos, productos y residuos, sistemas de control de </a:t>
            </a:r>
            <a:r>
              <a:rPr lang="es-CL" sz="1800" dirty="0" smtClean="0"/>
              <a:t>emisiones, </a:t>
            </a:r>
            <a:r>
              <a:rPr lang="es-CL" sz="1800" dirty="0"/>
              <a:t>y puntos de descarga de contaminantes. </a:t>
            </a:r>
            <a:endParaRPr lang="es-CL" sz="1800" dirty="0" smtClean="0"/>
          </a:p>
          <a:p>
            <a:pPr algn="just"/>
            <a:endParaRPr lang="es-CL" sz="1800" dirty="0" smtClean="0"/>
          </a:p>
          <a:p>
            <a:pPr algn="just"/>
            <a:r>
              <a:rPr lang="es-CL" sz="1800" dirty="0" smtClean="0"/>
              <a:t>Como </a:t>
            </a:r>
            <a:r>
              <a:rPr lang="es-CL" sz="1800" dirty="0"/>
              <a:t>resultado de este reconocimiento inicial, </a:t>
            </a:r>
            <a:r>
              <a:rPr lang="es-CL" sz="1800" dirty="0" smtClean="0"/>
              <a:t>el </a:t>
            </a:r>
            <a:r>
              <a:rPr lang="es-CL" sz="1800" dirty="0"/>
              <a:t>plan de la auditoría puede ser </a:t>
            </a:r>
            <a:r>
              <a:rPr lang="es-CL" sz="1800" dirty="0" smtClean="0"/>
              <a:t>revisado, y tomar la decisión de dar más importancia a un aspecto </a:t>
            </a:r>
            <a:r>
              <a:rPr lang="es-CL" sz="1800" dirty="0"/>
              <a:t>que </a:t>
            </a:r>
            <a:r>
              <a:rPr lang="es-CL" sz="1800" dirty="0" smtClean="0"/>
              <a:t>a otro</a:t>
            </a:r>
            <a:r>
              <a:rPr lang="es-CL" sz="1800" dirty="0"/>
              <a:t>.</a:t>
            </a:r>
          </a:p>
          <a:p>
            <a:pPr algn="just"/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1657203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432048"/>
          </a:xfrm>
        </p:spPr>
        <p:txBody>
          <a:bodyPr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CL" sz="2400" dirty="0" smtClean="0">
                <a:solidFill>
                  <a:srgbClr val="0000CC"/>
                </a:solidFill>
                <a:ea typeface="Calibri"/>
                <a:cs typeface="Times New Roman"/>
              </a:rPr>
              <a:t>MÉTODOS Y PROCEDIMIENTOS DE LA AUDITORÍA AMBIENTAL</a:t>
            </a:r>
            <a:endParaRPr lang="es-CL" sz="2400" u="sng" dirty="0">
              <a:solidFill>
                <a:srgbClr val="0000CC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45447" y="764704"/>
            <a:ext cx="8229600" cy="60932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1800" b="1" dirty="0">
                <a:solidFill>
                  <a:srgbClr val="006600"/>
                </a:solidFill>
              </a:rPr>
              <a:t>(F) </a:t>
            </a:r>
            <a:r>
              <a:rPr lang="es-CL" sz="1800" b="1" dirty="0" smtClean="0">
                <a:solidFill>
                  <a:srgbClr val="006600"/>
                </a:solidFill>
              </a:rPr>
              <a:t>RECOLECCIÓN DE EVIDENCIAS</a:t>
            </a:r>
          </a:p>
          <a:p>
            <a:endParaRPr lang="es-CL" sz="1800" dirty="0" smtClean="0"/>
          </a:p>
          <a:p>
            <a:pPr algn="just"/>
            <a:r>
              <a:rPr lang="es-CL" sz="1800" dirty="0" smtClean="0"/>
              <a:t>Guiándose </a:t>
            </a:r>
            <a:r>
              <a:rPr lang="es-CL" sz="1800" dirty="0"/>
              <a:t>por los protocolos los auditores van al terreno buscando recolectar evidencias de aspectos a ser auditados. </a:t>
            </a:r>
            <a:endParaRPr lang="es-CL" sz="1800" dirty="0" smtClean="0"/>
          </a:p>
          <a:p>
            <a:pPr algn="just"/>
            <a:endParaRPr lang="es-CL" sz="1800" dirty="0"/>
          </a:p>
          <a:p>
            <a:pPr algn="just"/>
            <a:r>
              <a:rPr lang="es-CL" sz="1800" dirty="0" smtClean="0"/>
              <a:t>Por </a:t>
            </a:r>
            <a:r>
              <a:rPr lang="es-CL" sz="1800" dirty="0"/>
              <a:t>ejemplo, si uno de los ítems es “entrenamiento de los trabajadores”, el auditor podrá escoger al azar algunos trabajadores y conversar con ellos, haciendo algunas preguntas que busquen poner en evidencia si están informados y entrenados para desempeñar las funciones ambientales propias de su actividad. </a:t>
            </a:r>
            <a:endParaRPr lang="es-CL" sz="1800" dirty="0" smtClean="0"/>
          </a:p>
          <a:p>
            <a:pPr algn="just"/>
            <a:endParaRPr lang="es-CL" sz="1800" dirty="0"/>
          </a:p>
          <a:p>
            <a:pPr algn="just"/>
            <a:r>
              <a:rPr lang="es-CL" sz="1800" dirty="0" smtClean="0"/>
              <a:t>Otra </a:t>
            </a:r>
            <a:r>
              <a:rPr lang="es-CL" sz="1800" dirty="0"/>
              <a:t>actividad típica de un auditor que trabaje en </a:t>
            </a:r>
            <a:r>
              <a:rPr lang="es-CL" sz="1800" dirty="0" smtClean="0"/>
              <a:t>este mismo </a:t>
            </a:r>
            <a:r>
              <a:rPr lang="es-CL" sz="1800" dirty="0"/>
              <a:t>ítem, será verificar los registros que la organización debe mantener sobre el entrenamiento de los trabajadores: </a:t>
            </a:r>
            <a:r>
              <a:rPr lang="es-CL" sz="1800" dirty="0" smtClean="0"/>
              <a:t>quién </a:t>
            </a:r>
            <a:r>
              <a:rPr lang="es-CL" sz="1800" dirty="0"/>
              <a:t>fue entrenado, cuándo, por quien, sobre cuál tema y durante </a:t>
            </a:r>
            <a:r>
              <a:rPr lang="es-CL" sz="1800" dirty="0" smtClean="0"/>
              <a:t>cuánto </a:t>
            </a:r>
            <a:r>
              <a:rPr lang="es-CL" sz="1800" dirty="0"/>
              <a:t>tiempo. Para los demás ítems a ser auditados deben utilizarse procedimientos semejantes. </a:t>
            </a:r>
            <a:endParaRPr lang="es-CL" sz="1800" dirty="0" smtClean="0"/>
          </a:p>
          <a:p>
            <a:pPr algn="just"/>
            <a:endParaRPr lang="es-CL" sz="1800" dirty="0"/>
          </a:p>
          <a:p>
            <a:pPr algn="just"/>
            <a:r>
              <a:rPr lang="es-CL" sz="1800" dirty="0" smtClean="0"/>
              <a:t>De </a:t>
            </a:r>
            <a:r>
              <a:rPr lang="es-CL" sz="1800" dirty="0"/>
              <a:t>manera general, un auditor puede valerse de los siguientes métodos para recolectar evidencias: (i) observación visual; (ii) entrevistas o preguntas dirigidas; (iii) análisis </a:t>
            </a:r>
            <a:r>
              <a:rPr lang="es-CL" sz="1800" dirty="0" smtClean="0"/>
              <a:t>de documentos. </a:t>
            </a: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612633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432048"/>
          </a:xfrm>
        </p:spPr>
        <p:txBody>
          <a:bodyPr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CL" sz="2400" dirty="0" smtClean="0">
                <a:solidFill>
                  <a:srgbClr val="0000CC"/>
                </a:solidFill>
                <a:ea typeface="Calibri"/>
                <a:cs typeface="Times New Roman"/>
              </a:rPr>
              <a:t>MÉTODOS Y PROCEDIMIENTOS DE LA AUDITORÍA AMBIENTAL</a:t>
            </a:r>
            <a:endParaRPr lang="es-CL" sz="2400" u="sng" dirty="0">
              <a:solidFill>
                <a:srgbClr val="0000CC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45447" y="764704"/>
            <a:ext cx="8229600" cy="609329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CL" sz="1800" b="1" dirty="0">
                <a:solidFill>
                  <a:srgbClr val="FF0000"/>
                </a:solidFill>
              </a:rPr>
              <a:t>Entrevistas en terreno</a:t>
            </a:r>
            <a:endParaRPr lang="es-CL" sz="1800" dirty="0">
              <a:solidFill>
                <a:srgbClr val="FF0000"/>
              </a:solidFill>
            </a:endParaRPr>
          </a:p>
          <a:p>
            <a:pPr algn="just"/>
            <a:r>
              <a:rPr lang="es-CL" sz="1800" dirty="0"/>
              <a:t>La entrevista provee una oportunidad para desarrollar un diálogo con el personal </a:t>
            </a:r>
            <a:r>
              <a:rPr lang="es-CL" sz="1800" dirty="0" smtClean="0"/>
              <a:t>en </a:t>
            </a:r>
            <a:r>
              <a:rPr lang="es-CL" sz="1800" dirty="0"/>
              <a:t>forma previa a realizar un recorrido por una instalación o faena. Además, le da al equipo auditor la oportunidad para revisar los protocolos y listas de chequeo como medio de planificar el recorrido por la instalación. </a:t>
            </a:r>
            <a:endParaRPr lang="es-CL" sz="1800" dirty="0" smtClean="0"/>
          </a:p>
          <a:p>
            <a:pPr algn="just"/>
            <a:endParaRPr lang="es-CL" sz="1800" dirty="0"/>
          </a:p>
          <a:p>
            <a:pPr algn="just"/>
            <a:r>
              <a:rPr lang="es-CL" sz="1800" dirty="0" smtClean="0"/>
              <a:t>El </a:t>
            </a:r>
            <a:r>
              <a:rPr lang="es-CL" sz="1800" dirty="0"/>
              <a:t>equipo de auditores puede </a:t>
            </a:r>
            <a:r>
              <a:rPr lang="es-CL" sz="1800" dirty="0" smtClean="0"/>
              <a:t>utilizar </a:t>
            </a:r>
            <a:r>
              <a:rPr lang="es-CL" sz="1800" dirty="0"/>
              <a:t>las entrevistas para </a:t>
            </a:r>
            <a:r>
              <a:rPr lang="es-CL" sz="1800" dirty="0" smtClean="0"/>
              <a:t>clarificar alguna </a:t>
            </a:r>
            <a:r>
              <a:rPr lang="es-CL" sz="1800" dirty="0"/>
              <a:t>respuesta al cuestionario de </a:t>
            </a:r>
            <a:r>
              <a:rPr lang="es-CL" sz="1800" dirty="0" smtClean="0"/>
              <a:t>pre-visita </a:t>
            </a:r>
            <a:r>
              <a:rPr lang="es-CL" sz="1800" dirty="0"/>
              <a:t>que no haya quedado suficientemente clara y responder cualquier pregunta </a:t>
            </a:r>
            <a:r>
              <a:rPr lang="es-CL" sz="1800" dirty="0" smtClean="0"/>
              <a:t>en </a:t>
            </a:r>
            <a:r>
              <a:rPr lang="es-CL" sz="1800" dirty="0"/>
              <a:t>forma previa a la revisión de registros</a:t>
            </a:r>
            <a:r>
              <a:rPr lang="es-CL" sz="1800" dirty="0" smtClean="0"/>
              <a:t>.</a:t>
            </a:r>
          </a:p>
          <a:p>
            <a:pPr algn="just"/>
            <a:endParaRPr lang="es-CL" sz="1800" dirty="0"/>
          </a:p>
          <a:p>
            <a:pPr marL="0" indent="0" algn="just">
              <a:buNone/>
            </a:pPr>
            <a:r>
              <a:rPr lang="es-CL" sz="1800" b="1" dirty="0">
                <a:solidFill>
                  <a:srgbClr val="FF0000"/>
                </a:solidFill>
              </a:rPr>
              <a:t>Recorrido por las instalaciones </a:t>
            </a:r>
            <a:endParaRPr lang="es-CL" sz="1800" dirty="0">
              <a:solidFill>
                <a:srgbClr val="FF0000"/>
              </a:solidFill>
            </a:endParaRPr>
          </a:p>
          <a:p>
            <a:pPr algn="just"/>
            <a:r>
              <a:rPr lang="es-CL" sz="1800" dirty="0"/>
              <a:t>El recorrido por las </a:t>
            </a:r>
            <a:r>
              <a:rPr lang="es-CL" sz="1800" dirty="0" smtClean="0"/>
              <a:t>instalaciones auditadas </a:t>
            </a:r>
            <a:r>
              <a:rPr lang="es-CL" sz="1800" dirty="0"/>
              <a:t>es la fase final de la recolección de </a:t>
            </a:r>
            <a:r>
              <a:rPr lang="es-CL" sz="1800" dirty="0" smtClean="0"/>
              <a:t>información, y tiene </a:t>
            </a:r>
            <a:r>
              <a:rPr lang="es-CL" sz="1800" dirty="0"/>
              <a:t>por </a:t>
            </a:r>
            <a:r>
              <a:rPr lang="es-CL" sz="1800" dirty="0" smtClean="0"/>
              <a:t>objeto:</a:t>
            </a:r>
          </a:p>
          <a:p>
            <a:pPr marL="0" indent="0" algn="just">
              <a:buNone/>
            </a:pPr>
            <a:r>
              <a:rPr lang="es-CL" sz="1800" dirty="0" smtClean="0"/>
              <a:t> </a:t>
            </a:r>
            <a:endParaRPr lang="es-CL" sz="1800" dirty="0"/>
          </a:p>
          <a:p>
            <a:pPr marL="0" indent="0" algn="just">
              <a:buNone/>
            </a:pPr>
            <a:r>
              <a:rPr lang="es-CL" sz="1800" dirty="0"/>
              <a:t>a</a:t>
            </a:r>
            <a:r>
              <a:rPr lang="es-CL" sz="1800" dirty="0" smtClean="0"/>
              <a:t>) </a:t>
            </a:r>
            <a:r>
              <a:rPr lang="es-CL" sz="1800" dirty="0"/>
              <a:t>C</a:t>
            </a:r>
            <a:r>
              <a:rPr lang="es-CL" sz="1800" dirty="0" smtClean="0"/>
              <a:t>aracterizar </a:t>
            </a:r>
            <a:r>
              <a:rPr lang="es-CL" sz="1800" dirty="0"/>
              <a:t>el sitio y su </a:t>
            </a:r>
            <a:r>
              <a:rPr lang="es-CL" sz="1800" dirty="0" smtClean="0"/>
              <a:t>entorno;</a:t>
            </a:r>
          </a:p>
          <a:p>
            <a:pPr marL="0" indent="0" algn="just">
              <a:buNone/>
            </a:pPr>
            <a:r>
              <a:rPr lang="es-CL" sz="1800" dirty="0" smtClean="0"/>
              <a:t> </a:t>
            </a:r>
            <a:endParaRPr lang="es-CL" sz="1800" dirty="0"/>
          </a:p>
          <a:p>
            <a:pPr marL="0" indent="0" algn="just">
              <a:buNone/>
            </a:pPr>
            <a:r>
              <a:rPr lang="es-CL" sz="1800" dirty="0"/>
              <a:t>b</a:t>
            </a:r>
            <a:r>
              <a:rPr lang="es-CL" sz="1800" dirty="0" smtClean="0"/>
              <a:t>) </a:t>
            </a:r>
            <a:r>
              <a:rPr lang="es-CL" sz="1800" dirty="0"/>
              <a:t>C</a:t>
            </a:r>
            <a:r>
              <a:rPr lang="es-CL" sz="1800" dirty="0" smtClean="0"/>
              <a:t>aracterizar </a:t>
            </a:r>
            <a:r>
              <a:rPr lang="es-CL" sz="1800" dirty="0"/>
              <a:t>las instalaciones y actividades que se desarrollan dentro de </a:t>
            </a:r>
            <a:r>
              <a:rPr lang="es-CL" sz="1800" dirty="0" smtClean="0"/>
              <a:t>él; </a:t>
            </a:r>
          </a:p>
          <a:p>
            <a:pPr algn="just"/>
            <a:endParaRPr lang="es-CL" sz="1800" dirty="0"/>
          </a:p>
          <a:p>
            <a:pPr marL="0" indent="0" algn="just">
              <a:buNone/>
            </a:pPr>
            <a:r>
              <a:rPr lang="es-CL" sz="1800" dirty="0" smtClean="0"/>
              <a:t>c) Obtener </a:t>
            </a:r>
            <a:r>
              <a:rPr lang="es-CL" sz="1800" dirty="0"/>
              <a:t>evidencia sobre hallazgos de auditoría, especialmente de no-conformidades.</a:t>
            </a:r>
          </a:p>
        </p:txBody>
      </p:sp>
    </p:spTree>
    <p:extLst>
      <p:ext uri="{BB962C8B-B14F-4D97-AF65-F5344CB8AC3E}">
        <p14:creationId xmlns:p14="http://schemas.microsoft.com/office/powerpoint/2010/main" val="3432372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432048"/>
          </a:xfrm>
        </p:spPr>
        <p:txBody>
          <a:bodyPr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CL" sz="2400" dirty="0" smtClean="0">
                <a:solidFill>
                  <a:srgbClr val="0000CC"/>
                </a:solidFill>
                <a:ea typeface="Calibri"/>
                <a:cs typeface="Times New Roman"/>
              </a:rPr>
              <a:t>MÉTODOS Y PROCEDIMIENTOS DE LA AUDITORÍA AMBIENTAL</a:t>
            </a:r>
            <a:endParaRPr lang="es-CL" sz="2400" u="sng" dirty="0">
              <a:solidFill>
                <a:srgbClr val="0000CC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45447" y="764704"/>
            <a:ext cx="8229600" cy="609329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CL" sz="1800" b="1" dirty="0">
                <a:solidFill>
                  <a:srgbClr val="006600"/>
                </a:solidFill>
              </a:rPr>
              <a:t>(G) </a:t>
            </a:r>
            <a:r>
              <a:rPr lang="es-CL" sz="1800" b="1" dirty="0" smtClean="0">
                <a:solidFill>
                  <a:srgbClr val="006600"/>
                </a:solidFill>
              </a:rPr>
              <a:t>REGISTRO DE LAS EVIDENCIAS</a:t>
            </a:r>
            <a:r>
              <a:rPr lang="es-CL" sz="1800" dirty="0" smtClean="0">
                <a:solidFill>
                  <a:srgbClr val="006600"/>
                </a:solidFill>
              </a:rPr>
              <a:t> </a:t>
            </a:r>
          </a:p>
          <a:p>
            <a:pPr marL="0" indent="0">
              <a:buNone/>
            </a:pPr>
            <a:endParaRPr lang="es-CL" sz="1800" dirty="0" smtClean="0"/>
          </a:p>
          <a:p>
            <a:pPr algn="just"/>
            <a:r>
              <a:rPr lang="es-CL" sz="1800" dirty="0" smtClean="0"/>
              <a:t>El </a:t>
            </a:r>
            <a:r>
              <a:rPr lang="es-CL" sz="1800" dirty="0"/>
              <a:t>auditor debe tomar nota y registrar sistemáticamente todas sus observaciones; debe también, guardar copia de documentos importantes para sus conclusiones. </a:t>
            </a:r>
            <a:endParaRPr lang="es-CL" sz="1800" dirty="0" smtClean="0"/>
          </a:p>
          <a:p>
            <a:pPr algn="just"/>
            <a:endParaRPr lang="es-CL" sz="1800" dirty="0"/>
          </a:p>
          <a:p>
            <a:pPr algn="just"/>
            <a:r>
              <a:rPr lang="es-CL" sz="1800" dirty="0" smtClean="0"/>
              <a:t>El </a:t>
            </a:r>
            <a:r>
              <a:rPr lang="es-CL" sz="1800" dirty="0"/>
              <a:t>cuaderno de notas de un auditor es muy </a:t>
            </a:r>
            <a:r>
              <a:rPr lang="es-CL" sz="1800" dirty="0" smtClean="0"/>
              <a:t>valioso, </a:t>
            </a:r>
            <a:r>
              <a:rPr lang="es-CL" sz="1800" dirty="0"/>
              <a:t>y es importante que </a:t>
            </a:r>
            <a:r>
              <a:rPr lang="es-CL" sz="1800" dirty="0" smtClean="0"/>
              <a:t>las </a:t>
            </a:r>
            <a:r>
              <a:rPr lang="es-CL" sz="1800" dirty="0"/>
              <a:t>notas sean tomadas de forma ordenada y legible. </a:t>
            </a:r>
            <a:endParaRPr lang="es-CL" sz="1800" dirty="0" smtClean="0"/>
          </a:p>
          <a:p>
            <a:pPr algn="just"/>
            <a:endParaRPr lang="es-CL" sz="1800" b="1" dirty="0"/>
          </a:p>
          <a:p>
            <a:pPr marL="0" indent="0" algn="just">
              <a:buNone/>
            </a:pPr>
            <a:r>
              <a:rPr lang="es-CL" sz="1800" b="1" dirty="0" smtClean="0">
                <a:solidFill>
                  <a:srgbClr val="006600"/>
                </a:solidFill>
              </a:rPr>
              <a:t>(</a:t>
            </a:r>
            <a:r>
              <a:rPr lang="es-CL" sz="1800" b="1" dirty="0">
                <a:solidFill>
                  <a:srgbClr val="006600"/>
                </a:solidFill>
              </a:rPr>
              <a:t>H) </a:t>
            </a:r>
            <a:r>
              <a:rPr lang="es-CL" sz="1800" b="1" dirty="0" smtClean="0">
                <a:solidFill>
                  <a:srgbClr val="006600"/>
                </a:solidFill>
              </a:rPr>
              <a:t>EVALUACIÓN DE LAS EVIDENCIAS</a:t>
            </a:r>
          </a:p>
          <a:p>
            <a:pPr algn="just"/>
            <a:endParaRPr lang="es-CL" sz="1800" dirty="0" smtClean="0"/>
          </a:p>
          <a:p>
            <a:pPr algn="just"/>
            <a:r>
              <a:rPr lang="es-CL" sz="1800" dirty="0" smtClean="0"/>
              <a:t>Las </a:t>
            </a:r>
            <a:r>
              <a:rPr lang="es-CL" sz="1800" dirty="0"/>
              <a:t>evidencias recogidas deben ser </a:t>
            </a:r>
            <a:r>
              <a:rPr lang="es-CL" sz="1800" dirty="0" smtClean="0"/>
              <a:t>evaluadas, </a:t>
            </a:r>
            <a:r>
              <a:rPr lang="es-CL" sz="1800" dirty="0"/>
              <a:t>con el objetivo de identificar eventuales </a:t>
            </a:r>
            <a:r>
              <a:rPr lang="es-CL" sz="1800" dirty="0" smtClean="0"/>
              <a:t>no conformidades</a:t>
            </a:r>
            <a:r>
              <a:rPr lang="es-CL" sz="1800" dirty="0"/>
              <a:t>; </a:t>
            </a:r>
            <a:r>
              <a:rPr lang="es-CL" sz="1800" dirty="0" smtClean="0"/>
              <a:t>los criterios aplicados deben ser establecidos </a:t>
            </a:r>
            <a:r>
              <a:rPr lang="es-CL" sz="1800" dirty="0"/>
              <a:t>desde el comienzo, en función de los objetivos de la auditoría. </a:t>
            </a:r>
            <a:endParaRPr lang="es-CL" sz="1800" dirty="0" smtClean="0"/>
          </a:p>
          <a:p>
            <a:pPr algn="just"/>
            <a:endParaRPr lang="es-CL" sz="1800" dirty="0" smtClean="0"/>
          </a:p>
          <a:p>
            <a:pPr algn="just"/>
            <a:r>
              <a:rPr lang="es-CL" sz="1800" dirty="0" smtClean="0"/>
              <a:t>Por </a:t>
            </a:r>
            <a:r>
              <a:rPr lang="es-CL" sz="1800" dirty="0"/>
              <a:t>ejemplo, en una auditoría de conformidad legal, los criterios serán la legislación, las condiciones de las licencias ambientales, las normas técnicas. </a:t>
            </a:r>
            <a:endParaRPr lang="es-CL" sz="1800" dirty="0" smtClean="0"/>
          </a:p>
          <a:p>
            <a:pPr algn="just"/>
            <a:endParaRPr lang="es-CL" sz="1800" dirty="0"/>
          </a:p>
          <a:p>
            <a:pPr algn="just"/>
            <a:r>
              <a:rPr lang="es-CL" sz="1800" dirty="0" smtClean="0"/>
              <a:t>En </a:t>
            </a:r>
            <a:r>
              <a:rPr lang="es-CL" sz="1800" dirty="0"/>
              <a:t>cambio, en una auditoría de un sistema de gestión ambiental, los criterios </a:t>
            </a:r>
            <a:r>
              <a:rPr lang="es-CL" sz="1800" dirty="0" smtClean="0"/>
              <a:t>pueden ser los </a:t>
            </a:r>
            <a:r>
              <a:rPr lang="es-CL" sz="1800" dirty="0"/>
              <a:t>procedimientos preestablecidos por la organización, </a:t>
            </a:r>
            <a:r>
              <a:rPr lang="es-CL" sz="1800" dirty="0" smtClean="0"/>
              <a:t>los </a:t>
            </a:r>
            <a:r>
              <a:rPr lang="es-CL" sz="1800" dirty="0"/>
              <a:t>objetivos y metas ambientales. </a:t>
            </a:r>
          </a:p>
          <a:p>
            <a:pPr algn="just"/>
            <a:endParaRPr lang="es-CL" sz="18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607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432048"/>
          </a:xfrm>
        </p:spPr>
        <p:txBody>
          <a:bodyPr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CL" sz="2400" dirty="0" smtClean="0">
                <a:solidFill>
                  <a:srgbClr val="0000CC"/>
                </a:solidFill>
                <a:ea typeface="Calibri"/>
                <a:cs typeface="Times New Roman"/>
              </a:rPr>
              <a:t>MÉTODOS Y PROCEDIMIENTOS DE LA AUDITORÍA AMBIENTAL</a:t>
            </a:r>
            <a:endParaRPr lang="es-CL" sz="2400" u="sng" dirty="0">
              <a:solidFill>
                <a:srgbClr val="0000CC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45447" y="764704"/>
            <a:ext cx="8229600" cy="60932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2000" b="1" u="sng" dirty="0">
                <a:solidFill>
                  <a:srgbClr val="006600"/>
                </a:solidFill>
              </a:rPr>
              <a:t>ACTIVIDADES DE POST-VISITA DE AUDITORÍA </a:t>
            </a:r>
            <a:endParaRPr lang="es-CL" sz="2000" b="1" u="sng" dirty="0" smtClean="0">
              <a:solidFill>
                <a:srgbClr val="006600"/>
              </a:solidFill>
            </a:endParaRPr>
          </a:p>
          <a:p>
            <a:pPr marL="0" indent="0">
              <a:buNone/>
            </a:pPr>
            <a:endParaRPr lang="es-CL" sz="2000" dirty="0"/>
          </a:p>
          <a:p>
            <a:pPr algn="just"/>
            <a:r>
              <a:rPr lang="es-CL" sz="2000" dirty="0"/>
              <a:t>Las actividades de post-visita de auditoría incluyen la identificación y calificación de los </a:t>
            </a:r>
            <a:r>
              <a:rPr lang="es-CL" sz="2000" dirty="0" smtClean="0"/>
              <a:t>hallazgos, la </a:t>
            </a:r>
            <a:r>
              <a:rPr lang="es-CL" sz="2000" dirty="0"/>
              <a:t>obtención de información adicional, la preparación del informe, la entrega del informe y el término de la auditoría. </a:t>
            </a:r>
            <a:endParaRPr lang="es-CL" sz="2000" dirty="0" smtClean="0"/>
          </a:p>
          <a:p>
            <a:pPr algn="just"/>
            <a:endParaRPr lang="es-CL" sz="2000" dirty="0" smtClean="0"/>
          </a:p>
          <a:p>
            <a:pPr algn="just"/>
            <a:r>
              <a:rPr lang="es-CL" sz="2000" dirty="0" smtClean="0"/>
              <a:t>Antes </a:t>
            </a:r>
            <a:r>
              <a:rPr lang="es-CL" sz="2000" dirty="0"/>
              <a:t>de comenzar con las actividades de post-visita se recomienda al auditor líder </a:t>
            </a:r>
            <a:r>
              <a:rPr lang="es-CL" sz="2000" dirty="0" smtClean="0"/>
              <a:t>revisar </a:t>
            </a:r>
            <a:r>
              <a:rPr lang="es-CL" sz="2000" dirty="0"/>
              <a:t>con los miembros del equipo </a:t>
            </a:r>
            <a:r>
              <a:rPr lang="es-CL" sz="2000" dirty="0" smtClean="0"/>
              <a:t>auditor, </a:t>
            </a:r>
            <a:r>
              <a:rPr lang="es-CL" sz="2000" dirty="0"/>
              <a:t>la agenda de trabajo para esta etapa final. </a:t>
            </a:r>
            <a:endParaRPr lang="es-CL" sz="2000" dirty="0" smtClean="0"/>
          </a:p>
          <a:p>
            <a:pPr algn="just"/>
            <a:endParaRPr lang="es-CL" sz="2000" dirty="0" smtClean="0"/>
          </a:p>
          <a:p>
            <a:pPr algn="just"/>
            <a:r>
              <a:rPr lang="es-CL" sz="2000" dirty="0" smtClean="0"/>
              <a:t>Estas </a:t>
            </a:r>
            <a:r>
              <a:rPr lang="es-CL" sz="2000" dirty="0"/>
              <a:t>actividades </a:t>
            </a:r>
            <a:r>
              <a:rPr lang="es-CL" sz="2000" dirty="0" smtClean="0"/>
              <a:t>deben </a:t>
            </a:r>
            <a:r>
              <a:rPr lang="es-CL" sz="2000" dirty="0"/>
              <a:t>desarrollarse lo antes posible, mientras la experiencia de la visita de auditoría aún está fresca en </a:t>
            </a:r>
            <a:r>
              <a:rPr lang="es-CL" sz="2000" dirty="0" smtClean="0"/>
              <a:t>las mentes de los auditores.</a:t>
            </a:r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508566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432048"/>
          </a:xfrm>
        </p:spPr>
        <p:txBody>
          <a:bodyPr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CL" sz="2400" dirty="0" smtClean="0">
                <a:solidFill>
                  <a:srgbClr val="0000CC"/>
                </a:solidFill>
                <a:ea typeface="Calibri"/>
                <a:cs typeface="Times New Roman"/>
              </a:rPr>
              <a:t>MÉTODOS Y PROCEDIMIENTOS DE LA AUDITORÍA AMBIENTAL</a:t>
            </a:r>
            <a:endParaRPr lang="es-CL" sz="2400" u="sng" dirty="0">
              <a:solidFill>
                <a:srgbClr val="0000CC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45447" y="764704"/>
            <a:ext cx="8229600" cy="60932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1800" b="1" dirty="0">
                <a:solidFill>
                  <a:srgbClr val="006600"/>
                </a:solidFill>
              </a:rPr>
              <a:t>(I) </a:t>
            </a:r>
            <a:r>
              <a:rPr lang="es-CL" sz="1800" b="1" dirty="0" smtClean="0">
                <a:solidFill>
                  <a:srgbClr val="006600"/>
                </a:solidFill>
              </a:rPr>
              <a:t>REUNIÓN DE CIERRE </a:t>
            </a:r>
          </a:p>
          <a:p>
            <a:endParaRPr lang="es-CL" sz="1800" dirty="0" smtClean="0"/>
          </a:p>
          <a:p>
            <a:pPr algn="just"/>
            <a:r>
              <a:rPr lang="es-CL" sz="1800" dirty="0" smtClean="0"/>
              <a:t>Al final de la auditoría, se presenta un informe preliminar al </a:t>
            </a:r>
            <a:r>
              <a:rPr lang="es-CL" sz="1800" dirty="0"/>
              <a:t>responsable </a:t>
            </a:r>
            <a:r>
              <a:rPr lang="es-CL" sz="1800" dirty="0" smtClean="0"/>
              <a:t>de la </a:t>
            </a:r>
            <a:r>
              <a:rPr lang="es-CL" sz="1800" dirty="0"/>
              <a:t>instalación </a:t>
            </a:r>
            <a:r>
              <a:rPr lang="es-CL" sz="1800" dirty="0" smtClean="0"/>
              <a:t>que se ha auditado. Esto </a:t>
            </a:r>
            <a:r>
              <a:rPr lang="es-CL" sz="1800" dirty="0"/>
              <a:t>puede eliminar algún error </a:t>
            </a:r>
            <a:r>
              <a:rPr lang="es-CL" sz="1800" dirty="0" smtClean="0"/>
              <a:t>importante </a:t>
            </a:r>
            <a:r>
              <a:rPr lang="es-CL" sz="1800" dirty="0"/>
              <a:t>del </a:t>
            </a:r>
            <a:r>
              <a:rPr lang="es-CL" sz="1800" dirty="0" smtClean="0"/>
              <a:t>auditor, </a:t>
            </a:r>
            <a:r>
              <a:rPr lang="es-CL" sz="1800" dirty="0"/>
              <a:t>y busca confirmar su comprensión de las actividades realizadas en el lugar y de los procedimientos de gestión utilizados</a:t>
            </a:r>
            <a:r>
              <a:rPr lang="es-CL" sz="1800" dirty="0" smtClean="0"/>
              <a:t>.</a:t>
            </a:r>
          </a:p>
          <a:p>
            <a:pPr algn="just"/>
            <a:endParaRPr lang="es-CL" sz="1800" dirty="0"/>
          </a:p>
          <a:p>
            <a:pPr marL="0" indent="0" algn="just">
              <a:buNone/>
            </a:pPr>
            <a:r>
              <a:rPr lang="es-CL" sz="1800" b="1" dirty="0">
                <a:solidFill>
                  <a:srgbClr val="006600"/>
                </a:solidFill>
              </a:rPr>
              <a:t>(J) </a:t>
            </a:r>
            <a:r>
              <a:rPr lang="es-CL" sz="1800" b="1" dirty="0" smtClean="0">
                <a:solidFill>
                  <a:srgbClr val="006600"/>
                </a:solidFill>
              </a:rPr>
              <a:t>ELABORACIÓN DEL INFORME</a:t>
            </a:r>
          </a:p>
          <a:p>
            <a:pPr algn="just"/>
            <a:endParaRPr lang="es-CL" sz="1800" dirty="0" smtClean="0"/>
          </a:p>
          <a:p>
            <a:pPr algn="just"/>
            <a:r>
              <a:rPr lang="es-CL" sz="1800" dirty="0" smtClean="0"/>
              <a:t>Terminada </a:t>
            </a:r>
            <a:r>
              <a:rPr lang="es-CL" sz="1800" dirty="0"/>
              <a:t>la etapa de terreno, el equipo pasa a trabajar en la elaboración del informe. </a:t>
            </a:r>
            <a:r>
              <a:rPr lang="es-CL" sz="1800" dirty="0" smtClean="0"/>
              <a:t>Hay </a:t>
            </a:r>
            <a:r>
              <a:rPr lang="es-CL" sz="1800" dirty="0"/>
              <a:t>diferentes estilos para la elaboración </a:t>
            </a:r>
            <a:r>
              <a:rPr lang="es-CL" sz="1800" dirty="0" smtClean="0"/>
              <a:t>del </a:t>
            </a:r>
            <a:r>
              <a:rPr lang="es-CL" sz="1800" dirty="0"/>
              <a:t>informe. Puede apuntar </a:t>
            </a:r>
            <a:r>
              <a:rPr lang="es-CL" sz="1800" dirty="0" smtClean="0"/>
              <a:t>solamente a las no conformidades</a:t>
            </a:r>
            <a:r>
              <a:rPr lang="es-CL" sz="1800" dirty="0"/>
              <a:t>, clasificándose en dos o tres grados de importancia. El informe final puede también hacer recomendaciones en cuanto a medidas que deben ser adoptadas para corregir las </a:t>
            </a:r>
            <a:r>
              <a:rPr lang="es-CL" sz="1800" dirty="0" smtClean="0"/>
              <a:t>no conformidades.</a:t>
            </a:r>
          </a:p>
          <a:p>
            <a:pPr marL="0" indent="0" algn="just">
              <a:buNone/>
            </a:pPr>
            <a:r>
              <a:rPr lang="es-CL" sz="1800" dirty="0" smtClean="0"/>
              <a:t> </a:t>
            </a:r>
          </a:p>
          <a:p>
            <a:pPr algn="just"/>
            <a:r>
              <a:rPr lang="es-CL" sz="1800" dirty="0" smtClean="0"/>
              <a:t>En </a:t>
            </a:r>
            <a:r>
              <a:rPr lang="es-CL" sz="1800" dirty="0"/>
              <a:t>algunas organizaciones el informe de la auditoría </a:t>
            </a:r>
            <a:r>
              <a:rPr lang="es-CL" sz="1800" dirty="0" smtClean="0"/>
              <a:t>da </a:t>
            </a:r>
            <a:r>
              <a:rPr lang="es-CL" sz="1800" dirty="0"/>
              <a:t>origen a un plan de acción, preparado por el responsable de la unidad auditada, estableciendo su compromiso de corregir las </a:t>
            </a:r>
            <a:r>
              <a:rPr lang="es-CL" sz="1800" dirty="0" smtClean="0"/>
              <a:t>no conformidades. </a:t>
            </a:r>
            <a:r>
              <a:rPr lang="es-CL" sz="1800" dirty="0"/>
              <a:t>Es </a:t>
            </a:r>
            <a:r>
              <a:rPr lang="es-CL" sz="1800" dirty="0" smtClean="0"/>
              <a:t>importante, </a:t>
            </a:r>
            <a:r>
              <a:rPr lang="es-CL" sz="1800" dirty="0"/>
              <a:t>la clasificación de las </a:t>
            </a:r>
            <a:r>
              <a:rPr lang="es-CL" sz="1800" dirty="0" smtClean="0"/>
              <a:t>no conformidades </a:t>
            </a:r>
            <a:r>
              <a:rPr lang="es-CL" sz="1800" dirty="0"/>
              <a:t>en grados de importancia,  </a:t>
            </a:r>
            <a:r>
              <a:rPr lang="es-CL" sz="1800" dirty="0" smtClean="0"/>
              <a:t>ya que las no conformidades </a:t>
            </a:r>
            <a:r>
              <a:rPr lang="es-CL" sz="1800" dirty="0"/>
              <a:t>de </a:t>
            </a:r>
            <a:r>
              <a:rPr lang="es-CL" sz="1800" dirty="0" smtClean="0"/>
              <a:t>mayor </a:t>
            </a:r>
            <a:r>
              <a:rPr lang="es-CL" sz="1800" dirty="0"/>
              <a:t>importancia deben ser corregidas rápidamente.</a:t>
            </a:r>
          </a:p>
          <a:p>
            <a:pPr algn="just"/>
            <a:endParaRPr lang="es-CL" sz="18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0985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432048"/>
          </a:xfrm>
        </p:spPr>
        <p:txBody>
          <a:bodyPr>
            <a:normAutofit fontScale="90000"/>
          </a:bodyPr>
          <a:lstStyle/>
          <a:p>
            <a:r>
              <a:rPr lang="es-CL" sz="2000" dirty="0">
                <a:solidFill>
                  <a:srgbClr val="0000CC"/>
                </a:solidFill>
              </a:rPr>
              <a:t>CONTENIDO DE UN INFORME DE </a:t>
            </a:r>
            <a:r>
              <a:rPr lang="es-CL" sz="2000" dirty="0" smtClean="0">
                <a:solidFill>
                  <a:srgbClr val="0000CC"/>
                </a:solidFill>
              </a:rPr>
              <a:t>AUDITORIA AMBIENTAL (NORMA </a:t>
            </a:r>
            <a:r>
              <a:rPr lang="es-CL" sz="2000" dirty="0">
                <a:solidFill>
                  <a:srgbClr val="0000CC"/>
                </a:solidFill>
              </a:rPr>
              <a:t>ISO </a:t>
            </a:r>
            <a:r>
              <a:rPr lang="es-CL" sz="2000" dirty="0" smtClean="0">
                <a:solidFill>
                  <a:srgbClr val="0000CC"/>
                </a:solidFill>
              </a:rPr>
              <a:t>14.011)</a:t>
            </a:r>
            <a:endParaRPr lang="es-CL" sz="2000" dirty="0">
              <a:solidFill>
                <a:srgbClr val="0000CC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45447" y="764704"/>
            <a:ext cx="8229600" cy="609329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L" sz="1800" dirty="0" smtClean="0"/>
              <a:t>Conviene que el informe de auditoría contenga las constataciones de la auditoría y/o un resumen citando las evidencias encontradas. Por acuerdo entre el responsable de la auditoria y el cliente, el informe podrá contener, también, las siguientes informaciones:</a:t>
            </a:r>
            <a:endParaRPr lang="es-CL" sz="1800" dirty="0"/>
          </a:p>
          <a:p>
            <a:pPr marL="0" indent="0" algn="just">
              <a:buNone/>
            </a:pPr>
            <a:r>
              <a:rPr lang="es-CL" sz="1800" dirty="0"/>
              <a:t>a) Identificación del organismo auditado y del solicitante</a:t>
            </a:r>
          </a:p>
          <a:p>
            <a:pPr marL="0" indent="0" algn="just">
              <a:buNone/>
            </a:pPr>
            <a:r>
              <a:rPr lang="es-CL" sz="1800" dirty="0" smtClean="0"/>
              <a:t>b) </a:t>
            </a:r>
            <a:r>
              <a:rPr lang="es-CL" sz="1800" dirty="0"/>
              <a:t>El campo, los objetivos y el plan de auditoría</a:t>
            </a:r>
          </a:p>
          <a:p>
            <a:pPr marL="0" indent="0" algn="just">
              <a:buNone/>
            </a:pPr>
            <a:r>
              <a:rPr lang="es-CL" sz="1800" dirty="0"/>
              <a:t>c) Los criterios acordados, incluyendo la lista de documentos de referencia utilizados durante el período de la auditoría</a:t>
            </a:r>
          </a:p>
          <a:p>
            <a:pPr marL="0" indent="0" algn="just">
              <a:buNone/>
            </a:pPr>
            <a:r>
              <a:rPr lang="es-CL" sz="1800" dirty="0"/>
              <a:t>d) La duración de la auditoría y la(s) fecha(s) en que fue realizada</a:t>
            </a:r>
          </a:p>
          <a:p>
            <a:pPr marL="0" indent="0" algn="just">
              <a:buNone/>
            </a:pPr>
            <a:r>
              <a:rPr lang="es-CL" sz="1800" dirty="0"/>
              <a:t>e) Identificación de los representantes del </a:t>
            </a:r>
            <a:r>
              <a:rPr lang="es-CL" sz="1800" dirty="0" smtClean="0"/>
              <a:t>auditado </a:t>
            </a:r>
            <a:r>
              <a:rPr lang="es-CL" sz="1800" dirty="0"/>
              <a:t>que participaron en la auditoría</a:t>
            </a:r>
          </a:p>
          <a:p>
            <a:pPr marL="0" indent="0" algn="just">
              <a:buNone/>
            </a:pPr>
            <a:r>
              <a:rPr lang="es-CL" sz="1800" dirty="0"/>
              <a:t>f) Identificación de los miembros del equipo de auditoría</a:t>
            </a:r>
          </a:p>
          <a:p>
            <a:pPr marL="0" indent="0" algn="just">
              <a:buNone/>
            </a:pPr>
            <a:r>
              <a:rPr lang="es-CL" sz="1800" dirty="0"/>
              <a:t>g) Una declaración referente a la naturaleza confidencial del </a:t>
            </a:r>
            <a:r>
              <a:rPr lang="es-CL" sz="1800" dirty="0" smtClean="0"/>
              <a:t>contenido.</a:t>
            </a:r>
            <a:endParaRPr lang="es-CL" sz="1800" dirty="0"/>
          </a:p>
          <a:p>
            <a:pPr marL="0" indent="0" algn="just">
              <a:buNone/>
            </a:pPr>
            <a:r>
              <a:rPr lang="es-CL" sz="1800" dirty="0"/>
              <a:t>h) Lista de divulgación del </a:t>
            </a:r>
            <a:r>
              <a:rPr lang="es-CL" sz="1800" dirty="0" smtClean="0"/>
              <a:t>informe.</a:t>
            </a:r>
            <a:endParaRPr lang="es-CL" sz="1800" dirty="0"/>
          </a:p>
          <a:p>
            <a:pPr marL="0" indent="0" algn="just">
              <a:buNone/>
            </a:pPr>
            <a:r>
              <a:rPr lang="es-CL" sz="1800" dirty="0"/>
              <a:t>i) Resumen del proceso de auditoría, incluyendo los obstáculos encontrados</a:t>
            </a:r>
          </a:p>
          <a:p>
            <a:pPr marL="0" indent="0" algn="just">
              <a:buNone/>
            </a:pPr>
            <a:r>
              <a:rPr lang="es-CL" sz="1800" dirty="0"/>
              <a:t>j) Las conclusiones de la auditoría, como por ejemplo:</a:t>
            </a:r>
          </a:p>
          <a:p>
            <a:pPr marL="0" indent="0" algn="just">
              <a:buNone/>
            </a:pPr>
            <a:r>
              <a:rPr lang="es-CL" sz="1800" dirty="0"/>
              <a:t>- la conformidad del SGA con relación a los criterios de auditoria del SGA;</a:t>
            </a:r>
          </a:p>
          <a:p>
            <a:pPr marL="0" indent="0" algn="just">
              <a:buNone/>
            </a:pPr>
            <a:r>
              <a:rPr lang="es-CL" sz="1800" dirty="0"/>
              <a:t>- la calidad de la aplicación y seguimiento del sistema;</a:t>
            </a:r>
          </a:p>
          <a:p>
            <a:pPr marL="0" indent="0" algn="just">
              <a:buNone/>
            </a:pPr>
            <a:r>
              <a:rPr lang="es-CL" sz="1800" dirty="0"/>
              <a:t>- la aptitud del proceso de revisión de la dirección </a:t>
            </a:r>
            <a:r>
              <a:rPr lang="es-CL" sz="1800" dirty="0" smtClean="0"/>
              <a:t>interna, </a:t>
            </a:r>
            <a:r>
              <a:rPr lang="es-CL" sz="1800" dirty="0"/>
              <a:t>para garantizar de manera continua, la adecuación y eficacia del SGA</a:t>
            </a:r>
          </a:p>
          <a:p>
            <a:pPr algn="just"/>
            <a:endParaRPr lang="es-CL" sz="18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5950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432048"/>
          </a:xfrm>
        </p:spPr>
        <p:txBody>
          <a:bodyPr>
            <a:normAutofit fontScale="90000"/>
          </a:bodyPr>
          <a:lstStyle/>
          <a:p>
            <a:r>
              <a:rPr lang="es-CL" sz="2000" dirty="0" smtClean="0">
                <a:solidFill>
                  <a:srgbClr val="0000CC"/>
                </a:solidFill>
              </a:rPr>
              <a:t>IMPORTANCIA DE CONTAR CON UN INFORME </a:t>
            </a:r>
            <a:br>
              <a:rPr lang="es-CL" sz="2000" dirty="0" smtClean="0">
                <a:solidFill>
                  <a:srgbClr val="0000CC"/>
                </a:solidFill>
              </a:rPr>
            </a:br>
            <a:r>
              <a:rPr lang="es-CL" sz="2000" dirty="0" smtClean="0">
                <a:solidFill>
                  <a:srgbClr val="0000CC"/>
                </a:solidFill>
              </a:rPr>
              <a:t>DE AUDITORÍA INTERNA BASADO EN ISO 14001</a:t>
            </a:r>
            <a:endParaRPr lang="es-CL" sz="2000" dirty="0">
              <a:solidFill>
                <a:srgbClr val="0000CC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45447" y="764704"/>
            <a:ext cx="8229600" cy="6093296"/>
          </a:xfrm>
        </p:spPr>
        <p:txBody>
          <a:bodyPr>
            <a:normAutofit/>
          </a:bodyPr>
          <a:lstStyle/>
          <a:p>
            <a:pPr algn="just" fontAlgn="base"/>
            <a:r>
              <a:rPr lang="es-CL" sz="2000" dirty="0"/>
              <a:t>ISO 14001, en su versión 2015 exige a la </a:t>
            </a:r>
            <a:r>
              <a:rPr lang="es-CL" sz="2000" dirty="0" smtClean="0"/>
              <a:t>organización registrar los resultados obtenidos en auditorías internas planificadas. </a:t>
            </a:r>
            <a:r>
              <a:rPr lang="es-CL" sz="2000" dirty="0"/>
              <a:t>E</a:t>
            </a:r>
            <a:r>
              <a:rPr lang="es-CL" sz="2000" dirty="0" smtClean="0"/>
              <a:t>stos </a:t>
            </a:r>
            <a:r>
              <a:rPr lang="es-CL" sz="2000" dirty="0"/>
              <a:t>informes prestan valiosos servicios a la </a:t>
            </a:r>
            <a:r>
              <a:rPr lang="es-CL" sz="2000" dirty="0" smtClean="0"/>
              <a:t>organización</a:t>
            </a:r>
            <a:r>
              <a:rPr lang="es-CL" sz="2000" dirty="0"/>
              <a:t>:</a:t>
            </a:r>
            <a:endParaRPr lang="es-CL" sz="2000" dirty="0" smtClean="0"/>
          </a:p>
          <a:p>
            <a:pPr algn="just" fontAlgn="base"/>
            <a:endParaRPr lang="es-CL" sz="2000" dirty="0"/>
          </a:p>
          <a:p>
            <a:pPr lvl="0" algn="just" fontAlgn="base"/>
            <a:r>
              <a:rPr lang="es-CL" sz="2000" dirty="0" smtClean="0"/>
              <a:t>Permite evidenciar no conformidades, antes </a:t>
            </a:r>
            <a:r>
              <a:rPr lang="es-CL" sz="2000" dirty="0"/>
              <a:t>de la auditoría de certificación</a:t>
            </a:r>
            <a:r>
              <a:rPr lang="es-CL" sz="2000" dirty="0" smtClean="0"/>
              <a:t>.</a:t>
            </a:r>
          </a:p>
          <a:p>
            <a:pPr lvl="0" algn="just" fontAlgn="base"/>
            <a:endParaRPr lang="es-CL" sz="2000" dirty="0"/>
          </a:p>
          <a:p>
            <a:pPr lvl="0" algn="just" fontAlgn="base"/>
            <a:r>
              <a:rPr lang="es-CL" sz="2000" dirty="0"/>
              <a:t>Identifican vacíos o incumplimiento de requisitos</a:t>
            </a:r>
            <a:r>
              <a:rPr lang="es-CL" sz="2000" dirty="0" smtClean="0"/>
              <a:t>.</a:t>
            </a:r>
          </a:p>
          <a:p>
            <a:pPr marL="0" lvl="0" indent="0" algn="just" fontAlgn="base">
              <a:buNone/>
            </a:pPr>
            <a:endParaRPr lang="es-CL" sz="2000" dirty="0"/>
          </a:p>
          <a:p>
            <a:pPr lvl="0" algn="just" fontAlgn="base"/>
            <a:r>
              <a:rPr lang="es-CL" sz="2000" dirty="0"/>
              <a:t>Permiten diseñar y poner en práctica acciones correctivas tendientes a la mejora</a:t>
            </a:r>
            <a:r>
              <a:rPr lang="es-CL" sz="2000" dirty="0" smtClean="0"/>
              <a:t>.</a:t>
            </a:r>
          </a:p>
          <a:p>
            <a:pPr lvl="0" algn="just" fontAlgn="base"/>
            <a:endParaRPr lang="es-CL" sz="2000" dirty="0"/>
          </a:p>
          <a:p>
            <a:pPr lvl="0" algn="just" fontAlgn="base"/>
            <a:r>
              <a:rPr lang="es-CL" sz="2000" dirty="0"/>
              <a:t>Proporcionan la base para diseñar un plan de acción tendiente a subsanar errores, cerrar brechas y emprender las acciones necesarias para allanar el camino hacia una auditoría externa.</a:t>
            </a:r>
          </a:p>
          <a:p>
            <a:pPr algn="just"/>
            <a:endParaRPr lang="es-CL" sz="18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974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1077</TotalTime>
  <Words>3034</Words>
  <Application>Microsoft Office PowerPoint</Application>
  <PresentationFormat>Presentación en pantalla (4:3)</PresentationFormat>
  <Paragraphs>216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Arial</vt:lpstr>
      <vt:lpstr>Calibri</vt:lpstr>
      <vt:lpstr>Times New Roman</vt:lpstr>
      <vt:lpstr>Tema de Office</vt:lpstr>
      <vt:lpstr>UNIDAD 4   AUDITORÍA AMBIENTAL</vt:lpstr>
      <vt:lpstr>INTRODUCCIÓN</vt:lpstr>
      <vt:lpstr>AUDITORÍA AMBIENTAL</vt:lpstr>
      <vt:lpstr> ASPECTOS QUE CONTEMPLA LA ELABORACIÓN DE LA AUDITORÍA AMBIENTAL </vt:lpstr>
      <vt:lpstr>MÉTODOS PARA LA OBTENCIÓN DE LA INFORMACIÓN EN LA AUDITORÍA AMBIENTAL: INSPECCIONES</vt:lpstr>
      <vt:lpstr>MÉTODOS PARA LA OBTENCIÓN DE LA INFORMACIÓN EN LA AUDITORÍA AMBIENTAL: ENTREVISTAS </vt:lpstr>
      <vt:lpstr>MÉTODOS PARA LA OBTENCIÓN DE LA INFORMACIÓN EN LA AUDITORÍA AMBIENTAL: INFORMACIÓN EXTERNA</vt:lpstr>
      <vt:lpstr>CARACTERIZACIÓN DE EFLUENTES LÍQUIDOS</vt:lpstr>
      <vt:lpstr>MÉTODOS Y PROCEDIMIENTOS DE LA AUDITORÍA AMBIENTAL:</vt:lpstr>
      <vt:lpstr>CUESTIONARIO DE PRE-VISITA DE AUDITORÍA </vt:lpstr>
      <vt:lpstr>CUESTIONARIO DE PRE-VISITA DE AUDITORÍA</vt:lpstr>
      <vt:lpstr>MÉTODOS Y PROCEDIMIENTOS DE LA AUDITORÍA AMBIENTAL</vt:lpstr>
      <vt:lpstr>MÉTODOS Y PROCEDIMIENTOS DE LA AUDITORÍA AMBIENTAL</vt:lpstr>
      <vt:lpstr>EJEMPLO DE PROTOCOLO DE AUDITORÍA PARA RESIDUOS SÓLIDOS</vt:lpstr>
      <vt:lpstr>EJEMPLO DE PROTOCOLO DE AUDITORÍA PARA RESIDUOS SÓLIDOS</vt:lpstr>
      <vt:lpstr>MÉTODOS Y PROCEDIMIENTOS DE LA AUDITORÍA AMBIENTAL</vt:lpstr>
      <vt:lpstr>MÉTODOS Y PROCEDIMIENTOS DE LA AUDITORÍA AMBIENTAL</vt:lpstr>
      <vt:lpstr>MÉTODOS Y PROCEDIMIENTOS DE LA AUDITORÍA AMBIENTAL</vt:lpstr>
      <vt:lpstr>MÉTODOS Y PROCEDIMIENTOS DE LA AUDITORÍA AMBIENTAL</vt:lpstr>
      <vt:lpstr>MÉTODOS Y PROCEDIMIENTOS DE LA AUDITORÍA AMBIENTAL</vt:lpstr>
      <vt:lpstr>MÉTODOS Y PROCEDIMIENTOS DE LA AUDITORÍA AMBIENTAL</vt:lpstr>
      <vt:lpstr>CONTENIDO DE UN INFORME DE AUDITORIA AMBIENTAL (NORMA ISO 14.011)</vt:lpstr>
      <vt:lpstr>IMPORTANCIA DE CONTAR CON UN INFORME  DE AUDITORÍA INTERNA BASADO EN ISO 14001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2   LEGISLACIÓN EN CHILE EN TORNO AL TEMA MEDIOAMBIENTAL</dc:title>
  <dc:creator>Osvaldo</dc:creator>
  <cp:lastModifiedBy>OSVALDO</cp:lastModifiedBy>
  <cp:revision>95</cp:revision>
  <dcterms:created xsi:type="dcterms:W3CDTF">2019-01-09T15:51:07Z</dcterms:created>
  <dcterms:modified xsi:type="dcterms:W3CDTF">2022-07-05T16:27:31Z</dcterms:modified>
</cp:coreProperties>
</file>